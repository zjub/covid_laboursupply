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8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0"/>
  </p:notesMasterIdLst>
  <p:handoutMasterIdLst>
    <p:handoutMasterId r:id="rId51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</p:sldIdLst>
  <p:sldSz cx="12192000" cy="6858000"/>
  <p:notesSz cx="6858000" cy="9144000"/>
  <p:custDataLst>
    <p:tags r:id="rId5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BA906-B677-4ED9-B365-ED690E2CB720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12BB9-A5CF-D335-3301-776C81AF3ABE}" name="Lachlan Vass" initials="LV" userId="S::lachlan.vass@e61.in::3865f71c-c396-40c5-8390-2fc8d944de27" providerId="AD"/>
  <p188:author id="{34CD6AE3-4402-C73C-3D6D-D595530990B9}" name="Jack Buckley" initials="JB" userId="S::jack.buckley@e61.in::28ddcf48-0b29-47ef-8181-0ce27c074e2e" providerId="AD"/>
  <p188:author id="{71CA22F3-774C-2056-8AF6-7BA1CB40250A}" name="Sinn, Joshua" initials="SJ" userId="S::joshua.sinn@accenture.com::611c4376-2cbd-4772-b570-fe288a3c2a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7AB"/>
    <a:srgbClr val="004F54"/>
    <a:srgbClr val="206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8/10/relationships/authors" Target="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9F452D-FA17-885C-CC89-0DC68658B2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9CDAA-6A69-3DFF-BE4E-6602CC25B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87968-E7C3-4FA2-86D7-7CFDDCA2896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F01E9-DBAA-1EA2-4D9A-7E77B5DFA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BB76F-B80E-EE0E-9F0D-2AC6378957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8A632-F1EE-40DC-8EB4-831F2F70E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7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6A7BE-E113-476D-8DE0-A6138461AC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F2214-1F6F-4D6B-854F-093941A8F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8354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6630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926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12791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069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  <a:endParaRPr lang="en-AU" sz="12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82796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2251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2635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07999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8326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7458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38170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64627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4038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64132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18177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29954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30912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768705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97536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B03E8-089D-0ACD-1D05-C59964D50E2F}"/>
              </a:ext>
            </a:extLst>
          </p:cNvPr>
          <p:cNvSpPr/>
          <p:nvPr userDrawn="1"/>
        </p:nvSpPr>
        <p:spPr>
          <a:xfrm>
            <a:off x="0" y="35076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143CB0-80E3-8AB0-053D-E52E19E92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99" y="26127"/>
            <a:ext cx="1980000" cy="29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1200" smtClean="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2pPr>
            <a:lvl3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3pPr>
            <a:lvl4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4pPr>
            <a:lvl5pPr>
              <a:defRPr lang="en-AU" sz="1800">
                <a:solidFill>
                  <a:schemeClr val="lt1"/>
                </a:solidFill>
                <a:ea typeface="+mn-ea"/>
                <a:cs typeface="+mn-cs"/>
              </a:defRPr>
            </a:lvl5pPr>
          </a:lstStyle>
          <a:p>
            <a:pPr lvl="0" defTabSz="914400" latinLnBrk="0"/>
            <a:r>
              <a:rPr lang="en-US"/>
              <a:t>Section name here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68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2674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F090DBB-DBAB-499B-B31E-9C5FEBA1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769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F090DBB-DBAB-499B-B31E-9C5FEBA1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AED96BB-361A-4F3E-A7CB-D1560FDE9F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CA51-1D19-4ADC-908F-13F64C03CB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7417" y="3925156"/>
            <a:ext cx="4698834" cy="118186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FDB2B-16C1-4564-B415-DBBBCF0037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11" y="1475802"/>
            <a:ext cx="2726046" cy="1953198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4C01ECE-843C-4618-8C3A-082A62CB3D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7417" y="5334153"/>
            <a:ext cx="469883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6" indent="0">
              <a:buNone/>
              <a:defRPr/>
            </a:lvl2pPr>
            <a:lvl3pPr marL="91441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en-US"/>
              <a:t>Event title – event date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F417C3A-BBD1-0EAC-6A37-12CE6587C5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6921666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Insert image </a:t>
            </a:r>
          </a:p>
          <a:p>
            <a:r>
              <a:rPr lang="en-US"/>
              <a:t>(try: https://unsplash.com/)</a:t>
            </a:r>
          </a:p>
        </p:txBody>
      </p:sp>
    </p:spTree>
    <p:extLst>
      <p:ext uri="{BB962C8B-B14F-4D97-AF65-F5344CB8AC3E}">
        <p14:creationId xmlns:p14="http://schemas.microsoft.com/office/powerpoint/2010/main" val="2210043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2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3970736"/>
            <a:ext cx="6884562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>
                    <a:lumMod val="95000"/>
                  </a:schemeClr>
                </a:solidFill>
                <a:latin typeface="GT Sectra Fine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pPr marL="0" lvl="0" indent="0" algn="l" defTabSz="9144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8" cy="530687"/>
          </a:xfrm>
        </p:spPr>
        <p:txBody>
          <a:bodyPr/>
          <a:lstStyle>
            <a:lvl1pPr marL="0" indent="0" algn="l" defTabSz="914411" rtl="0" eaLnBrk="1" latinLnBrk="0" hangingPunct="1">
              <a:spcAft>
                <a:spcPts val="0"/>
              </a:spcAft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(DD MMMM YYYY)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5A68FC7-26B5-D447-0F4F-4539456AF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521" y="4788067"/>
            <a:ext cx="1965317" cy="1298408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F6C5752-FCAA-86D8-96A8-435178EF85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092" y="5004444"/>
            <a:ext cx="4114800" cy="348141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dirty="0" smtClean="0">
                <a:solidFill>
                  <a:schemeClr val="tx1">
                    <a:lumMod val="95000"/>
                  </a:schemeClr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Presenters</a:t>
            </a:r>
          </a:p>
        </p:txBody>
      </p:sp>
    </p:spTree>
    <p:extLst>
      <p:ext uri="{BB962C8B-B14F-4D97-AF65-F5344CB8AC3E}">
        <p14:creationId xmlns:p14="http://schemas.microsoft.com/office/powerpoint/2010/main" val="3091483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720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2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1"/>
            </a:lvl2pPr>
            <a:lvl3pPr marL="228604">
              <a:buFont typeface="Arial" panose="020B0604020202020204" pitchFamily="34" charset="0"/>
              <a:buChar char="•"/>
              <a:defRPr sz="1801"/>
            </a:lvl3pPr>
            <a:lvl4pPr marL="457206">
              <a:buFont typeface="System Font"/>
              <a:buChar char="–"/>
              <a:defRPr sz="1600"/>
            </a:lvl4pPr>
            <a:lvl5pPr marL="685809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2" cy="8103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3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3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3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3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3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3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3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3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4358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4358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4358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4358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358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84358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84358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84358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>
            <a:cxnSpLocks/>
          </p:cNvCxnSpPr>
          <p:nvPr userDrawn="1"/>
        </p:nvCxnSpPr>
        <p:spPr>
          <a:xfrm>
            <a:off x="4045241" y="1371601"/>
            <a:ext cx="0" cy="3332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95094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95094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5094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95094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95094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95094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95094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95094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4">
              <a:spcAft>
                <a:spcPts val="1200"/>
              </a:spcAft>
            </a:pPr>
            <a:endParaRPr lang="en-US" sz="1801" noProof="0"/>
          </a:p>
        </p:txBody>
      </p:sp>
    </p:spTree>
    <p:extLst>
      <p:ext uri="{BB962C8B-B14F-4D97-AF65-F5344CB8AC3E}">
        <p14:creationId xmlns:p14="http://schemas.microsoft.com/office/powerpoint/2010/main" val="275829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D8A76DE-ECA0-60F4-575C-02C4077408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9254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D8A76DE-ECA0-60F4-575C-02C4077408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B9E7BD-B7D1-FF01-F546-0CADB6C2F4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5550" y="2909333"/>
            <a:ext cx="9389031" cy="1039334"/>
          </a:xfrm>
          <a:prstGeom prst="rect">
            <a:avLst/>
          </a:prstGeom>
        </p:spPr>
        <p:txBody>
          <a:bodyPr anchor="ctr"/>
          <a:lstStyle>
            <a:lvl1pPr>
              <a:defRPr sz="3200" b="1"/>
            </a:lvl1pPr>
          </a:lstStyle>
          <a:p>
            <a:pPr lvl="0"/>
            <a:r>
              <a:rPr lang="en-US"/>
              <a:t>## - Place section title here in sentence case, max 2 lines </a:t>
            </a:r>
          </a:p>
        </p:txBody>
      </p:sp>
    </p:spTree>
    <p:extLst>
      <p:ext uri="{BB962C8B-B14F-4D97-AF65-F5344CB8AC3E}">
        <p14:creationId xmlns:p14="http://schemas.microsoft.com/office/powerpoint/2010/main" val="609445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CE4D4F-8CCC-404C-840E-8A45E07645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105608378"/>
              </p:ext>
            </p:extLst>
          </p:nvPr>
        </p:nvGraphicFramePr>
        <p:xfrm>
          <a:off x="1588" y="1587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395" imgH="394" progId="TCLayout.ActiveDocument.1">
                  <p:embed/>
                </p:oleObj>
              </mc:Choice>
              <mc:Fallback>
                <p:oleObj name="think-cell Slide" r:id="rId30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CE4D4F-8CCC-404C-840E-8A45E0764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C4AAB9D-85C6-43AB-8696-D55AD6DDE24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0" y="1"/>
            <a:ext cx="158812" cy="158713"/>
          </a:xfrm>
          <a:prstGeom prst="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598" b="1" i="0" baseline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  <a:sym typeface="Graphik" panose="020B0503030202060203" pitchFamily="34" charset="0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029236F-8D4F-46BA-A33A-11E2F113A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0946922" y="6401006"/>
            <a:ext cx="561476" cy="273402"/>
          </a:xfrm>
          <a:prstGeom prst="rect">
            <a:avLst/>
          </a:prstGeom>
        </p:spPr>
        <p:txBody>
          <a:bodyPr tIns="0" bIns="0" anchor="b"/>
          <a:lstStyle>
            <a:lvl1pPr algn="l">
              <a:defRPr sz="1001" b="0">
                <a:solidFill>
                  <a:schemeClr val="tx1"/>
                </a:solidFill>
                <a:latin typeface="+mj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7E62055-3E0F-4EBB-A962-F9600119E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739" y="6402651"/>
            <a:ext cx="3733634" cy="270112"/>
          </a:xfrm>
          <a:prstGeom prst="rect">
            <a:avLst/>
          </a:prstGeom>
        </p:spPr>
        <p:txBody>
          <a:bodyPr tIns="0" bIns="0" anchor="ctr"/>
          <a:lstStyle>
            <a:lvl1pPr algn="l">
              <a:defRPr sz="8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Source: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66CE9E3-35BA-4A0B-8098-8A65954FE472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897" y="6393635"/>
            <a:ext cx="350924" cy="2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0" r:id="rId2"/>
    <p:sldLayoutId id="2147483721" r:id="rId3"/>
    <p:sldLayoutId id="2147483722" r:id="rId4"/>
    <p:sldLayoutId id="2147483726" r:id="rId5"/>
    <p:sldLayoutId id="2147483740" r:id="rId6"/>
    <p:sldLayoutId id="2147483725" r:id="rId7"/>
    <p:sldLayoutId id="2147483727" r:id="rId8"/>
    <p:sldLayoutId id="2147483728" r:id="rId9"/>
    <p:sldLayoutId id="2147483729" r:id="rId10"/>
    <p:sldLayoutId id="2147483730" r:id="rId11"/>
    <p:sldLayoutId id="2147483739" r:id="rId12"/>
    <p:sldLayoutId id="2147483735" r:id="rId13"/>
    <p:sldLayoutId id="2147483736" r:id="rId14"/>
    <p:sldLayoutId id="2147483737" r:id="rId15"/>
    <p:sldLayoutId id="2147483738" r:id="rId16"/>
    <p:sldLayoutId id="2147483731" r:id="rId17"/>
    <p:sldLayoutId id="2147483732" r:id="rId18"/>
    <p:sldLayoutId id="2147483733" r:id="rId19"/>
    <p:sldLayoutId id="2147483734" r:id="rId20"/>
    <p:sldLayoutId id="2147483710" r:id="rId21"/>
    <p:sldLayoutId id="2147483719" r:id="rId22"/>
    <p:sldLayoutId id="2147483706" r:id="rId23"/>
    <p:sldLayoutId id="2147483712" r:id="rId24"/>
    <p:sldLayoutId id="2147483707" r:id="rId25"/>
    <p:sldLayoutId id="2147483708" r:id="rId26"/>
  </p:sldLayoutIdLst>
  <p:hf hdr="0" ft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2800" b="1" i="0" kern="1200" cap="none" spc="-149" baseline="0" dirty="0" smtClean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329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657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7986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314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None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21596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43192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tabLst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611885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863838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335130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63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963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290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29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657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98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314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643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971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8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62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52" userDrawn="1">
          <p15:clr>
            <a:srgbClr val="F26B43"/>
          </p15:clr>
        </p15:guide>
        <p15:guide id="4" pos="1276" userDrawn="1">
          <p15:clr>
            <a:srgbClr val="F26B43"/>
          </p15:clr>
        </p15:guide>
        <p15:guide id="5" pos="1460" userDrawn="1">
          <p15:clr>
            <a:srgbClr val="F26B43"/>
          </p15:clr>
        </p15:guide>
        <p15:guide id="6" pos="2514" userDrawn="1">
          <p15:clr>
            <a:srgbClr val="F26B43"/>
          </p15:clr>
        </p15:guide>
        <p15:guide id="7" pos="2697" userDrawn="1">
          <p15:clr>
            <a:srgbClr val="F26B43"/>
          </p15:clr>
        </p15:guide>
        <p15:guide id="8" pos="3929" userDrawn="1">
          <p15:clr>
            <a:srgbClr val="F26B43"/>
          </p15:clr>
        </p15:guide>
        <p15:guide id="9" pos="3748" userDrawn="1">
          <p15:clr>
            <a:srgbClr val="F26B43"/>
          </p15:clr>
        </p15:guide>
        <p15:guide id="10" pos="4981" userDrawn="1">
          <p15:clr>
            <a:srgbClr val="F26B43"/>
          </p15:clr>
        </p15:guide>
        <p15:guide id="11" pos="5163" userDrawn="1">
          <p15:clr>
            <a:srgbClr val="F26B43"/>
          </p15:clr>
        </p15:guide>
        <p15:guide id="12" pos="6219" userDrawn="1">
          <p15:clr>
            <a:srgbClr val="F26B43"/>
          </p15:clr>
        </p15:guide>
        <p15:guide id="13" pos="6398" userDrawn="1">
          <p15:clr>
            <a:srgbClr val="F26B43"/>
          </p15:clr>
        </p15:guide>
        <p15:guide id="14" orient="horz" pos="807" userDrawn="1">
          <p15:clr>
            <a:srgbClr val="F26B43"/>
          </p15:clr>
        </p15:guide>
        <p15:guide id="15" orient="horz" pos="876" userDrawn="1">
          <p15:clr>
            <a:srgbClr val="F26B43"/>
          </p15:clr>
        </p15:guide>
        <p15:guide id="16" orient="horz" pos="4031" userDrawn="1">
          <p15:clr>
            <a:srgbClr val="F26B43"/>
          </p15:clr>
        </p15:guide>
        <p15:guide id="17" orient="horz" pos="597" userDrawn="1">
          <p15:clr>
            <a:srgbClr val="F26B43"/>
          </p15:clr>
        </p15:guide>
        <p15:guide id="18" orient="horz" pos="2435" userDrawn="1">
          <p15:clr>
            <a:srgbClr val="F26B43"/>
          </p15:clr>
        </p15:guide>
        <p15:guide id="19" orient="horz" pos="3756" userDrawn="1">
          <p15:clr>
            <a:srgbClr val="F26B43"/>
          </p15:clr>
        </p15:guide>
        <p15:guide id="20" orient="horz" pos="4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507B959-9E35-3EC1-53CB-968CEE0AEF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507B959-9E35-3EC1-53CB-968CEE0AE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36DFE691-484D-0A62-B4FF-81300FDD9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BAD583D-414C-8D2B-DA03-8F81A2352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F4955A-2927-2A7F-F09E-0AAD319A9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8EA512-8EB5-AB46-84BC-685DB8D24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4E759-32C9-8CAA-CA54-E9AC7EBC5634}"/>
              </a:ext>
            </a:extLst>
          </p:cNvPr>
          <p:cNvSpPr txBox="1"/>
          <p:nvPr/>
        </p:nvSpPr>
        <p:spPr>
          <a:xfrm>
            <a:off x="787400" y="1371600"/>
            <a:ext cx="8763000" cy="128240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4000" b="1">
                <a:solidFill>
                  <a:srgbClr val="FFFFFF"/>
                </a:solidFill>
                <a:latin typeface="Proxima Nova Rg"/>
              </a:rPr>
              <a:t>Empirical design for emergency unemployment assistance</a:t>
            </a:r>
            <a:endParaRPr lang="en-NZ" sz="40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25F00-D506-0046-289A-2F3CBC7F0B6C}"/>
              </a:ext>
            </a:extLst>
          </p:cNvPr>
          <p:cNvSpPr txBox="1"/>
          <p:nvPr/>
        </p:nvSpPr>
        <p:spPr>
          <a:xfrm>
            <a:off x="825500" y="3365500"/>
            <a:ext cx="8255000" cy="6976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100">
                <a:solidFill>
                  <a:srgbClr val="FFFFFF"/>
                </a:solidFill>
                <a:latin typeface="GT Sectra Fine"/>
              </a:rPr>
              <a:t>Australians and New Zealanders in shared labour markets: promise, threats and a journal-ready redesign</a:t>
            </a:r>
            <a:endParaRPr lang="en-NZ" sz="2100" dirty="0">
              <a:solidFill>
                <a:srgbClr val="FFFFFF"/>
              </a:solidFill>
              <a:latin typeface="GT Sectra Fin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28302-622C-5B2A-88F6-EE602D068B5D}"/>
              </a:ext>
            </a:extLst>
          </p:cNvPr>
          <p:cNvSpPr txBox="1"/>
          <p:nvPr/>
        </p:nvSpPr>
        <p:spPr>
          <a:xfrm>
            <a:off x="825500" y="5461000"/>
            <a:ext cx="825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FFFFFF"/>
                </a:solidFill>
                <a:latin typeface="Proxima Nova Rg"/>
              </a:rPr>
              <a:t>Labour economics teaching deck | Based on manuscript v10 and structural model 15 | August 2026</a:t>
            </a:r>
            <a:endParaRPr lang="en-NZ" sz="1200" dirty="0">
              <a:solidFill>
                <a:srgbClr val="FFFFFF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53737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25018-BAD4-E40B-7E8F-06691A2FC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175124-DD29-EB99-5B77-33438460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03289-195E-8785-F645-EC8D2CADEA3A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0C079-DE53-4E24-0412-D3C6D6658205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Question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E7303-D39F-1700-E0FB-DFA9C4A96F39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D89EC-4C85-DE6B-5239-9BCE14103B9A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AF402-EEDC-398C-40AC-66CCE66165F4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0A5F2-CFEF-5E36-DE71-072F44BD43B9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72973-26F3-CDFC-7378-CB0255D50B58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FA22C-467D-016D-01D2-8DE670342E99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B99D16-7A68-E64A-8518-79ED4DAD029B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650976-3CCA-A16D-0D3A-ADB2E0726920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B1E7BE-02DE-57EE-82E0-260B446463E7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What this deck is designed to teach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59BF4-46B7-0BCE-7251-6D81890FAEEE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0ACFD8-466C-03F7-9522-648D3F31C271}"/>
              </a:ext>
            </a:extLst>
          </p:cNvPr>
          <p:cNvSpPr/>
          <p:nvPr/>
        </p:nvSpPr>
        <p:spPr>
          <a:xfrm>
            <a:off x="571500" y="1587500"/>
            <a:ext cx="33782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AE65B-6C52-D3DF-EB56-3DAAFF982E09}"/>
              </a:ext>
            </a:extLst>
          </p:cNvPr>
          <p:cNvSpPr txBox="1"/>
          <p:nvPr/>
        </p:nvSpPr>
        <p:spPr>
          <a:xfrm>
            <a:off x="6985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Understand the estimand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8C9FD1-66D8-06C9-D49E-5EE6D767C04F}"/>
              </a:ext>
            </a:extLst>
          </p:cNvPr>
          <p:cNvSpPr/>
          <p:nvPr/>
        </p:nvSpPr>
        <p:spPr>
          <a:xfrm>
            <a:off x="5715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B0476D-A796-9347-26E1-EB160007E3C2}"/>
              </a:ext>
            </a:extLst>
          </p:cNvPr>
          <p:cNvSpPr txBox="1"/>
          <p:nvPr/>
        </p:nvSpPr>
        <p:spPr>
          <a:xfrm>
            <a:off x="7366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Separate eligibility for the March policy bundle, realised receipt and the $550 supplement as distinct causal objects.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897CB1-599E-D2FF-F9B8-D8613474BAAF}"/>
              </a:ext>
            </a:extLst>
          </p:cNvPr>
          <p:cNvSpPr/>
          <p:nvPr/>
        </p:nvSpPr>
        <p:spPr>
          <a:xfrm>
            <a:off x="4432300" y="1587500"/>
            <a:ext cx="33782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602255-D850-5678-C10B-7B40486BE8C2}"/>
              </a:ext>
            </a:extLst>
          </p:cNvPr>
          <p:cNvSpPr txBox="1"/>
          <p:nvPr/>
        </p:nvSpPr>
        <p:spPr>
          <a:xfrm>
            <a:off x="45593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Audit the design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792481-7C25-C6B7-0B8D-21B8F737FC2E}"/>
              </a:ext>
            </a:extLst>
          </p:cNvPr>
          <p:cNvSpPr/>
          <p:nvPr/>
        </p:nvSpPr>
        <p:spPr>
          <a:xfrm>
            <a:off x="4432300" y="2120900"/>
            <a:ext cx="3378200" cy="28956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8BE83C-291F-7562-0135-503403A5BBE6}"/>
              </a:ext>
            </a:extLst>
          </p:cNvPr>
          <p:cNvSpPr txBox="1"/>
          <p:nvPr/>
        </p:nvSpPr>
        <p:spPr>
          <a:xfrm>
            <a:off x="4597400" y="2273300"/>
            <a:ext cx="3048000" cy="72071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Trace selection, risk-set, timing, policy-interaction, measurement and one-shock inference threats.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67AF70-C0F9-3BAB-AECF-784D750417FD}"/>
              </a:ext>
            </a:extLst>
          </p:cNvPr>
          <p:cNvSpPr/>
          <p:nvPr/>
        </p:nvSpPr>
        <p:spPr>
          <a:xfrm>
            <a:off x="8293100" y="1587500"/>
            <a:ext cx="3378200" cy="533400"/>
          </a:xfrm>
          <a:prstGeom prst="rect">
            <a:avLst/>
          </a:prstGeom>
          <a:solidFill>
            <a:srgbClr val="4A4E50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41A047-3939-2C6A-5B29-BDC15732A12C}"/>
              </a:ext>
            </a:extLst>
          </p:cNvPr>
          <p:cNvSpPr txBox="1"/>
          <p:nvPr/>
        </p:nvSpPr>
        <p:spPr>
          <a:xfrm>
            <a:off x="84201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Build the next version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FBE8D5-72AB-67E1-D6EA-0E5564C76DC9}"/>
              </a:ext>
            </a:extLst>
          </p:cNvPr>
          <p:cNvSpPr/>
          <p:nvPr/>
        </p:nvSpPr>
        <p:spPr>
          <a:xfrm>
            <a:off x="82931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842DF7-B3B6-E78A-5879-1D2158ABEDBE}"/>
              </a:ext>
            </a:extLst>
          </p:cNvPr>
          <p:cNvSpPr txBox="1"/>
          <p:nvPr/>
        </p:nvSpPr>
        <p:spPr>
          <a:xfrm>
            <a:off x="84582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Specify a pre-policy cohort, person-week hazard design, conservative uncertainty package and decisive exhibit set.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6078C40-6D6C-4273-932A-CD81A2E1322C}"/>
              </a:ext>
            </a:extLst>
          </p:cNvPr>
          <p:cNvSpPr/>
          <p:nvPr/>
        </p:nvSpPr>
        <p:spPr>
          <a:xfrm>
            <a:off x="698500" y="5397500"/>
            <a:ext cx="10668000" cy="7874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FA47A8-4412-3FE1-C9C7-AEE19DAA3E30}"/>
              </a:ext>
            </a:extLst>
          </p:cNvPr>
          <p:cNvSpPr txBox="1"/>
          <p:nvPr/>
        </p:nvSpPr>
        <p:spPr>
          <a:xfrm>
            <a:off x="876300" y="54991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The institutional comparison is genuinely promising. The empirical rebuild—not extra prose—is the gate to a strong public-economics submission.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4165208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702279-D63E-63B6-270D-1EE514A4E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A808FC-3408-8013-0E7F-E3E644081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E326CF-FCC4-2300-0B9A-769C1D74DE55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812E1-4241-126C-6265-0E11B1805B05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Question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8BEFF4-A244-4BED-8959-860D00BEDA22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B23C5-170B-BA46-EF3D-03A3326859FC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F0B7D6-79CD-E64B-5B0F-CA967BF8DC3B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42918-1496-634B-7F26-2B29525E9DA8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C63C91-0169-9D8F-4B21-2CC3D74AF4AE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4C717-2B45-F3C9-3D6F-0ED26E571127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4A87C4-6EB1-AB5B-B6BD-F3ABD84B3732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F1EAD-7B0E-94CC-B1F0-C3870D0945BD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0EB3D9-8C6F-E22F-0915-ED4B7C52EB48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Bottom line on the current empirical design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25406D-DDF9-CC8D-CBB2-8307C92B7E0B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C4948-7058-4F41-18FC-40DF9899B41C}"/>
              </a:ext>
            </a:extLst>
          </p:cNvPr>
          <p:cNvSpPr/>
          <p:nvPr/>
        </p:nvSpPr>
        <p:spPr>
          <a:xfrm>
            <a:off x="571500" y="1587500"/>
            <a:ext cx="33782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9B9B7-E077-50C2-7124-D11409C67C93}"/>
              </a:ext>
            </a:extLst>
          </p:cNvPr>
          <p:cNvSpPr txBox="1"/>
          <p:nvPr/>
        </p:nvSpPr>
        <p:spPr>
          <a:xfrm>
            <a:off x="6985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Why it is attractive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A9449D-8C6C-2986-B9EB-92753A388E1A}"/>
              </a:ext>
            </a:extLst>
          </p:cNvPr>
          <p:cNvSpPr/>
          <p:nvPr/>
        </p:nvSpPr>
        <p:spPr>
          <a:xfrm>
            <a:off x="5715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5188BD-B888-2B27-F810-19315207A45F}"/>
              </a:ext>
            </a:extLst>
          </p:cNvPr>
          <p:cNvSpPr txBox="1"/>
          <p:nvPr/>
        </p:nvSpPr>
        <p:spPr>
          <a:xfrm>
            <a:off x="736600" y="2273300"/>
            <a:ext cx="3048000" cy="116698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Linked weekly payroll, tax, visa and benefit records; large benefit change; ineligible New Zealand citizens living in the same Australian labour markets.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99F284-1A65-30AF-F722-BF3150209DB4}"/>
              </a:ext>
            </a:extLst>
          </p:cNvPr>
          <p:cNvSpPr/>
          <p:nvPr/>
        </p:nvSpPr>
        <p:spPr>
          <a:xfrm>
            <a:off x="4432300" y="1587500"/>
            <a:ext cx="33782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453363-24B5-2857-42FC-F8C7A7B8AE28}"/>
              </a:ext>
            </a:extLst>
          </p:cNvPr>
          <p:cNvSpPr txBox="1"/>
          <p:nvPr/>
        </p:nvSpPr>
        <p:spPr>
          <a:xfrm>
            <a:off x="45593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 b="1">
                <a:solidFill>
                  <a:srgbClr val="FFFFFF"/>
                </a:solidFill>
                <a:latin typeface="Proxima Nova Rg"/>
              </a:rPr>
              <a:t>Why it is not ready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AA124B-0059-9986-C2C7-A7D760FD91FD}"/>
              </a:ext>
            </a:extLst>
          </p:cNvPr>
          <p:cNvSpPr/>
          <p:nvPr/>
        </p:nvSpPr>
        <p:spPr>
          <a:xfrm>
            <a:off x="4432300" y="2120900"/>
            <a:ext cx="3378200" cy="28956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6A7619-DA24-7CAC-9D28-5BB150BAB278}"/>
              </a:ext>
            </a:extLst>
          </p:cNvPr>
          <p:cNvSpPr txBox="1"/>
          <p:nvPr/>
        </p:nvSpPr>
        <p:spPr>
          <a:xfrm>
            <a:off x="4597400" y="2273300"/>
            <a:ext cx="3048000" cy="139012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Treatment uses realised future benefit receipt; samples condition on future non-employment; inference treats 48 cells as IID; JobKeeper and the policy bundle remain confounded.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CD7E2F-EB9D-42D5-44BF-C1AEB31F2AEA}"/>
              </a:ext>
            </a:extLst>
          </p:cNvPr>
          <p:cNvSpPr/>
          <p:nvPr/>
        </p:nvSpPr>
        <p:spPr>
          <a:xfrm>
            <a:off x="8293100" y="1587500"/>
            <a:ext cx="3378200" cy="533400"/>
          </a:xfrm>
          <a:prstGeom prst="rect">
            <a:avLst/>
          </a:prstGeom>
          <a:solidFill>
            <a:srgbClr val="4A4E50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DAAE53-70BE-F3E0-221F-42509CA1BBAA}"/>
              </a:ext>
            </a:extLst>
          </p:cNvPr>
          <p:cNvSpPr txBox="1"/>
          <p:nvPr/>
        </p:nvSpPr>
        <p:spPr>
          <a:xfrm>
            <a:off x="84201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 b="1">
                <a:solidFill>
                  <a:srgbClr val="FFFFFF"/>
                </a:solidFill>
                <a:latin typeface="Proxima Nova Rg"/>
              </a:rPr>
              <a:t>What would change the verdict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3636B9-071C-5DF4-17F3-059C1D57C2C2}"/>
              </a:ext>
            </a:extLst>
          </p:cNvPr>
          <p:cNvSpPr/>
          <p:nvPr/>
        </p:nvSpPr>
        <p:spPr>
          <a:xfrm>
            <a:off x="82931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45A0A6-AD71-FFC2-A42F-55A1B7C66B02}"/>
              </a:ext>
            </a:extLst>
          </p:cNvPr>
          <p:cNvSpPr txBox="1"/>
          <p:nvPr/>
        </p:nvSpPr>
        <p:spPr>
          <a:xfrm>
            <a:off x="84582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Stable estimates after a pre-policy cohort rebuild, correct risk sets, long pre-trends, design-specific inference and direct policy-interaction checks.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E8FA66F-A697-2EFB-06DA-4B60DFB4277C}"/>
              </a:ext>
            </a:extLst>
          </p:cNvPr>
          <p:cNvSpPr/>
          <p:nvPr/>
        </p:nvSpPr>
        <p:spPr>
          <a:xfrm>
            <a:off x="698500" y="5397500"/>
            <a:ext cx="10668000" cy="7874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8857C9-BB51-045E-290A-066B9534858F}"/>
              </a:ext>
            </a:extLst>
          </p:cNvPr>
          <p:cNvSpPr txBox="1"/>
          <p:nvPr/>
        </p:nvSpPr>
        <p:spPr>
          <a:xfrm>
            <a:off x="876300" y="5499100"/>
            <a:ext cx="10312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Current point estimates are useful targets and descriptive facts. They are not yet journal-ready causal estimates.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40447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128156-0C9A-5C24-AF5A-90537423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584A0A-63C3-F37E-3128-E48D11A3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99548C-648B-5C8B-E64E-927EDF398EB2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4D50A-BACA-0D00-03F8-DE831E2864B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Question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86094-7E25-5B97-6E4E-E59428D56476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C641E-FA4B-8F57-B13D-9F26EB10E031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6ACE02-E9EE-FB3F-2C7F-906B80920A77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D1A41-6B69-CCC1-DFD6-509E776DA346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5B75A-3A5E-E305-F261-40276B496B48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192B91-93E4-96CB-BFAB-FD6324509415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DC82DB-B85F-FFFC-34DE-3329B2DADC16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3D9BD-4AC9-4DBB-B13B-3BDA03AE4C76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78C23-F177-EF98-12EE-95B60327B127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2600" b="1">
                <a:solidFill>
                  <a:srgbClr val="000000"/>
                </a:solidFill>
                <a:latin typeface="Proxima Nova Rg"/>
              </a:rPr>
              <a:t>Roadmap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89725C-28E4-0EF9-3E85-C0011FC65236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2E5BF3-A4E8-D8B9-AC18-ED5DBC3CFE78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D91207-55F1-ED52-B977-F769B83FAA3B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 b="1">
                <a:solidFill>
                  <a:srgbClr val="FFFFFF"/>
                </a:solidFill>
                <a:latin typeface="Proxima Nova Rg"/>
              </a:rPr>
              <a:t>Part I — Learn the current design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E2A8A8-6ADD-13AC-4266-FEB6D2FE2B7E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85DC13-F9F7-D4C8-B481-3E6CB5D8B638}"/>
              </a:ext>
            </a:extLst>
          </p:cNvPr>
          <p:cNvSpPr txBox="1"/>
          <p:nvPr/>
        </p:nvSpPr>
        <p:spPr>
          <a:xfrm>
            <a:off x="7747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Question and estimand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Institutional comparison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Data and matching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Weekly outcomes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DiD and current estimates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98A890-F68E-8102-4F5B-FAE1FA6ECD8A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375554-16DF-3BAC-DB46-25285A8E7461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 b="1">
                <a:solidFill>
                  <a:srgbClr val="FFFFFF"/>
                </a:solidFill>
                <a:latin typeface="Proxima Nova Rg"/>
              </a:rPr>
              <a:t>Part II — Rebuild for submission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F3A439-D646-A083-52CB-E7D76628FD13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AE282C-4BB8-1011-8198-6A9DBAB8E1A3}"/>
              </a:ext>
            </a:extLst>
          </p:cNvPr>
          <p:cNvSpPr txBox="1"/>
          <p:nvPr/>
        </p:nvSpPr>
        <p:spPr>
          <a:xfrm>
            <a:off x="64135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Post-treatment selection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Risk sets and person-week estimation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One-policy inference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Policy bundle and JobKeeper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Heterogeneity, earnings and paper exhibits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947CC9C-6B5E-8863-82A1-D5C96A782717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861C03-B9D2-B418-8F45-B320EB23B616}"/>
              </a:ext>
            </a:extLst>
          </p:cNvPr>
          <p:cNvSpPr txBox="1"/>
          <p:nvPr/>
        </p:nvSpPr>
        <p:spPr>
          <a:xfrm>
            <a:off x="876300" y="5575300"/>
            <a:ext cx="10312400" cy="5283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The deck treats shortcomings as design decisions with concrete repairs, not as a generic robustness checklist.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75339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E1AE52-F833-9423-87BF-96511DFE41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15DB2-686E-4845-852D-219B16BFB1D2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01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86E2B-66A1-3CC8-4377-77604EB443AE}"/>
              </a:ext>
            </a:extLst>
          </p:cNvPr>
          <p:cNvSpPr txBox="1"/>
          <p:nvPr/>
        </p:nvSpPr>
        <p:spPr>
          <a:xfrm>
            <a:off x="1397000" y="2857500"/>
            <a:ext cx="9525000" cy="115929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600" b="1">
                <a:solidFill>
                  <a:srgbClr val="FFFFFF"/>
                </a:solidFill>
                <a:latin typeface="Proxima Nova Rg"/>
              </a:rPr>
              <a:t>Question, estimand and institutional experiment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2C4FD-0605-1DDB-DF0E-1EA4812ECA20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700">
                <a:solidFill>
                  <a:srgbClr val="FFFFFF"/>
                </a:solidFill>
                <a:latin typeface="GT Sectra Fine"/>
              </a:rPr>
              <a:t>A durable public-finance question comes before an estimator.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4212998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81EAD3-9E9F-09C0-7224-751E8807B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E61321-BDF7-75ED-AF15-127F2B41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949032-3BCE-37A4-130E-3DF3331B2C4A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EB9BA-E5A9-D545-019F-AB580985FFF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Question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FAE085-3035-B100-46D7-D36FE09A5AFD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60D42-B0B4-4019-DDA4-D9B5510BFA8E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362964-27E6-735D-F411-F70C9B8547AE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D4D71-4B07-2A1C-E97A-C5DE5B5ACD60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E957D2-6902-96CF-30E9-ED8DBB1EC2DC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C40EA5-0B95-24D1-95FC-D04B7F871280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BC396F-70A3-F61E-9A89-81EF5268AC41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0A747-D0AE-3A63-ABE1-BC0B63114C9C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BFE518-1DBA-7A4E-C951-864EDDA1F1D8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durable question is broader than one pandemic programme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AAC1C4-4DDF-4554-BE22-5B3AA71DC528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22407B-2881-07B1-411E-50C6F52DE51C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375326-521B-91CA-0213-0C10C9BC5C68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Policy question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B4C5D9-12D7-AC4E-B5C2-D63914292C8E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1F0EC4-5C3C-3ED6-2B43-B0D4C8C07E39}"/>
              </a:ext>
            </a:extLst>
          </p:cNvPr>
          <p:cNvSpPr txBox="1"/>
          <p:nvPr/>
        </p:nvSpPr>
        <p:spPr>
          <a:xfrm>
            <a:off x="774700" y="2108200"/>
            <a:ext cx="50038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How does a large increase in unemployment assistance change movements into and out of employment when jobs are scarce, health risks are salient and search requirements are relaxed?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658BCD-6EFC-E04E-5B8B-0C81FD56FB9C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5645D6-D03D-13A9-6252-3E531263325C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Why labour economists care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CEC329-1519-321C-F5F9-27991D325C90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D26D48-A954-291F-BC24-DC05BAC19595}"/>
              </a:ext>
            </a:extLst>
          </p:cNvPr>
          <p:cNvSpPr txBox="1"/>
          <p:nvPr/>
        </p:nvSpPr>
        <p:spPr>
          <a:xfrm>
            <a:off x="64135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Search and acceptance responses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Liquidity versus moral hazard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Worker versus firm-driven exits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State dependence of UI effects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Interactions with wage subsidies and conditionality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5C94B60-F3FD-18A2-09E6-CD81015C9015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6156A1-C0FA-1A39-FE4B-68C5BBAB331F}"/>
              </a:ext>
            </a:extLst>
          </p:cNvPr>
          <p:cNvSpPr txBox="1"/>
          <p:nvPr/>
        </p:nvSpPr>
        <p:spPr>
          <a:xfrm>
            <a:off x="876300" y="5575300"/>
            <a:ext cx="10312400" cy="5283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Frame Australia–New Zealand as the identification design; frame emergency benefit design as the contribution.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25839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9E6A18-B31E-D53F-2732-1A4CE15F5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817F10-064F-EC88-2EB6-1AE7A665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4C9CC2-A3E4-42C8-7F23-5BFB2B7E9932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9EE1C-92BE-B7A1-18ED-366FC7198B41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Question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2C247-E8CC-ECFA-CA60-5B68CDBB1210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B8688-F6C9-08D1-003F-109B21D56CC7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B47689-C0A2-F96A-A9AE-A11E834B831E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6BB3C-2D94-E0C3-3095-F1CD033452D9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FF2BA9-9D92-4CE4-8E1B-53A23CABC05E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A6115F-3588-31CA-79AF-CA291C31DF6F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736D74-D0E7-6199-43F0-A8BF82F30DBE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DCE5E-852D-E630-24AD-AC307F9313B7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7F88D3-36BB-87FD-E5F0-B0AC1CE11186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Three plausible estimands are currently mixed together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9AEE6D-8698-E772-A34A-F6515301B607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5389EA-696C-91F2-B70A-067BEE31A695}"/>
              </a:ext>
            </a:extLst>
          </p:cNvPr>
          <p:cNvSpPr/>
          <p:nvPr/>
        </p:nvSpPr>
        <p:spPr>
          <a:xfrm>
            <a:off x="609600" y="1473200"/>
            <a:ext cx="2215661" cy="723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89E673-43A3-D187-A379-198BBE632F88}"/>
              </a:ext>
            </a:extLst>
          </p:cNvPr>
          <p:cNvSpPr txBox="1"/>
          <p:nvPr/>
        </p:nvSpPr>
        <p:spPr>
          <a:xfrm>
            <a:off x="673100" y="1549400"/>
            <a:ext cx="2088661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Estimand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C657AB-A978-9667-6316-804476AEFAF7}"/>
              </a:ext>
            </a:extLst>
          </p:cNvPr>
          <p:cNvSpPr/>
          <p:nvPr/>
        </p:nvSpPr>
        <p:spPr>
          <a:xfrm>
            <a:off x="2825261" y="1473200"/>
            <a:ext cx="2848708" cy="723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DF1DCB-6997-A27D-1B41-CA51C027D5A6}"/>
              </a:ext>
            </a:extLst>
          </p:cNvPr>
          <p:cNvSpPr txBox="1"/>
          <p:nvPr/>
        </p:nvSpPr>
        <p:spPr>
          <a:xfrm>
            <a:off x="2888761" y="1549400"/>
            <a:ext cx="2721708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Treatment definition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53E68E-6B79-6FB4-9DEC-8879B15A8AE1}"/>
              </a:ext>
            </a:extLst>
          </p:cNvPr>
          <p:cNvSpPr/>
          <p:nvPr/>
        </p:nvSpPr>
        <p:spPr>
          <a:xfrm>
            <a:off x="5673969" y="1473200"/>
            <a:ext cx="3481754" cy="723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2F3F22-BAA9-C7F9-4F2D-4C1D1E49BC0A}"/>
              </a:ext>
            </a:extLst>
          </p:cNvPr>
          <p:cNvSpPr txBox="1"/>
          <p:nvPr/>
        </p:nvSpPr>
        <p:spPr>
          <a:xfrm>
            <a:off x="5737469" y="1549400"/>
            <a:ext cx="3354754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Interpretation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67EB77-B9DA-10C8-1CBE-931274DE5C53}"/>
              </a:ext>
            </a:extLst>
          </p:cNvPr>
          <p:cNvSpPr/>
          <p:nvPr/>
        </p:nvSpPr>
        <p:spPr>
          <a:xfrm>
            <a:off x="9155723" y="1473200"/>
            <a:ext cx="2426677" cy="723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A93B8-34DC-0DE2-E459-DC0A7AC18C47}"/>
              </a:ext>
            </a:extLst>
          </p:cNvPr>
          <p:cNvSpPr txBox="1"/>
          <p:nvPr/>
        </p:nvSpPr>
        <p:spPr>
          <a:xfrm>
            <a:off x="9219223" y="1549400"/>
            <a:ext cx="2299677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Status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3DCB39-7BF5-3B23-A7AF-B5C604511353}"/>
              </a:ext>
            </a:extLst>
          </p:cNvPr>
          <p:cNvSpPr/>
          <p:nvPr/>
        </p:nvSpPr>
        <p:spPr>
          <a:xfrm>
            <a:off x="609600" y="2197100"/>
            <a:ext cx="2215661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53832-8460-DF9A-345D-35954853C3D4}"/>
              </a:ext>
            </a:extLst>
          </p:cNvPr>
          <p:cNvSpPr txBox="1"/>
          <p:nvPr/>
        </p:nvSpPr>
        <p:spPr>
          <a:xfrm>
            <a:off x="673100" y="2260600"/>
            <a:ext cx="2088661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Eligibility / policy-bundle ITT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8AD3A8-1C67-5DB9-FCBF-792E9ECCBA6C}"/>
              </a:ext>
            </a:extLst>
          </p:cNvPr>
          <p:cNvSpPr/>
          <p:nvPr/>
        </p:nvSpPr>
        <p:spPr>
          <a:xfrm>
            <a:off x="2825261" y="2197100"/>
            <a:ext cx="2848708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E4F314-4363-38B9-4BB5-FBF0CAE302E5}"/>
              </a:ext>
            </a:extLst>
          </p:cNvPr>
          <p:cNvSpPr txBox="1"/>
          <p:nvPr/>
        </p:nvSpPr>
        <p:spPr>
          <a:xfrm>
            <a:off x="2888761" y="2260600"/>
            <a:ext cx="272170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Nationality × pre-policy legal eligibility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051805-7923-DA3B-B23C-1BBADC3486DD}"/>
              </a:ext>
            </a:extLst>
          </p:cNvPr>
          <p:cNvSpPr/>
          <p:nvPr/>
        </p:nvSpPr>
        <p:spPr>
          <a:xfrm>
            <a:off x="5673969" y="2197100"/>
            <a:ext cx="3481754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F8BF79-4DB3-FE5A-399F-3FFEE2CDA3B6}"/>
              </a:ext>
            </a:extLst>
          </p:cNvPr>
          <p:cNvSpPr txBox="1"/>
          <p:nvPr/>
        </p:nvSpPr>
        <p:spPr>
          <a:xfrm>
            <a:off x="5737469" y="2260600"/>
            <a:ext cx="3354754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Effect of exposure to the March JobSeeker expansion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035678-4641-8A51-3C78-9BD7C62A91EE}"/>
              </a:ext>
            </a:extLst>
          </p:cNvPr>
          <p:cNvSpPr/>
          <p:nvPr/>
        </p:nvSpPr>
        <p:spPr>
          <a:xfrm>
            <a:off x="9155723" y="2197100"/>
            <a:ext cx="2426677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4F23F6-7FF4-D126-C6DE-77B1D3CE9BB5}"/>
              </a:ext>
            </a:extLst>
          </p:cNvPr>
          <p:cNvSpPr txBox="1"/>
          <p:nvPr/>
        </p:nvSpPr>
        <p:spPr>
          <a:xfrm>
            <a:off x="9219223" y="22606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Preferred main estimand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237363-6562-9F18-2D73-C21CD91C89D3}"/>
              </a:ext>
            </a:extLst>
          </p:cNvPr>
          <p:cNvSpPr/>
          <p:nvPr/>
        </p:nvSpPr>
        <p:spPr>
          <a:xfrm>
            <a:off x="609600" y="2921000"/>
            <a:ext cx="2215661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334D46-1A5A-5161-D73B-254902ECD106}"/>
              </a:ext>
            </a:extLst>
          </p:cNvPr>
          <p:cNvSpPr txBox="1"/>
          <p:nvPr/>
        </p:nvSpPr>
        <p:spPr>
          <a:xfrm>
            <a:off x="673100" y="2984500"/>
            <a:ext cx="208866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Realised receipt effect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3442CD-F59F-D83B-8C10-4BA0CDE73FC0}"/>
              </a:ext>
            </a:extLst>
          </p:cNvPr>
          <p:cNvSpPr/>
          <p:nvPr/>
        </p:nvSpPr>
        <p:spPr>
          <a:xfrm>
            <a:off x="2825261" y="2921000"/>
            <a:ext cx="2848708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33B118-90D5-706B-8563-AEAF2D6D2711}"/>
              </a:ext>
            </a:extLst>
          </p:cNvPr>
          <p:cNvSpPr txBox="1"/>
          <p:nvPr/>
        </p:nvSpPr>
        <p:spPr>
          <a:xfrm>
            <a:off x="2888761" y="2984500"/>
            <a:ext cx="2721708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Received JobSeeker at any time in 2020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D05E14-9C6D-7C83-14E7-5BA1028F77E1}"/>
              </a:ext>
            </a:extLst>
          </p:cNvPr>
          <p:cNvSpPr/>
          <p:nvPr/>
        </p:nvSpPr>
        <p:spPr>
          <a:xfrm>
            <a:off x="5673969" y="2921000"/>
            <a:ext cx="3481754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54B43C-4871-3F9D-5AC6-F80F29CA7800}"/>
              </a:ext>
            </a:extLst>
          </p:cNvPr>
          <p:cNvSpPr txBox="1"/>
          <p:nvPr/>
        </p:nvSpPr>
        <p:spPr>
          <a:xfrm>
            <a:off x="5737469" y="2984500"/>
            <a:ext cx="33547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Effect among endogenous takers / job losers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21A9A2-239C-F548-5579-5F852943F0AA}"/>
              </a:ext>
            </a:extLst>
          </p:cNvPr>
          <p:cNvSpPr/>
          <p:nvPr/>
        </p:nvSpPr>
        <p:spPr>
          <a:xfrm>
            <a:off x="9155723" y="2921000"/>
            <a:ext cx="2426677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FB01A1-FA92-9061-E619-6F2738B7E5FD}"/>
              </a:ext>
            </a:extLst>
          </p:cNvPr>
          <p:cNvSpPr txBox="1"/>
          <p:nvPr/>
        </p:nvSpPr>
        <p:spPr>
          <a:xfrm>
            <a:off x="9219223" y="29845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Post-treatment; secondary only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8E15E6-0287-E5A6-0A7C-DB4574D90631}"/>
              </a:ext>
            </a:extLst>
          </p:cNvPr>
          <p:cNvSpPr/>
          <p:nvPr/>
        </p:nvSpPr>
        <p:spPr>
          <a:xfrm>
            <a:off x="609600" y="3644900"/>
            <a:ext cx="2215661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90C53E-D41D-10F2-6BDB-991E3A248DCE}"/>
              </a:ext>
            </a:extLst>
          </p:cNvPr>
          <p:cNvSpPr txBox="1"/>
          <p:nvPr/>
        </p:nvSpPr>
        <p:spPr>
          <a:xfrm>
            <a:off x="673100" y="3708400"/>
            <a:ext cx="208866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$550 supplement alone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2FE2776-58C8-46FE-761F-5B97540479CC}"/>
              </a:ext>
            </a:extLst>
          </p:cNvPr>
          <p:cNvSpPr/>
          <p:nvPr/>
        </p:nvSpPr>
        <p:spPr>
          <a:xfrm>
            <a:off x="2825261" y="3644900"/>
            <a:ext cx="2848708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5A3D97-FF49-150E-52D3-6BFE4B6DBB05}"/>
              </a:ext>
            </a:extLst>
          </p:cNvPr>
          <p:cNvSpPr txBox="1"/>
          <p:nvPr/>
        </p:nvSpPr>
        <p:spPr>
          <a:xfrm>
            <a:off x="2888761" y="3708400"/>
            <a:ext cx="2721708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Incremental cash amount holding other reforms fixed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78DFA85-22EA-5D30-BBE2-FD9435C60BB0}"/>
              </a:ext>
            </a:extLst>
          </p:cNvPr>
          <p:cNvSpPr/>
          <p:nvPr/>
        </p:nvSpPr>
        <p:spPr>
          <a:xfrm>
            <a:off x="5673969" y="3644900"/>
            <a:ext cx="3481754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06443E-4CC1-BC9E-9325-74C7A5C5B163}"/>
              </a:ext>
            </a:extLst>
          </p:cNvPr>
          <p:cNvSpPr txBox="1"/>
          <p:nvPr/>
        </p:nvSpPr>
        <p:spPr>
          <a:xfrm>
            <a:off x="5737469" y="3708400"/>
            <a:ext cx="33547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Pure benefit-level effect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924AD8-9925-72F4-651F-05A7446FB5F2}"/>
              </a:ext>
            </a:extLst>
          </p:cNvPr>
          <p:cNvSpPr/>
          <p:nvPr/>
        </p:nvSpPr>
        <p:spPr>
          <a:xfrm>
            <a:off x="9155723" y="3644900"/>
            <a:ext cx="2426677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441038-7F2A-BDA8-9FBC-2604B64581BA}"/>
              </a:ext>
            </a:extLst>
          </p:cNvPr>
          <p:cNvSpPr txBox="1"/>
          <p:nvPr/>
        </p:nvSpPr>
        <p:spPr>
          <a:xfrm>
            <a:off x="9219223" y="37084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Not isolated by baseline design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37ED2B3-4546-C323-95CB-CA1D8232EF52}"/>
              </a:ext>
            </a:extLst>
          </p:cNvPr>
          <p:cNvSpPr/>
          <p:nvPr/>
        </p:nvSpPr>
        <p:spPr>
          <a:xfrm>
            <a:off x="609600" y="4368800"/>
            <a:ext cx="2215661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11D3D5-69BF-2CE7-BA26-1A7164E3441F}"/>
              </a:ext>
            </a:extLst>
          </p:cNvPr>
          <p:cNvSpPr txBox="1"/>
          <p:nvPr/>
        </p:nvSpPr>
        <p:spPr>
          <a:xfrm>
            <a:off x="673100" y="4432300"/>
            <a:ext cx="208866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Instrumented receipt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2E1D780-1D71-5732-78B0-F0BDE6446600}"/>
              </a:ext>
            </a:extLst>
          </p:cNvPr>
          <p:cNvSpPr/>
          <p:nvPr/>
        </p:nvSpPr>
        <p:spPr>
          <a:xfrm>
            <a:off x="2825261" y="4368800"/>
            <a:ext cx="2848708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62F371-2EC9-D9BF-D551-9257D2645FD9}"/>
              </a:ext>
            </a:extLst>
          </p:cNvPr>
          <p:cNvSpPr txBox="1"/>
          <p:nvPr/>
        </p:nvSpPr>
        <p:spPr>
          <a:xfrm>
            <a:off x="2888761" y="4432300"/>
            <a:ext cx="272170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Eligibility instrument for actual receipt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5689DC-90D2-65D1-1A70-00A4132E5A82}"/>
              </a:ext>
            </a:extLst>
          </p:cNvPr>
          <p:cNvSpPr/>
          <p:nvPr/>
        </p:nvSpPr>
        <p:spPr>
          <a:xfrm>
            <a:off x="5673969" y="4368800"/>
            <a:ext cx="3481754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ECD7CD-CEF3-BA84-F6F5-2714443FB92D}"/>
              </a:ext>
            </a:extLst>
          </p:cNvPr>
          <p:cNvSpPr txBox="1"/>
          <p:nvPr/>
        </p:nvSpPr>
        <p:spPr>
          <a:xfrm>
            <a:off x="5737469" y="4432300"/>
            <a:ext cx="33547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Local effect under exclusion/monotonicity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D6749E-7904-4124-DE68-380A8C67F621}"/>
              </a:ext>
            </a:extLst>
          </p:cNvPr>
          <p:cNvSpPr/>
          <p:nvPr/>
        </p:nvSpPr>
        <p:spPr>
          <a:xfrm>
            <a:off x="9155723" y="4368800"/>
            <a:ext cx="2426677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0BB4BF-F4F4-506B-02E6-1FA037053161}"/>
              </a:ext>
            </a:extLst>
          </p:cNvPr>
          <p:cNvSpPr txBox="1"/>
          <p:nvPr/>
        </p:nvSpPr>
        <p:spPr>
          <a:xfrm>
            <a:off x="9219223" y="4432300"/>
            <a:ext cx="2299677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Possible only with credible first stage and exclusion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9E81A6E-1FA3-A3BD-2D19-6177FF431084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4F4D51-E692-247C-BF5B-FEB6A7CFE16F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Recommended sentence: estimate exposure to Australiaʼs March 2020 JobSeeker expansion relative to ineligible New Zealand citizens in shared local labour markets.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75487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1A0BE-16C3-B641-28F2-6B2E998DD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8A1FF-1ADA-BAEC-0C37-1300549E9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8CFA3A-5576-3275-2844-72CE5318028C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FC5EB-1EDF-F911-5669-80C0F4116D4D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Question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864C59-7028-45F2-409B-2F89D2DDAB23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2C021-DEC4-41A5-7914-0B469759A1CE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F0891-B0B8-54B7-9CF5-030E80552C5E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9F7D5-8455-8667-24CF-465EC57BF3FA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DD3DFB-409E-5558-3866-7862A67F83ED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E95A66-AC8E-D891-E3DC-B0F9A21C927E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ABBDE1-AF08-EAD3-7A72-2B6F16337F7A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AE7702-D080-DD46-0D40-E71573F06150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89FF9A-E356-6D9C-5A26-9ECAF2DCE1D9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comparison group is unusual—and economically informative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E1F5CF-A337-028E-960A-77C3B03816DC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952CDC-6332-1379-7CC8-4591B6A5565A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D8ADA-13BF-F1F0-8346-D36A23AA361C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Australian citizens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A1A766-CC18-F0FC-1DF7-FDAE0DB2ECFA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009C85-B27B-32E2-28AF-29AF8E8493DD}"/>
              </a:ext>
            </a:extLst>
          </p:cNvPr>
          <p:cNvSpPr txBox="1"/>
          <p:nvPr/>
        </p:nvSpPr>
        <p:spPr>
          <a:xfrm>
            <a:off x="774700" y="2108200"/>
            <a:ext cx="5003800" cy="10464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Potentially eligible for JobSeeker and the supplement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Also affected by eligibility expansions, waivers and mutual-obligation changes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Actual receipt depends on job loss and take-up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A69E33-5541-B906-0A7F-B41A4F50A421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439F7D-B154-9F5B-0AE6-4E2B1D976EA7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 b="1">
                <a:solidFill>
                  <a:srgbClr val="FFFFFF"/>
                </a:solidFill>
                <a:latin typeface="Proxima Nova Rg"/>
              </a:rPr>
              <a:t>New Zealand citizens on SCV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FA5A9E-254B-F8BF-BF4B-231D3184E966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61CCD4-1608-8DD7-19BA-2239B22F3FD3}"/>
              </a:ext>
            </a:extLst>
          </p:cNvPr>
          <p:cNvSpPr txBox="1"/>
          <p:nvPr/>
        </p:nvSpPr>
        <p:spPr>
          <a:xfrm>
            <a:off x="6413500" y="2108200"/>
            <a:ext cx="5003800" cy="12695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Live and work in Australia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Generally ineligible for JobSeeker within the selected residency window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Face many common local shocks but may differ in networks, tenure, mobility and selection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5A48594-8F53-5291-A1A3-5BA4F8532B5F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716722-B1B3-DB3A-091C-2A2D5E831B7B}"/>
              </a:ext>
            </a:extLst>
          </p:cNvPr>
          <p:cNvSpPr txBox="1"/>
          <p:nvPr/>
        </p:nvSpPr>
        <p:spPr>
          <a:xfrm>
            <a:off x="876300" y="55753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Say «shared local shocks conditional on observables and parallel trends»—not «identical conditions».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4229310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974A35-B080-3D31-B2E0-BF47392B8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99145A-5011-BD6C-05B8-46DC9C5C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59EC1-5CA1-B2C8-2469-7864CA51FB59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C5D08-7B4E-4B38-30A2-59DD6FAFEBE4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Question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9C4C1-E2FE-3055-84C2-4C3D741E8A71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23FBA6-65F5-755B-9DC5-05E608D30240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1E9FF6-7908-DD00-A729-B72165AC18EE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A8EA7C-ED89-6B1A-06FA-6A63C8E33396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92E282-15EC-E262-CA08-2C2F4E63E2A8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0EA2D0-6517-C6FD-432A-FDBE8AAD45FB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BD7C09-A804-D3BB-4AE6-0581CA154B36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294D1E-749D-9B57-9C3E-E1833C49AE18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4B605E-FE37-16B9-3026-4B5D0C73DC47}"/>
              </a:ext>
            </a:extLst>
          </p:cNvPr>
          <p:cNvSpPr txBox="1"/>
          <p:nvPr/>
        </p:nvSpPr>
        <p:spPr>
          <a:xfrm>
            <a:off x="482600" y="469900"/>
            <a:ext cx="111760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100" b="1">
                <a:solidFill>
                  <a:srgbClr val="000000"/>
                </a:solidFill>
                <a:latin typeface="Proxima Nova Rg"/>
              </a:rPr>
              <a:t>The «treatment date» is a sequence of announcements and implementation dates</a:t>
            </a:r>
            <a:endParaRPr lang="en-NZ" sz="21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4E29AE-418A-5A89-A82B-F717DC1A7578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7640B5-11EA-2971-E02E-DEF6448A4D41}"/>
              </a:ext>
            </a:extLst>
          </p:cNvPr>
          <p:cNvCxnSpPr/>
          <p:nvPr/>
        </p:nvCxnSpPr>
        <p:spPr>
          <a:xfrm>
            <a:off x="1079500" y="3302000"/>
            <a:ext cx="10033000" cy="0"/>
          </a:xfrm>
          <a:prstGeom prst="line">
            <a:avLst/>
          </a:prstGeom>
          <a:ln w="2540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0C924F-9E80-FCB3-1CE2-0DFA94489C63}"/>
              </a:ext>
            </a:extLst>
          </p:cNvPr>
          <p:cNvCxnSpPr/>
          <p:nvPr/>
        </p:nvCxnSpPr>
        <p:spPr>
          <a:xfrm>
            <a:off x="1651000" y="3048000"/>
            <a:ext cx="0" cy="50800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AEC49A-E5CA-0EF3-961E-DD9E747DA141}"/>
              </a:ext>
            </a:extLst>
          </p:cNvPr>
          <p:cNvSpPr/>
          <p:nvPr/>
        </p:nvSpPr>
        <p:spPr>
          <a:xfrm>
            <a:off x="1041400" y="1651000"/>
            <a:ext cx="1422400" cy="1219200"/>
          </a:xfrm>
          <a:prstGeom prst="round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E1C84-254F-865E-F425-C176C86FEC2C}"/>
              </a:ext>
            </a:extLst>
          </p:cNvPr>
          <p:cNvSpPr txBox="1"/>
          <p:nvPr/>
        </p:nvSpPr>
        <p:spPr>
          <a:xfrm>
            <a:off x="1168400" y="1765300"/>
            <a:ext cx="1168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22 Mar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872F19-CE14-42C4-01E1-8E2E2AEF9547}"/>
              </a:ext>
            </a:extLst>
          </p:cNvPr>
          <p:cNvSpPr txBox="1"/>
          <p:nvPr/>
        </p:nvSpPr>
        <p:spPr>
          <a:xfrm>
            <a:off x="1168400" y="2108200"/>
            <a:ext cx="11684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150">
                <a:solidFill>
                  <a:srgbClr val="FFFFFF"/>
                </a:solidFill>
                <a:latin typeface="Proxima Nova Rg"/>
              </a:rPr>
              <a:t>Supplement announced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8FB671-C2F1-5483-7669-1321FABA92D8}"/>
              </a:ext>
            </a:extLst>
          </p:cNvPr>
          <p:cNvCxnSpPr/>
          <p:nvPr/>
        </p:nvCxnSpPr>
        <p:spPr>
          <a:xfrm>
            <a:off x="1651000" y="2870200"/>
            <a:ext cx="0" cy="177800"/>
          </a:xfrm>
          <a:prstGeom prst="line">
            <a:avLst/>
          </a:prstGeom>
          <a:ln w="1524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8CCCB2-CDCE-154E-6A8D-189169A58237}"/>
              </a:ext>
            </a:extLst>
          </p:cNvPr>
          <p:cNvCxnSpPr/>
          <p:nvPr/>
        </p:nvCxnSpPr>
        <p:spPr>
          <a:xfrm>
            <a:off x="3403600" y="3048000"/>
            <a:ext cx="0" cy="50800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60E056E-A079-5A24-BFF1-482984647312}"/>
              </a:ext>
            </a:extLst>
          </p:cNvPr>
          <p:cNvSpPr/>
          <p:nvPr/>
        </p:nvSpPr>
        <p:spPr>
          <a:xfrm>
            <a:off x="2794000" y="3810000"/>
            <a:ext cx="1422400" cy="1219200"/>
          </a:xfrm>
          <a:prstGeom prst="roundRect">
            <a:avLst/>
          </a:prstGeom>
          <a:solidFill>
            <a:srgbClr val="3AA7AC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4884F1-2775-42B2-A47A-C67B697A4DB7}"/>
              </a:ext>
            </a:extLst>
          </p:cNvPr>
          <p:cNvSpPr txBox="1"/>
          <p:nvPr/>
        </p:nvSpPr>
        <p:spPr>
          <a:xfrm>
            <a:off x="2921000" y="3924300"/>
            <a:ext cx="1168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24 Mar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76265E-B77E-1319-C861-2C3E9A7373B5}"/>
              </a:ext>
            </a:extLst>
          </p:cNvPr>
          <p:cNvSpPr txBox="1"/>
          <p:nvPr/>
        </p:nvSpPr>
        <p:spPr>
          <a:xfrm>
            <a:off x="2921000" y="4267200"/>
            <a:ext cx="1168400" cy="58221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150">
                <a:solidFill>
                  <a:srgbClr val="FFFFFF"/>
                </a:solidFill>
                <a:latin typeface="Proxima Nova Rg"/>
              </a:rPr>
              <a:t>Mutual obligations suspended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C0C8D9E-634A-9B0E-2822-56E8A3B11CDD}"/>
              </a:ext>
            </a:extLst>
          </p:cNvPr>
          <p:cNvCxnSpPr/>
          <p:nvPr/>
        </p:nvCxnSpPr>
        <p:spPr>
          <a:xfrm>
            <a:off x="3403600" y="3556000"/>
            <a:ext cx="0" cy="254000"/>
          </a:xfrm>
          <a:prstGeom prst="line">
            <a:avLst/>
          </a:prstGeom>
          <a:ln w="1524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8DC288-5715-FD2D-9E93-94300BEC3F44}"/>
              </a:ext>
            </a:extLst>
          </p:cNvPr>
          <p:cNvCxnSpPr/>
          <p:nvPr/>
        </p:nvCxnSpPr>
        <p:spPr>
          <a:xfrm>
            <a:off x="5156200" y="3048000"/>
            <a:ext cx="0" cy="50800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E875FA8-20F3-EB80-119A-A20AEFD1AB6A}"/>
              </a:ext>
            </a:extLst>
          </p:cNvPr>
          <p:cNvSpPr/>
          <p:nvPr/>
        </p:nvSpPr>
        <p:spPr>
          <a:xfrm>
            <a:off x="4546600" y="1651000"/>
            <a:ext cx="1422400" cy="1219200"/>
          </a:xfrm>
          <a:prstGeom prst="round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453208-4F27-C5EF-08C4-8615FF4D3193}"/>
              </a:ext>
            </a:extLst>
          </p:cNvPr>
          <p:cNvSpPr txBox="1"/>
          <p:nvPr/>
        </p:nvSpPr>
        <p:spPr>
          <a:xfrm>
            <a:off x="4673600" y="1765300"/>
            <a:ext cx="1168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30 Mar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A1532C-A411-17B2-179E-AC00C557BB5C}"/>
              </a:ext>
            </a:extLst>
          </p:cNvPr>
          <p:cNvSpPr txBox="1"/>
          <p:nvPr/>
        </p:nvSpPr>
        <p:spPr>
          <a:xfrm>
            <a:off x="4673600" y="2108200"/>
            <a:ext cx="11684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150">
                <a:solidFill>
                  <a:srgbClr val="FFFFFF"/>
                </a:solidFill>
                <a:latin typeface="Proxima Nova Rg"/>
              </a:rPr>
              <a:t>JobKeeper announced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FE2707-B8F2-7DF0-E2AD-7F84F9D2CC76}"/>
              </a:ext>
            </a:extLst>
          </p:cNvPr>
          <p:cNvCxnSpPr/>
          <p:nvPr/>
        </p:nvCxnSpPr>
        <p:spPr>
          <a:xfrm>
            <a:off x="5156200" y="2870200"/>
            <a:ext cx="0" cy="177800"/>
          </a:xfrm>
          <a:prstGeom prst="line">
            <a:avLst/>
          </a:prstGeom>
          <a:ln w="1524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12720C-7F8B-0A0A-A2F4-806D83C099FF}"/>
              </a:ext>
            </a:extLst>
          </p:cNvPr>
          <p:cNvCxnSpPr/>
          <p:nvPr/>
        </p:nvCxnSpPr>
        <p:spPr>
          <a:xfrm>
            <a:off x="6908800" y="3048000"/>
            <a:ext cx="0" cy="50800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2B79FC1-3F1B-C5B5-97F8-20059C1228D1}"/>
              </a:ext>
            </a:extLst>
          </p:cNvPr>
          <p:cNvSpPr/>
          <p:nvPr/>
        </p:nvSpPr>
        <p:spPr>
          <a:xfrm>
            <a:off x="6299200" y="3810000"/>
            <a:ext cx="1422400" cy="1219200"/>
          </a:xfrm>
          <a:prstGeom prst="round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8CAEF8-9AC6-0C99-7300-E64E937BB99F}"/>
              </a:ext>
            </a:extLst>
          </p:cNvPr>
          <p:cNvSpPr txBox="1"/>
          <p:nvPr/>
        </p:nvSpPr>
        <p:spPr>
          <a:xfrm>
            <a:off x="6426200" y="3924300"/>
            <a:ext cx="1168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27 Apr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C57DFA-6EA7-093E-86BE-ED02C34A5369}"/>
              </a:ext>
            </a:extLst>
          </p:cNvPr>
          <p:cNvSpPr txBox="1"/>
          <p:nvPr/>
        </p:nvSpPr>
        <p:spPr>
          <a:xfrm>
            <a:off x="6426200" y="4267200"/>
            <a:ext cx="11684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150">
                <a:solidFill>
                  <a:srgbClr val="FFFFFF"/>
                </a:solidFill>
                <a:latin typeface="Proxima Nova Rg"/>
              </a:rPr>
              <a:t>$550 supplement begins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8D7B7A-A575-B38C-E1CC-81B09DBA0FBE}"/>
              </a:ext>
            </a:extLst>
          </p:cNvPr>
          <p:cNvCxnSpPr/>
          <p:nvPr/>
        </p:nvCxnSpPr>
        <p:spPr>
          <a:xfrm>
            <a:off x="6908800" y="3556000"/>
            <a:ext cx="0" cy="254000"/>
          </a:xfrm>
          <a:prstGeom prst="line">
            <a:avLst/>
          </a:prstGeom>
          <a:ln w="1524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E5E49F2-DAC2-EE1B-2B0E-0C894F7C09CB}"/>
              </a:ext>
            </a:extLst>
          </p:cNvPr>
          <p:cNvCxnSpPr/>
          <p:nvPr/>
        </p:nvCxnSpPr>
        <p:spPr>
          <a:xfrm>
            <a:off x="8661400" y="3048000"/>
            <a:ext cx="0" cy="50800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BC33D63-EE7B-9316-9BB6-6CABB62A9D0F}"/>
              </a:ext>
            </a:extLst>
          </p:cNvPr>
          <p:cNvSpPr/>
          <p:nvPr/>
        </p:nvSpPr>
        <p:spPr>
          <a:xfrm>
            <a:off x="8051800" y="1651000"/>
            <a:ext cx="1422400" cy="1219200"/>
          </a:xfrm>
          <a:prstGeom prst="roundRect">
            <a:avLst/>
          </a:prstGeom>
          <a:solidFill>
            <a:srgbClr val="3AA7AC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97B0DC-75C0-1C54-DF6D-B11B2C1878E3}"/>
              </a:ext>
            </a:extLst>
          </p:cNvPr>
          <p:cNvSpPr txBox="1"/>
          <p:nvPr/>
        </p:nvSpPr>
        <p:spPr>
          <a:xfrm>
            <a:off x="8178800" y="1765300"/>
            <a:ext cx="1168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9 Jun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F7915C-A928-EA90-006E-19605DAD5B53}"/>
              </a:ext>
            </a:extLst>
          </p:cNvPr>
          <p:cNvSpPr txBox="1"/>
          <p:nvPr/>
        </p:nvSpPr>
        <p:spPr>
          <a:xfrm>
            <a:off x="8178800" y="2108200"/>
            <a:ext cx="1168400" cy="58221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150">
                <a:solidFill>
                  <a:srgbClr val="FFFFFF"/>
                </a:solidFill>
                <a:latin typeface="Proxima Nova Rg"/>
              </a:rPr>
              <a:t>Modified obligations resume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9248255-69D1-71B0-463A-EC63ACF5B007}"/>
              </a:ext>
            </a:extLst>
          </p:cNvPr>
          <p:cNvCxnSpPr/>
          <p:nvPr/>
        </p:nvCxnSpPr>
        <p:spPr>
          <a:xfrm>
            <a:off x="8661400" y="2870200"/>
            <a:ext cx="0" cy="177800"/>
          </a:xfrm>
          <a:prstGeom prst="line">
            <a:avLst/>
          </a:prstGeom>
          <a:ln w="1524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BE9848B-8E49-1DCB-36F7-2A578F501E39}"/>
              </a:ext>
            </a:extLst>
          </p:cNvPr>
          <p:cNvCxnSpPr/>
          <p:nvPr/>
        </p:nvCxnSpPr>
        <p:spPr>
          <a:xfrm>
            <a:off x="10414000" y="3048000"/>
            <a:ext cx="0" cy="50800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B6D72EA-B9BC-25FB-8C5A-E0096B623E17}"/>
              </a:ext>
            </a:extLst>
          </p:cNvPr>
          <p:cNvSpPr/>
          <p:nvPr/>
        </p:nvSpPr>
        <p:spPr>
          <a:xfrm>
            <a:off x="9804400" y="3810000"/>
            <a:ext cx="1422400" cy="1219200"/>
          </a:xfrm>
          <a:prstGeom prst="round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D58788-86F6-1BDF-E728-E6F5286AD0CF}"/>
              </a:ext>
            </a:extLst>
          </p:cNvPr>
          <p:cNvSpPr txBox="1"/>
          <p:nvPr/>
        </p:nvSpPr>
        <p:spPr>
          <a:xfrm>
            <a:off x="9931400" y="3924300"/>
            <a:ext cx="1168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25 Sep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445FC1-3B8C-489F-613B-7BC38BFD5954}"/>
              </a:ext>
            </a:extLst>
          </p:cNvPr>
          <p:cNvSpPr txBox="1"/>
          <p:nvPr/>
        </p:nvSpPr>
        <p:spPr>
          <a:xfrm>
            <a:off x="9931400" y="4267200"/>
            <a:ext cx="11684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150">
                <a:solidFill>
                  <a:srgbClr val="FFFFFF"/>
                </a:solidFill>
                <a:latin typeface="Proxima Nova Rg"/>
              </a:rPr>
              <a:t>Supplement reduced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A07893A-5B6C-C2E6-5B13-7FBE8084D026}"/>
              </a:ext>
            </a:extLst>
          </p:cNvPr>
          <p:cNvCxnSpPr/>
          <p:nvPr/>
        </p:nvCxnSpPr>
        <p:spPr>
          <a:xfrm>
            <a:off x="10414000" y="3556000"/>
            <a:ext cx="0" cy="254000"/>
          </a:xfrm>
          <a:prstGeom prst="line">
            <a:avLst/>
          </a:prstGeom>
          <a:ln w="15240">
            <a:solidFill>
              <a:srgbClr val="4A4E50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D9C2C31-6876-253A-8BD2-974E050C6B36}"/>
              </a:ext>
            </a:extLst>
          </p:cNvPr>
          <p:cNvSpPr/>
          <p:nvPr/>
        </p:nvSpPr>
        <p:spPr>
          <a:xfrm>
            <a:off x="1143000" y="5461000"/>
            <a:ext cx="9906000" cy="736600"/>
          </a:xfrm>
          <a:prstGeom prst="round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352F67-7C1E-ACCC-ABB6-E0644D72DDB6}"/>
              </a:ext>
            </a:extLst>
          </p:cNvPr>
          <p:cNvSpPr txBox="1"/>
          <p:nvPr/>
        </p:nvSpPr>
        <p:spPr>
          <a:xfrm>
            <a:off x="1320800" y="5562600"/>
            <a:ext cx="9550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E86F3D"/>
                </a:solidFill>
                <a:latin typeface="Proxima Nova Rg"/>
              </a:rPr>
              <a:t>Estimate announcement, entitlement and payment windows separately where feasible; otherwise label the estimand as exposure to the March JobSeeker policy bundle.</a:t>
            </a:r>
            <a:endParaRPr lang="en-NZ" sz="1400" b="1" dirty="0">
              <a:solidFill>
                <a:srgbClr val="E86F3D"/>
              </a:solidFill>
              <a:latin typeface="Proxima Nova Rg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ECD835-46E8-425D-605F-599A51B77184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750">
                <a:solidFill>
                  <a:srgbClr val="A6A6A6"/>
                </a:solidFill>
                <a:latin typeface="Proxima Nova Rg"/>
              </a:rPr>
              <a:t>Dates follow the manuscript and prior review; final deck should be updated from the projectʼs exact legal/administrative timeline.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759401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4FEBB9-B3E8-CD96-628C-BDD754EC2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5217A0-CD83-5764-EB72-86F98132F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75F5B-E5E9-B111-5E7B-098D5BBB5E83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031254-6562-D647-3B74-CD383D907FDA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Question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76FFD9-BC4B-D351-8D85-18A9CBB029A9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650C4-0CC3-DD58-3172-442F2984298C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0AF0A-5489-2072-D242-3B41F472CF94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78F0E-C0EB-D417-332D-CFC3340D3286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1C13CF-ADF3-CA91-3101-CFD17911E0EE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2FE49-B958-4258-441C-428474757669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C853D2-F775-E768-77F6-C1896FB55771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9B0BC8-8A94-D3C4-D1AB-AFA3B2EDCC72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C7E6A8-4DA6-43EC-AE91-7ED9C1A17AF2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The reduced-form treatment is a policy bundle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E54060-B1EC-353B-959F-3B791ECAEB53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CE1E9A-B453-D2F9-938C-8A0310FF5D8A}"/>
              </a:ext>
            </a:extLst>
          </p:cNvPr>
          <p:cNvSpPr/>
          <p:nvPr/>
        </p:nvSpPr>
        <p:spPr>
          <a:xfrm>
            <a:off x="609600" y="1473200"/>
            <a:ext cx="2426677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478993-1346-7F3F-FDE3-02D1B0C05CA1}"/>
              </a:ext>
            </a:extLst>
          </p:cNvPr>
          <p:cNvSpPr txBox="1"/>
          <p:nvPr/>
        </p:nvSpPr>
        <p:spPr>
          <a:xfrm>
            <a:off x="673100" y="1549400"/>
            <a:ext cx="2299677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Component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82D405-479D-42B6-C1B0-640D29187D71}"/>
              </a:ext>
            </a:extLst>
          </p:cNvPr>
          <p:cNvSpPr/>
          <p:nvPr/>
        </p:nvSpPr>
        <p:spPr>
          <a:xfrm>
            <a:off x="3036277" y="1473200"/>
            <a:ext cx="2426677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1DF319-C43C-E9AF-7FC7-0B0E57F8BA8B}"/>
              </a:ext>
            </a:extLst>
          </p:cNvPr>
          <p:cNvSpPr txBox="1"/>
          <p:nvPr/>
        </p:nvSpPr>
        <p:spPr>
          <a:xfrm>
            <a:off x="3099777" y="1549400"/>
            <a:ext cx="2299677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Timing / exposure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FA5C19-373B-461F-8685-B28C5ACFDE07}"/>
              </a:ext>
            </a:extLst>
          </p:cNvPr>
          <p:cNvSpPr/>
          <p:nvPr/>
        </p:nvSpPr>
        <p:spPr>
          <a:xfrm>
            <a:off x="5462954" y="1473200"/>
            <a:ext cx="3270738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57EF4A-A799-8AB0-A13B-D8D8F816A8F4}"/>
              </a:ext>
            </a:extLst>
          </p:cNvPr>
          <p:cNvSpPr txBox="1"/>
          <p:nvPr/>
        </p:nvSpPr>
        <p:spPr>
          <a:xfrm>
            <a:off x="5526454" y="1549400"/>
            <a:ext cx="3143739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50" b="1">
                <a:solidFill>
                  <a:srgbClr val="FFFFFF"/>
                </a:solidFill>
                <a:latin typeface="Proxima Nova Rg"/>
              </a:rPr>
              <a:t>Why it matters for outcomes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081110-4FE7-6252-00F6-355B7B67C4B9}"/>
              </a:ext>
            </a:extLst>
          </p:cNvPr>
          <p:cNvSpPr/>
          <p:nvPr/>
        </p:nvSpPr>
        <p:spPr>
          <a:xfrm>
            <a:off x="8733692" y="1473200"/>
            <a:ext cx="2848708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8505F6-F32A-2D86-B85A-87492E8967F4}"/>
              </a:ext>
            </a:extLst>
          </p:cNvPr>
          <p:cNvSpPr txBox="1"/>
          <p:nvPr/>
        </p:nvSpPr>
        <p:spPr>
          <a:xfrm>
            <a:off x="8797192" y="1549400"/>
            <a:ext cx="2721708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Can baseline isolate it?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7BE52A-4996-9CDC-3949-AFE3872A7D2D}"/>
              </a:ext>
            </a:extLst>
          </p:cNvPr>
          <p:cNvSpPr/>
          <p:nvPr/>
        </p:nvSpPr>
        <p:spPr>
          <a:xfrm>
            <a:off x="609600" y="2070100"/>
            <a:ext cx="2426677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0EB2A1-2333-B817-FB40-73F366E629CC}"/>
              </a:ext>
            </a:extLst>
          </p:cNvPr>
          <p:cNvSpPr txBox="1"/>
          <p:nvPr/>
        </p:nvSpPr>
        <p:spPr>
          <a:xfrm>
            <a:off x="673100" y="21336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Coronavirus Supplement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E09128-68DA-349A-54B1-A60622D1E046}"/>
              </a:ext>
            </a:extLst>
          </p:cNvPr>
          <p:cNvSpPr/>
          <p:nvPr/>
        </p:nvSpPr>
        <p:spPr>
          <a:xfrm>
            <a:off x="3036277" y="2070100"/>
            <a:ext cx="2426677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BFF8B6-355E-0CB7-AA2F-61A114475E4F}"/>
              </a:ext>
            </a:extLst>
          </p:cNvPr>
          <p:cNvSpPr txBox="1"/>
          <p:nvPr/>
        </p:nvSpPr>
        <p:spPr>
          <a:xfrm>
            <a:off x="3099777" y="2133600"/>
            <a:ext cx="2299677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Announced 22 Mar; paid from 27 Apr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55A4CF-0C70-D13C-8FCE-1660DBE23C05}"/>
              </a:ext>
            </a:extLst>
          </p:cNvPr>
          <p:cNvSpPr/>
          <p:nvPr/>
        </p:nvSpPr>
        <p:spPr>
          <a:xfrm>
            <a:off x="5462954" y="2070100"/>
            <a:ext cx="3270738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CFEDD4-9DC1-0D7C-7C6E-72CE72CD4CA4}"/>
              </a:ext>
            </a:extLst>
          </p:cNvPr>
          <p:cNvSpPr txBox="1"/>
          <p:nvPr/>
        </p:nvSpPr>
        <p:spPr>
          <a:xfrm>
            <a:off x="5526454" y="2133600"/>
            <a:ext cx="31437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$550/fortnight changes outside option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B54CE6-BC5B-0F16-78D4-41B54AB2878C}"/>
              </a:ext>
            </a:extLst>
          </p:cNvPr>
          <p:cNvSpPr/>
          <p:nvPr/>
        </p:nvSpPr>
        <p:spPr>
          <a:xfrm>
            <a:off x="8733692" y="2070100"/>
            <a:ext cx="2848708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752BC3-1465-E9A0-87AE-FB830830B280}"/>
              </a:ext>
            </a:extLst>
          </p:cNvPr>
          <p:cNvSpPr txBox="1"/>
          <p:nvPr/>
        </p:nvSpPr>
        <p:spPr>
          <a:xfrm>
            <a:off x="8797192" y="2133600"/>
            <a:ext cx="272170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No—coincides with other changes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B475A0-1615-3354-7FFE-07E9AB15360B}"/>
              </a:ext>
            </a:extLst>
          </p:cNvPr>
          <p:cNvSpPr/>
          <p:nvPr/>
        </p:nvSpPr>
        <p:spPr>
          <a:xfrm>
            <a:off x="609600" y="2667000"/>
            <a:ext cx="2426677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66FAF-322A-2237-F2C9-216566B4CDAF}"/>
              </a:ext>
            </a:extLst>
          </p:cNvPr>
          <p:cNvSpPr txBox="1"/>
          <p:nvPr/>
        </p:nvSpPr>
        <p:spPr>
          <a:xfrm>
            <a:off x="673100" y="2730500"/>
            <a:ext cx="2299677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Eligibility and means-test changes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370DE5-FF34-B28E-1C97-7E80841D03C9}"/>
              </a:ext>
            </a:extLst>
          </p:cNvPr>
          <p:cNvSpPr/>
          <p:nvPr/>
        </p:nvSpPr>
        <p:spPr>
          <a:xfrm>
            <a:off x="3036277" y="2667000"/>
            <a:ext cx="2426677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6846A7-5603-1525-8569-AE6E4EEC1BA8}"/>
              </a:ext>
            </a:extLst>
          </p:cNvPr>
          <p:cNvSpPr txBox="1"/>
          <p:nvPr/>
        </p:nvSpPr>
        <p:spPr>
          <a:xfrm>
            <a:off x="3099777" y="27305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Implemented in March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EE45BA-EAD1-B487-0504-5E2ECC14FCFC}"/>
              </a:ext>
            </a:extLst>
          </p:cNvPr>
          <p:cNvSpPr/>
          <p:nvPr/>
        </p:nvSpPr>
        <p:spPr>
          <a:xfrm>
            <a:off x="5462954" y="2667000"/>
            <a:ext cx="3270738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4B973F-B9FB-DF62-38A4-BF8FC58F1F16}"/>
              </a:ext>
            </a:extLst>
          </p:cNvPr>
          <p:cNvSpPr txBox="1"/>
          <p:nvPr/>
        </p:nvSpPr>
        <p:spPr>
          <a:xfrm>
            <a:off x="5526454" y="2730500"/>
            <a:ext cx="31437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Changes who can receive JobSeeker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E8CA0D-936B-F064-5FFB-05C99FE528FE}"/>
              </a:ext>
            </a:extLst>
          </p:cNvPr>
          <p:cNvSpPr/>
          <p:nvPr/>
        </p:nvSpPr>
        <p:spPr>
          <a:xfrm>
            <a:off x="8733692" y="2667000"/>
            <a:ext cx="2848708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BF6520-887C-897A-E85C-EB5D9A1088D6}"/>
              </a:ext>
            </a:extLst>
          </p:cNvPr>
          <p:cNvSpPr txBox="1"/>
          <p:nvPr/>
        </p:nvSpPr>
        <p:spPr>
          <a:xfrm>
            <a:off x="8797192" y="2730500"/>
            <a:ext cx="272170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No—part of nationality-linked exposure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4837D0-B5D6-4F31-F3E5-8BC8B8B01C9F}"/>
              </a:ext>
            </a:extLst>
          </p:cNvPr>
          <p:cNvSpPr/>
          <p:nvPr/>
        </p:nvSpPr>
        <p:spPr>
          <a:xfrm>
            <a:off x="609600" y="3263900"/>
            <a:ext cx="2426677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5EE937-B574-A173-7CD5-4CC3DCFDECD2}"/>
              </a:ext>
            </a:extLst>
          </p:cNvPr>
          <p:cNvSpPr txBox="1"/>
          <p:nvPr/>
        </p:nvSpPr>
        <p:spPr>
          <a:xfrm>
            <a:off x="673100" y="3327400"/>
            <a:ext cx="2299677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Waiting-period / asset-test waivers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D1BC6A-A8A3-01C3-D29C-68DBBCB753E3}"/>
              </a:ext>
            </a:extLst>
          </p:cNvPr>
          <p:cNvSpPr/>
          <p:nvPr/>
        </p:nvSpPr>
        <p:spPr>
          <a:xfrm>
            <a:off x="3036277" y="3263900"/>
            <a:ext cx="2426677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A5B59E-439E-D68B-5140-2653092BAEFB}"/>
              </a:ext>
            </a:extLst>
          </p:cNvPr>
          <p:cNvSpPr txBox="1"/>
          <p:nvPr/>
        </p:nvSpPr>
        <p:spPr>
          <a:xfrm>
            <a:off x="3099777" y="33274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March 2020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2B3268-ECAA-CADD-810A-05B99921D6A6}"/>
              </a:ext>
            </a:extLst>
          </p:cNvPr>
          <p:cNvSpPr/>
          <p:nvPr/>
        </p:nvSpPr>
        <p:spPr>
          <a:xfrm>
            <a:off x="5462954" y="3263900"/>
            <a:ext cx="3270738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8EFBAD-AF55-F41A-B345-B587C4A02E44}"/>
              </a:ext>
            </a:extLst>
          </p:cNvPr>
          <p:cNvSpPr txBox="1"/>
          <p:nvPr/>
        </p:nvSpPr>
        <p:spPr>
          <a:xfrm>
            <a:off x="5526454" y="3327400"/>
            <a:ext cx="3143739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Changes access speed and effective generosity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BA4B1B-D8A1-C637-03F7-2BD86A317585}"/>
              </a:ext>
            </a:extLst>
          </p:cNvPr>
          <p:cNvSpPr/>
          <p:nvPr/>
        </p:nvSpPr>
        <p:spPr>
          <a:xfrm>
            <a:off x="8733692" y="3263900"/>
            <a:ext cx="2848708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2CDF74-32AD-9BA9-A28C-ECA0D01CC8C7}"/>
              </a:ext>
            </a:extLst>
          </p:cNvPr>
          <p:cNvSpPr txBox="1"/>
          <p:nvPr/>
        </p:nvSpPr>
        <p:spPr>
          <a:xfrm>
            <a:off x="8797192" y="3327400"/>
            <a:ext cx="272170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No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BAE48A-B7E6-EC88-3587-E0E1DD952A5C}"/>
              </a:ext>
            </a:extLst>
          </p:cNvPr>
          <p:cNvSpPr/>
          <p:nvPr/>
        </p:nvSpPr>
        <p:spPr>
          <a:xfrm>
            <a:off x="609600" y="3860800"/>
            <a:ext cx="2426677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2FAB46-CF8D-A03F-E5A7-99BA4CDF8A08}"/>
              </a:ext>
            </a:extLst>
          </p:cNvPr>
          <p:cNvSpPr txBox="1"/>
          <p:nvPr/>
        </p:nvSpPr>
        <p:spPr>
          <a:xfrm>
            <a:off x="673100" y="39243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Mutual obligations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D7AAED-FE16-E512-71C5-9DED05E7FD35}"/>
              </a:ext>
            </a:extLst>
          </p:cNvPr>
          <p:cNvSpPr/>
          <p:nvPr/>
        </p:nvSpPr>
        <p:spPr>
          <a:xfrm>
            <a:off x="3036277" y="3860800"/>
            <a:ext cx="2426677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FB55A-FEDF-9125-3CAB-04BFC69E86A9}"/>
              </a:ext>
            </a:extLst>
          </p:cNvPr>
          <p:cNvSpPr txBox="1"/>
          <p:nvPr/>
        </p:nvSpPr>
        <p:spPr>
          <a:xfrm>
            <a:off x="3099777" y="39243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Suspended then staged return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BE5B803-F4BF-DEC3-946E-3B09819B9D3A}"/>
              </a:ext>
            </a:extLst>
          </p:cNvPr>
          <p:cNvSpPr/>
          <p:nvPr/>
        </p:nvSpPr>
        <p:spPr>
          <a:xfrm>
            <a:off x="5462954" y="3860800"/>
            <a:ext cx="3270738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AA4A6F-A2A3-F4C0-D3B6-11CD95C943B2}"/>
              </a:ext>
            </a:extLst>
          </p:cNvPr>
          <p:cNvSpPr txBox="1"/>
          <p:nvPr/>
        </p:nvSpPr>
        <p:spPr>
          <a:xfrm>
            <a:off x="5526454" y="3924300"/>
            <a:ext cx="31437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Changes search cost/requirements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B557D74-F394-BAED-F2A5-C4CC941083CF}"/>
              </a:ext>
            </a:extLst>
          </p:cNvPr>
          <p:cNvSpPr/>
          <p:nvPr/>
        </p:nvSpPr>
        <p:spPr>
          <a:xfrm>
            <a:off x="8733692" y="3860800"/>
            <a:ext cx="2848708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71A8A4-DA11-B403-BD64-7C1534064E8E}"/>
              </a:ext>
            </a:extLst>
          </p:cNvPr>
          <p:cNvSpPr txBox="1"/>
          <p:nvPr/>
        </p:nvSpPr>
        <p:spPr>
          <a:xfrm>
            <a:off x="8797192" y="3924300"/>
            <a:ext cx="272170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Potential triple-difference variation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D79D9EC-16BB-5D44-AAD2-29C1FA534ACE}"/>
              </a:ext>
            </a:extLst>
          </p:cNvPr>
          <p:cNvSpPr/>
          <p:nvPr/>
        </p:nvSpPr>
        <p:spPr>
          <a:xfrm>
            <a:off x="609600" y="4457700"/>
            <a:ext cx="2426677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325B92-E378-7BCC-F06B-8BD7F25E0020}"/>
              </a:ext>
            </a:extLst>
          </p:cNvPr>
          <p:cNvSpPr txBox="1"/>
          <p:nvPr/>
        </p:nvSpPr>
        <p:spPr>
          <a:xfrm>
            <a:off x="673100" y="45212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JobKeeper wage subsidy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43F194-C18B-E74B-466A-349CA959DD18}"/>
              </a:ext>
            </a:extLst>
          </p:cNvPr>
          <p:cNvSpPr/>
          <p:nvPr/>
        </p:nvSpPr>
        <p:spPr>
          <a:xfrm>
            <a:off x="3036277" y="4457700"/>
            <a:ext cx="2426677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B33AC6-9140-7E3C-622D-A08C0C3088A1}"/>
              </a:ext>
            </a:extLst>
          </p:cNvPr>
          <p:cNvSpPr txBox="1"/>
          <p:nvPr/>
        </p:nvSpPr>
        <p:spPr>
          <a:xfrm>
            <a:off x="3099777" y="45212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Announced 30 Mar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39573CD-0E5D-33F5-6A61-91BC73297E9C}"/>
              </a:ext>
            </a:extLst>
          </p:cNvPr>
          <p:cNvSpPr/>
          <p:nvPr/>
        </p:nvSpPr>
        <p:spPr>
          <a:xfrm>
            <a:off x="5462954" y="4457700"/>
            <a:ext cx="3270738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0D30352-720F-B1D3-EBCB-8B08DEBA6BD3}"/>
              </a:ext>
            </a:extLst>
          </p:cNvPr>
          <p:cNvSpPr txBox="1"/>
          <p:nvPr/>
        </p:nvSpPr>
        <p:spPr>
          <a:xfrm>
            <a:off x="5526454" y="4521200"/>
            <a:ext cx="31437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Directly affects retention and vacancies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4CC51C-2A4F-EDE4-1541-04DD855656B9}"/>
              </a:ext>
            </a:extLst>
          </p:cNvPr>
          <p:cNvSpPr/>
          <p:nvPr/>
        </p:nvSpPr>
        <p:spPr>
          <a:xfrm>
            <a:off x="8733692" y="4457700"/>
            <a:ext cx="2848708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3205D0-AAB9-A91A-4A24-7FA9872B6453}"/>
              </a:ext>
            </a:extLst>
          </p:cNvPr>
          <p:cNvSpPr txBox="1"/>
          <p:nvPr/>
        </p:nvSpPr>
        <p:spPr>
          <a:xfrm>
            <a:off x="8797192" y="4521200"/>
            <a:ext cx="272170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Needs actual/predicted exposure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6823821-D70D-605F-E217-E0B2DC71AB14}"/>
              </a:ext>
            </a:extLst>
          </p:cNvPr>
          <p:cNvSpPr/>
          <p:nvPr/>
        </p:nvSpPr>
        <p:spPr>
          <a:xfrm>
            <a:off x="609600" y="5054600"/>
            <a:ext cx="2426677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9C0611-FC73-B2A9-C1B0-D460FC77DC93}"/>
              </a:ext>
            </a:extLst>
          </p:cNvPr>
          <p:cNvSpPr txBox="1"/>
          <p:nvPr/>
        </p:nvSpPr>
        <p:spPr>
          <a:xfrm>
            <a:off x="673100" y="51181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Health restrictions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E3CC5EA-7F87-37C2-E15A-ABF6410D6316}"/>
              </a:ext>
            </a:extLst>
          </p:cNvPr>
          <p:cNvSpPr/>
          <p:nvPr/>
        </p:nvSpPr>
        <p:spPr>
          <a:xfrm>
            <a:off x="3036277" y="5054600"/>
            <a:ext cx="2426677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6140FD-AA00-E5C2-67FB-1E4B45A16B2B}"/>
              </a:ext>
            </a:extLst>
          </p:cNvPr>
          <p:cNvSpPr txBox="1"/>
          <p:nvPr/>
        </p:nvSpPr>
        <p:spPr>
          <a:xfrm>
            <a:off x="3099777" y="5118100"/>
            <a:ext cx="22996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National + state timing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A68D98E-9682-BB11-62C1-3F4C0FD1F310}"/>
              </a:ext>
            </a:extLst>
          </p:cNvPr>
          <p:cNvSpPr/>
          <p:nvPr/>
        </p:nvSpPr>
        <p:spPr>
          <a:xfrm>
            <a:off x="5462954" y="5054600"/>
            <a:ext cx="3270738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7207C8-C797-5B58-E4C5-3D73F09DAC7E}"/>
              </a:ext>
            </a:extLst>
          </p:cNvPr>
          <p:cNvSpPr txBox="1"/>
          <p:nvPr/>
        </p:nvSpPr>
        <p:spPr>
          <a:xfrm>
            <a:off x="5526454" y="5118100"/>
            <a:ext cx="31437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Affect demand, risk and feasible work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8AB8545-EBDF-8E03-AC38-75287EB92024}"/>
              </a:ext>
            </a:extLst>
          </p:cNvPr>
          <p:cNvSpPr/>
          <p:nvPr/>
        </p:nvSpPr>
        <p:spPr>
          <a:xfrm>
            <a:off x="8733692" y="5054600"/>
            <a:ext cx="2848708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A6C0DC-4275-AE2C-279B-DDAE6E603E3A}"/>
              </a:ext>
            </a:extLst>
          </p:cNvPr>
          <p:cNvSpPr txBox="1"/>
          <p:nvPr/>
        </p:nvSpPr>
        <p:spPr>
          <a:xfrm>
            <a:off x="8797192" y="5118100"/>
            <a:ext cx="272170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Common only imperfectly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F40CFA9-FEA6-7A87-76A3-C4D7B718EE58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6928DA-5DE9-19A9-5F6E-C8B603B4119D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Main causal label should be «JobSeeker expansion / March policy bundle» unless component-specific variation is demonstrated.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159877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BE459D-7969-EFB5-A9D9-0864AF8344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078F0-B339-13FE-DC98-54F02D8FE0B8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02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A03EE-D35A-12B9-09BE-71E948B294B0}"/>
              </a:ext>
            </a:extLst>
          </p:cNvPr>
          <p:cNvSpPr txBox="1"/>
          <p:nvPr/>
        </p:nvSpPr>
        <p:spPr>
          <a:xfrm>
            <a:off x="1397000" y="2857500"/>
            <a:ext cx="9525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3600" b="1">
                <a:solidFill>
                  <a:srgbClr val="FFFFFF"/>
                </a:solidFill>
                <a:latin typeface="Proxima Nova Rg"/>
              </a:rPr>
              <a:t>What the current design does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202106-AF90-2206-7A67-09ABB0AE634A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FFF"/>
                </a:solidFill>
                <a:latin typeface="GT Sectra Fine"/>
              </a:rPr>
              <a:t>Linked data, realised-receipt matching, selected weekly risk sets and a two-group DiD.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3249410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392F6-4B2E-FF38-AB46-174F916098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ACDA4B-6A48-B3C0-49AD-0BD2037E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282A0E-10C9-61E4-9130-CFCFD2950BE3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F8847-7282-C909-1178-34FEFAE16F5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ED6E83-8A71-8C3F-8A14-E38C9A816990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492EE-FF9B-8198-3FB9-3D4BD255287D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Current design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2D873-C4C0-1B0D-F349-ED9FA7ED2197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182EC-8F70-87CD-EA12-A406D83FEF1A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B7E95C-5A6D-549C-19CF-7D27EBB43E78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AD2EA-571C-A332-AF9E-DF7B5D7BD086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214E8-14B1-D489-4DEB-70802D94D4F6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352FB9-F800-5C90-1C91-CEA82AEF08B3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D0FEF8-A0F6-FBD5-F186-62DF0040161B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Administrative data are a major comparative advantage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9B05E-AE65-F1F2-1C12-AF4500C6D8B8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28BBAB-50CA-865E-5CAA-100563B21638}"/>
              </a:ext>
            </a:extLst>
          </p:cNvPr>
          <p:cNvSpPr/>
          <p:nvPr/>
        </p:nvSpPr>
        <p:spPr>
          <a:xfrm>
            <a:off x="609600" y="1473200"/>
            <a:ext cx="2718033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A5F2C6-2F9F-0A37-0FC2-868F99400376}"/>
              </a:ext>
            </a:extLst>
          </p:cNvPr>
          <p:cNvSpPr txBox="1"/>
          <p:nvPr/>
        </p:nvSpPr>
        <p:spPr>
          <a:xfrm>
            <a:off x="673100" y="1549400"/>
            <a:ext cx="2591033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Source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028897-46AA-655E-52B0-9D39268D73BE}"/>
              </a:ext>
            </a:extLst>
          </p:cNvPr>
          <p:cNvSpPr/>
          <p:nvPr/>
        </p:nvSpPr>
        <p:spPr>
          <a:xfrm>
            <a:off x="3327633" y="1473200"/>
            <a:ext cx="3724712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E5169E-3AB0-3691-9DF5-8A907F925492}"/>
              </a:ext>
            </a:extLst>
          </p:cNvPr>
          <p:cNvSpPr txBox="1"/>
          <p:nvPr/>
        </p:nvSpPr>
        <p:spPr>
          <a:xfrm>
            <a:off x="3391133" y="1549400"/>
            <a:ext cx="3597712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Role in design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7F3C4F-E573-65A5-1F6B-BEE91AE61595}"/>
              </a:ext>
            </a:extLst>
          </p:cNvPr>
          <p:cNvSpPr/>
          <p:nvPr/>
        </p:nvSpPr>
        <p:spPr>
          <a:xfrm>
            <a:off x="7052345" y="1473200"/>
            <a:ext cx="4530055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C06CB1-106A-6ACD-95E0-E4955358698B}"/>
              </a:ext>
            </a:extLst>
          </p:cNvPr>
          <p:cNvSpPr txBox="1"/>
          <p:nvPr/>
        </p:nvSpPr>
        <p:spPr>
          <a:xfrm>
            <a:off x="7115845" y="1549400"/>
            <a:ext cx="4403055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Key validation question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C6AC-1016-E9BE-EA65-D44845BE3685}"/>
              </a:ext>
            </a:extLst>
          </p:cNvPr>
          <p:cNvSpPr/>
          <p:nvPr/>
        </p:nvSpPr>
        <p:spPr>
          <a:xfrm>
            <a:off x="609600" y="2171700"/>
            <a:ext cx="2718033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513825-B6C4-0C7D-D016-7322E9138140}"/>
              </a:ext>
            </a:extLst>
          </p:cNvPr>
          <p:cNvSpPr txBox="1"/>
          <p:nvPr/>
        </p:nvSpPr>
        <p:spPr>
          <a:xfrm>
            <a:off x="673100" y="2235200"/>
            <a:ext cx="259103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Single Touch Payroll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91A912-5E2B-FAE0-160C-ECE03AEC8650}"/>
              </a:ext>
            </a:extLst>
          </p:cNvPr>
          <p:cNvSpPr/>
          <p:nvPr/>
        </p:nvSpPr>
        <p:spPr>
          <a:xfrm>
            <a:off x="3327633" y="2171700"/>
            <a:ext cx="3724712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82D4D1-8BAF-039A-6D96-B8B6125AA49E}"/>
              </a:ext>
            </a:extLst>
          </p:cNvPr>
          <p:cNvSpPr txBox="1"/>
          <p:nvPr/>
        </p:nvSpPr>
        <p:spPr>
          <a:xfrm>
            <a:off x="3391133" y="2235200"/>
            <a:ext cx="35977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Weekly pay/employment histories and transitions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CA478F-24F6-992A-4BBF-2EC71BBA9703}"/>
              </a:ext>
            </a:extLst>
          </p:cNvPr>
          <p:cNvSpPr/>
          <p:nvPr/>
        </p:nvSpPr>
        <p:spPr>
          <a:xfrm>
            <a:off x="7052345" y="2171700"/>
            <a:ext cx="453005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0DE7D8-0434-1BAC-4667-586FC4252F70}"/>
              </a:ext>
            </a:extLst>
          </p:cNvPr>
          <p:cNvSpPr txBox="1"/>
          <p:nvPr/>
        </p:nvSpPr>
        <p:spPr>
          <a:xfrm>
            <a:off x="7115845" y="2235200"/>
            <a:ext cx="4403055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Does no pay mean no employment? How are late/irregular reports handled?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AFA95-A9F5-E5AC-7F11-406C6C20E9A8}"/>
              </a:ext>
            </a:extLst>
          </p:cNvPr>
          <p:cNvSpPr/>
          <p:nvPr/>
        </p:nvSpPr>
        <p:spPr>
          <a:xfrm>
            <a:off x="609600" y="2870200"/>
            <a:ext cx="2718033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600B8D-641E-7309-4DD7-C87EBADD2E73}"/>
              </a:ext>
            </a:extLst>
          </p:cNvPr>
          <p:cNvSpPr txBox="1"/>
          <p:nvPr/>
        </p:nvSpPr>
        <p:spPr>
          <a:xfrm>
            <a:off x="673100" y="2933700"/>
            <a:ext cx="259103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Visa / Home Affairs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1603CA-9118-5732-63C5-10B16A07AB48}"/>
              </a:ext>
            </a:extLst>
          </p:cNvPr>
          <p:cNvSpPr/>
          <p:nvPr/>
        </p:nvSpPr>
        <p:spPr>
          <a:xfrm>
            <a:off x="3327633" y="2870200"/>
            <a:ext cx="3724712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7B11CC-51E3-00F3-0721-A2FBF947E50A}"/>
              </a:ext>
            </a:extLst>
          </p:cNvPr>
          <p:cNvSpPr txBox="1"/>
          <p:nvPr/>
        </p:nvSpPr>
        <p:spPr>
          <a:xfrm>
            <a:off x="3391133" y="2933700"/>
            <a:ext cx="35977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Identify New Zealand citizens and residency tenure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825B58-3C10-32B3-BCA2-4AF2AB2CF037}"/>
              </a:ext>
            </a:extLst>
          </p:cNvPr>
          <p:cNvSpPr/>
          <p:nvPr/>
        </p:nvSpPr>
        <p:spPr>
          <a:xfrm>
            <a:off x="7052345" y="2870200"/>
            <a:ext cx="4530055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49D457-BCA0-A7F9-8C16-F43AC79BBA4A}"/>
              </a:ext>
            </a:extLst>
          </p:cNvPr>
          <p:cNvSpPr txBox="1"/>
          <p:nvPr/>
        </p:nvSpPr>
        <p:spPr>
          <a:xfrm>
            <a:off x="7115845" y="2933700"/>
            <a:ext cx="440305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Who is legally ineligible and continuously resident?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945EFF-9ADB-B7E5-5E87-756C5C28EB16}"/>
              </a:ext>
            </a:extLst>
          </p:cNvPr>
          <p:cNvSpPr/>
          <p:nvPr/>
        </p:nvSpPr>
        <p:spPr>
          <a:xfrm>
            <a:off x="609600" y="3568700"/>
            <a:ext cx="2718033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A625B0-F87D-DD9F-52B9-9DAA84181385}"/>
              </a:ext>
            </a:extLst>
          </p:cNvPr>
          <p:cNvSpPr txBox="1"/>
          <p:nvPr/>
        </p:nvSpPr>
        <p:spPr>
          <a:xfrm>
            <a:off x="673100" y="3632200"/>
            <a:ext cx="259103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DSS / DOMINO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F00C6E-DD7F-5ABF-175D-47FBC050ADB6}"/>
              </a:ext>
            </a:extLst>
          </p:cNvPr>
          <p:cNvSpPr/>
          <p:nvPr/>
        </p:nvSpPr>
        <p:spPr>
          <a:xfrm>
            <a:off x="3327633" y="3568700"/>
            <a:ext cx="3724712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FC7BEB-E68A-831F-2839-5A9FBF779CF1}"/>
              </a:ext>
            </a:extLst>
          </p:cNvPr>
          <p:cNvSpPr txBox="1"/>
          <p:nvPr/>
        </p:nvSpPr>
        <p:spPr>
          <a:xfrm>
            <a:off x="3391133" y="3632200"/>
            <a:ext cx="35977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Identify JobSeeker receipt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89B479C-F421-8AC7-0B5F-FA0A636E398D}"/>
              </a:ext>
            </a:extLst>
          </p:cNvPr>
          <p:cNvSpPr/>
          <p:nvPr/>
        </p:nvSpPr>
        <p:spPr>
          <a:xfrm>
            <a:off x="7052345" y="3568700"/>
            <a:ext cx="453005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BE68CB-A97A-837E-8F44-3F1A9C7EDEF0}"/>
              </a:ext>
            </a:extLst>
          </p:cNvPr>
          <p:cNvSpPr txBox="1"/>
          <p:nvPr/>
        </p:nvSpPr>
        <p:spPr>
          <a:xfrm>
            <a:off x="7115845" y="3632200"/>
            <a:ext cx="4403055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Receipt is post-treatment; can pre-policy statutory eligibility be reconstructed?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D284F1-E9BB-DC17-BB90-A15C57B2C52F}"/>
              </a:ext>
            </a:extLst>
          </p:cNvPr>
          <p:cNvSpPr/>
          <p:nvPr/>
        </p:nvSpPr>
        <p:spPr>
          <a:xfrm>
            <a:off x="609600" y="4267200"/>
            <a:ext cx="2718033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B64468-B9F3-E8F1-9087-96948D0E4E03}"/>
              </a:ext>
            </a:extLst>
          </p:cNvPr>
          <p:cNvSpPr txBox="1"/>
          <p:nvPr/>
        </p:nvSpPr>
        <p:spPr>
          <a:xfrm>
            <a:off x="673100" y="4330700"/>
            <a:ext cx="259103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Personal income tax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3A3D18-8470-1179-648C-E13EFB5F3538}"/>
              </a:ext>
            </a:extLst>
          </p:cNvPr>
          <p:cNvSpPr/>
          <p:nvPr/>
        </p:nvSpPr>
        <p:spPr>
          <a:xfrm>
            <a:off x="3327633" y="4267200"/>
            <a:ext cx="3724712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4EEE08-84C7-787B-6EDF-7848FF9196BF}"/>
              </a:ext>
            </a:extLst>
          </p:cNvPr>
          <p:cNvSpPr txBox="1"/>
          <p:nvPr/>
        </p:nvSpPr>
        <p:spPr>
          <a:xfrm>
            <a:off x="3391133" y="4330700"/>
            <a:ext cx="3597712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Income, occupation, partnership and annual outcomes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E736E9-F04A-6A78-0569-AEF7FD90E00C}"/>
              </a:ext>
            </a:extLst>
          </p:cNvPr>
          <p:cNvSpPr/>
          <p:nvPr/>
        </p:nvSpPr>
        <p:spPr>
          <a:xfrm>
            <a:off x="7052345" y="4267200"/>
            <a:ext cx="4530055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0F4A2C-E210-7C1A-754D-F9F83B00DEBD}"/>
              </a:ext>
            </a:extLst>
          </p:cNvPr>
          <p:cNvSpPr txBox="1"/>
          <p:nvPr/>
        </p:nvSpPr>
        <p:spPr>
          <a:xfrm>
            <a:off x="7115845" y="4330700"/>
            <a:ext cx="4403055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Can pre-period wages and actual replacement rates be built?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042302-60C3-16B5-2A03-65F61367E018}"/>
              </a:ext>
            </a:extLst>
          </p:cNvPr>
          <p:cNvSpPr/>
          <p:nvPr/>
        </p:nvSpPr>
        <p:spPr>
          <a:xfrm>
            <a:off x="609600" y="4965700"/>
            <a:ext cx="2718033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BBB947-D03F-1656-77CC-BBCC5021F81F}"/>
              </a:ext>
            </a:extLst>
          </p:cNvPr>
          <p:cNvSpPr txBox="1"/>
          <p:nvPr/>
        </p:nvSpPr>
        <p:spPr>
          <a:xfrm>
            <a:off x="673100" y="5029200"/>
            <a:ext cx="259103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BLADE / business tax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0B3EFE-36C1-9FD8-FECC-90FA577D0EB4}"/>
              </a:ext>
            </a:extLst>
          </p:cNvPr>
          <p:cNvSpPr/>
          <p:nvPr/>
        </p:nvSpPr>
        <p:spPr>
          <a:xfrm>
            <a:off x="3327633" y="4965700"/>
            <a:ext cx="3724712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D33C6E-7622-190E-B95F-F524840EF10D}"/>
              </a:ext>
            </a:extLst>
          </p:cNvPr>
          <p:cNvSpPr txBox="1"/>
          <p:nvPr/>
        </p:nvSpPr>
        <p:spPr>
          <a:xfrm>
            <a:off x="3391133" y="5029200"/>
            <a:ext cx="35977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Industry and employer characteristics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77DA61C-EA0E-3EAC-C731-C39E834D723D}"/>
              </a:ext>
            </a:extLst>
          </p:cNvPr>
          <p:cNvSpPr/>
          <p:nvPr/>
        </p:nvSpPr>
        <p:spPr>
          <a:xfrm>
            <a:off x="7052345" y="4965700"/>
            <a:ext cx="453005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DD3548-C0CB-F0A1-7B0A-68027411DEA9}"/>
              </a:ext>
            </a:extLst>
          </p:cNvPr>
          <p:cNvSpPr txBox="1"/>
          <p:nvPr/>
        </p:nvSpPr>
        <p:spPr>
          <a:xfrm>
            <a:off x="7115845" y="5029200"/>
            <a:ext cx="4403055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Can JobKeeper eligibility/receipt and firm exit be linked?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5939904-250F-CE91-8252-F7FBB0A30357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9AD407-893F-6563-69E2-7B347688B727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The data can support a much stronger design if the raw-to-person-week construction layer is rebuilt and documented.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770208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4500A5-D8B2-B04C-0643-0B7BAFC3F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D6A604-C6B5-C0D5-6DBF-56D06632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DED166-73EA-D83D-227A-FFF10F872E51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4617E-3F0B-3D59-EB1F-09E2F24F8B9D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A43C68-AAAA-43EB-925D-9955438EA40A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21D48-477A-5309-A560-E163AFE0F470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Current design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FC57F-B449-0C2D-E0AE-327D2934E88A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BEF61-E728-8D34-340F-8EC44A4C9908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75BC5-4738-89A0-FEB9-09BD6F8809EC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6087E5-5BCD-91E0-2424-0B56830394ED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27537B-36C9-D62B-BF03-5B9DB7DF6710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241FB-D43F-F9EA-6551-B0FA9917B7B8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485486-EB29-921D-CF85-F192D359CFF9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2300" b="1">
                <a:solidFill>
                  <a:srgbClr val="000000"/>
                </a:solidFill>
                <a:latin typeface="Proxima Nova Rg"/>
              </a:rPr>
              <a:t>Current sample construction uses future outcomes twice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A9F8A2-FB1C-7E63-8A97-6F97B3740254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7C913F-A15D-02D5-2B1E-0C8AAED6C877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7D2341-69EE-CD1B-5ACE-66537CD7BD07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Current treatment/sample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D2D76-B2B9-7A79-C2A8-67F6E72363CE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98894-C4D1-E656-327E-FCB70155E003}"/>
              </a:ext>
            </a:extLst>
          </p:cNvPr>
          <p:cNvSpPr txBox="1"/>
          <p:nvPr/>
        </p:nvSpPr>
        <p:spPr>
          <a:xfrm>
            <a:off x="774700" y="2108200"/>
            <a:ext cx="5003800" cy="12695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Australian treatment: received JobSeeker at any time in 2020.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Both groups: at least four consecutive weeks out of work in 2020.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Matched sample ≈22,873 AU + 22,859 NZ.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1BB2A7-9B96-8DD1-E289-9850914A4896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1AD643-2B1E-691F-641B-D3ABBCAE5635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Current exit risk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BE2266-0BD6-E98B-C997-2A8252D87388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C60A12-55E8-747C-FA2F-6ABDDA9B4300}"/>
              </a:ext>
            </a:extLst>
          </p:cNvPr>
          <p:cNvSpPr txBox="1"/>
          <p:nvPr/>
        </p:nvSpPr>
        <p:spPr>
          <a:xfrm>
            <a:off x="6413500" y="2108200"/>
            <a:ext cx="5003800" cy="99514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Employment-exit analysis is drawn from people known to experience non-employment later in 2020.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 policy-induced exit can add someone to the sample; a prevented exit can remove them.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7781D8A-14D0-FACC-AD50-FB766E343EA0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A06B7A-3E57-D3BB-C183-109FBB6DF7AB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This changes both composition and the meaning of the denominators. It is not repaired by more controls or propensity-score matching.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505576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8F6637-2300-2CAB-03F9-2FEAEE6F8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5B7D63-EF17-C135-238A-405DA0BC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E0EBBD-4B2A-0C8F-181B-A1CB27040C85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AF4C1-9DB6-C24F-736A-5C2BA448EF09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7B0A4-9B4A-852A-79F9-CFE8BE20BD06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2DB55-625D-F676-155D-83DDD0E683FB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Current design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3B005-6C84-E91D-8CA5-D7EDD28AD5D9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5655B-F82C-F0E9-83E2-85B102DD817D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3339A1-D53A-2B91-24C3-CAC574E628DE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667F5-5108-A330-CC56-77EDCEDCF34C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9E72E-A3E1-A110-16EA-022EB44246EA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0A3FA-7576-3697-F127-BCBC4A9AFA63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0AB133-0469-7E2B-C529-A955C5BB5B4D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Current weekly patterns are striking—but inherit selected denominators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990301-C6B4-BF67-E3CB-9702806C2612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074F61D-8056-A94C-6E09-7393145156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397000"/>
            <a:ext cx="10795000" cy="4445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E90F4AB-8417-1647-4786-B4F0E618CA0B}"/>
              </a:ext>
            </a:extLst>
          </p:cNvPr>
          <p:cNvSpPr txBox="1"/>
          <p:nvPr/>
        </p:nvSpPr>
        <p:spPr>
          <a:xfrm>
            <a:off x="889000" y="6032500"/>
            <a:ext cx="10414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Use these as descriptive motivation while rebuilding the cohort and risk sets.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91626-ED20-0A15-234B-450C0B6BB193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750">
                <a:solidFill>
                  <a:srgbClr val="A6A6A6"/>
                </a:solidFill>
                <a:latin typeface="Proxima Nova Rg"/>
              </a:rPr>
              <a:t>Source: cleared JFR/SR group CSVs in initial_RDD.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07916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56C628-ED36-5E70-1095-28BDD5D4D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E2E05A-2FC7-8D41-6890-2CD4D4D7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4795F7-4CF0-5EBE-B244-BF49C1952616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988F-8211-42CB-8BA6-C82D9FCF2C58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CBC1E0-BA9C-FF44-CDD0-30770485B3AB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7A158-BB3D-AE6D-1183-5D27B59C1D7C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Current design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25982F-81F0-5194-4FFF-626B2A0ED614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44BC2-CAC9-9A5B-4B5C-5ED9245FC2B0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36231C-2125-64D9-303B-E3767D4886FE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A6D86-B297-FB32-707A-556F9FFA7990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79A8B4-A6D2-99CC-B0D1-D552C6DABB09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5332A-230D-0B67-8582-3F27F40B13C1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3BC13D-AC48-D086-8CA6-CBB0929A2FDB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2300" b="1">
                <a:solidFill>
                  <a:srgbClr val="000000"/>
                </a:solidFill>
                <a:latin typeface="Proxima Nova Rg"/>
              </a:rPr>
              <a:t>Current pre/post cells imply large differential changes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FFB16B-0694-976D-8446-FEE3BF8390D2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D44E47-766A-8166-B8F0-73D5EE9C56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371600"/>
            <a:ext cx="10541000" cy="4635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FE333B-BBB1-2B17-6F72-F37F3EB9B0C4}"/>
              </a:ext>
            </a:extLst>
          </p:cNvPr>
          <p:cNvSpPr txBox="1"/>
          <p:nvPr/>
        </p:nvSpPr>
        <p:spPr>
          <a:xfrm>
            <a:off x="889000" y="6032500"/>
            <a:ext cx="10414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Primary reporting should use percentage points, named baseline rates and uncertainty—not only «19%» or «64%».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39617E-9D57-DD2D-1A6D-0ACF88456F69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750">
                <a:solidFill>
                  <a:srgbClr val="A6A6A6"/>
                </a:solidFill>
                <a:latin typeface="Proxima Nova Rg"/>
              </a:rPr>
              <a:t>Source: manuscript Tables 3–4.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80083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19C70B-F6D7-43D0-E3B1-58E81DE08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B96B2B-22DE-F150-B09A-F989F202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8226EE-A6E8-49F7-D7DF-BEC677B8FD9E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3D389-1A81-09D9-A476-B1FC89946F4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2FAF4B-6D40-3DA8-6C0B-4D5FFBF0739D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CA986-86C7-1509-6795-5583B91B63E5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Current design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76C6E7-88D5-A4CF-9101-F48F4BA07A6E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EE6D6-2B6D-C43D-91FC-2A17BFA885AE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5D7BE-876A-D460-67E0-5E859618754C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6A668-80DA-9CE9-BD33-D3A870B6463A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0001A6-93C5-BF4B-7754-79B3DA2CAE5F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26AC31-158A-5882-5C74-0F3641ACC49E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718D68-DF8C-EA3A-0021-A34F41B2D12C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The baseline two-group DiD is transparent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D60F7D-CB8F-20D4-C287-BB4201AB703B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4D3932-2489-3068-85AF-7F1405BFF7BB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C287D6-DCA1-7C76-B642-69529FE5E366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Equation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18DEB0-D7D9-89BD-4802-237F8BB18F5A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A9A320-B694-66E8-3652-8EDF93984B23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Ygt =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α + β₁ 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Australian_g +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β₂ 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Post_t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      +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β₃(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Australian_g × Post_t) +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ε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gt</a:t>
            </a:r>
          </a:p>
          <a:p>
            <a:pPr>
              <a:spcAft>
                <a:spcPts val="400"/>
              </a:spcAft>
            </a:pPr>
            <a:endParaRPr lang="en-NZ" sz="1450">
              <a:solidFill>
                <a:srgbClr val="4A4E50"/>
              </a:solidFill>
              <a:latin typeface="Proxima Nova Rg"/>
            </a:endParaRPr>
          </a:p>
          <a:p>
            <a:pPr>
              <a:spcAft>
                <a:spcPts val="400"/>
              </a:spcAft>
            </a:pPr>
            <a:r>
              <a:rPr lang="el-GR" sz="1450">
                <a:solidFill>
                  <a:srgbClr val="4A4E50"/>
                </a:solidFill>
                <a:latin typeface="Proxima Nova Rg"/>
              </a:rPr>
              <a:t>β₃ = [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AU post−pre] − [NZ post−pre].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C1582C-C453-DEFE-63A2-4A51DE4824A2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A5427A-514D-C758-3509-7F8C9DE11612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Causal requirement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1A3BDD-E631-0D34-9ACD-644B6E63B1E5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E18EBD-01B9-468E-1B79-9F796A84182B}"/>
              </a:ext>
            </a:extLst>
          </p:cNvPr>
          <p:cNvSpPr txBox="1"/>
          <p:nvPr/>
        </p:nvSpPr>
        <p:spPr>
          <a:xfrm>
            <a:off x="6413500" y="2108200"/>
            <a:ext cx="5003800" cy="121828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Absent the policy exposure, the adjusted Australian weekly transition path would have changed like the comparable NZ path.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 other nationality-differential shock occurs at the same time.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7EA1739-A433-366C-F529-5C4BB3CA7B2F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AF2F48-14FE-4C4C-1615-CEAA4C3D2B24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The equation is simple; the hard work is cohort definition, policy isolation and uncertainty for one treated contrast.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4224650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2CB6FA-9026-495A-ED50-6AE19C2E7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1F311E-B40A-5D56-B392-ACD161A1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D918E2-2499-A5B7-7F79-DF640F5F1577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E8B87-4A48-44D4-5575-FEF6B188A9DC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C6873-A303-07D7-5372-457297A03AE1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D080D-9439-2AF5-23E1-9A465D58830E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Current design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F43BD-42C3-6A63-ADD8-38733129D57D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0B297-7C84-C74E-9CF0-A02453FAB31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C9FDD7-EF19-E7D6-E856-A56AAB588E9D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CFF80F-71C7-575A-529C-850D11064E8A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CFC698-6DE2-A2FF-8E31-C8F1E2A6DB96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8D0D45-C6F3-A174-CBD8-5DCFD44BE589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EC5BE-66B7-863E-2142-9725F646170E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Current headline estimates—and why precision is provisional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E7F4C7-B766-83D6-5AFE-5C507B3F1131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E78F0D-C6BB-946A-3A8B-35AC5E01FF20}"/>
              </a:ext>
            </a:extLst>
          </p:cNvPr>
          <p:cNvSpPr/>
          <p:nvPr/>
        </p:nvSpPr>
        <p:spPr>
          <a:xfrm>
            <a:off x="609600" y="1473200"/>
            <a:ext cx="2344615" cy="723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F392D-76CE-2212-486B-4F3A84656CE1}"/>
              </a:ext>
            </a:extLst>
          </p:cNvPr>
          <p:cNvSpPr txBox="1"/>
          <p:nvPr/>
        </p:nvSpPr>
        <p:spPr>
          <a:xfrm>
            <a:off x="673100" y="1549400"/>
            <a:ext cx="2217615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Outcome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60EADB-5401-E8BD-B55D-88B8819C3CC5}"/>
              </a:ext>
            </a:extLst>
          </p:cNvPr>
          <p:cNvSpPr/>
          <p:nvPr/>
        </p:nvSpPr>
        <p:spPr>
          <a:xfrm>
            <a:off x="2954215" y="1473200"/>
            <a:ext cx="1594339" cy="723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EB5720-09A7-E358-1488-973AFF60710D}"/>
              </a:ext>
            </a:extLst>
          </p:cNvPr>
          <p:cNvSpPr txBox="1"/>
          <p:nvPr/>
        </p:nvSpPr>
        <p:spPr>
          <a:xfrm>
            <a:off x="3017715" y="1549400"/>
            <a:ext cx="1467338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Draft DiD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B19F30-9CAA-3D48-5327-542A23DE2574}"/>
              </a:ext>
            </a:extLst>
          </p:cNvPr>
          <p:cNvSpPr/>
          <p:nvPr/>
        </p:nvSpPr>
        <p:spPr>
          <a:xfrm>
            <a:off x="4548554" y="1473200"/>
            <a:ext cx="1875692" cy="723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54119-B2E7-DE5F-F311-ECB3AC4D25DD}"/>
              </a:ext>
            </a:extLst>
          </p:cNvPr>
          <p:cNvSpPr txBox="1"/>
          <p:nvPr/>
        </p:nvSpPr>
        <p:spPr>
          <a:xfrm>
            <a:off x="4612054" y="1549400"/>
            <a:ext cx="1748692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Baseline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23D7C3-AC89-9170-C08D-5E1B5B313842}"/>
              </a:ext>
            </a:extLst>
          </p:cNvPr>
          <p:cNvSpPr/>
          <p:nvPr/>
        </p:nvSpPr>
        <p:spPr>
          <a:xfrm>
            <a:off x="6424246" y="1473200"/>
            <a:ext cx="2250831" cy="723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2F0374-DD80-9908-0230-D3A18453A95E}"/>
              </a:ext>
            </a:extLst>
          </p:cNvPr>
          <p:cNvSpPr txBox="1"/>
          <p:nvPr/>
        </p:nvSpPr>
        <p:spPr>
          <a:xfrm>
            <a:off x="6487746" y="1549400"/>
            <a:ext cx="2123831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Draft uncertainty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94460D-6944-B240-6D4F-F89134A21BA2}"/>
              </a:ext>
            </a:extLst>
          </p:cNvPr>
          <p:cNvSpPr/>
          <p:nvPr/>
        </p:nvSpPr>
        <p:spPr>
          <a:xfrm>
            <a:off x="8675077" y="1473200"/>
            <a:ext cx="2907323" cy="723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1BAEFD-3CFA-6CFC-5F7F-DE565A9B1F24}"/>
              </a:ext>
            </a:extLst>
          </p:cNvPr>
          <p:cNvSpPr txBox="1"/>
          <p:nvPr/>
        </p:nvSpPr>
        <p:spPr>
          <a:xfrm>
            <a:off x="8738577" y="1549400"/>
            <a:ext cx="2780323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Immediate caution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AA65C5-2AF0-66D6-4821-DA3F25114B1D}"/>
              </a:ext>
            </a:extLst>
          </p:cNvPr>
          <p:cNvSpPr/>
          <p:nvPr/>
        </p:nvSpPr>
        <p:spPr>
          <a:xfrm>
            <a:off x="609600" y="2197100"/>
            <a:ext cx="2344615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AEFBF2-E32F-93E6-B91E-5C9DF361F5CD}"/>
              </a:ext>
            </a:extLst>
          </p:cNvPr>
          <p:cNvSpPr txBox="1"/>
          <p:nvPr/>
        </p:nvSpPr>
        <p:spPr>
          <a:xfrm>
            <a:off x="673100" y="2260600"/>
            <a:ext cx="221761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Job finding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A1E2AC-5E8D-2D20-65A9-079EDAEFB190}"/>
              </a:ext>
            </a:extLst>
          </p:cNvPr>
          <p:cNvSpPr/>
          <p:nvPr/>
        </p:nvSpPr>
        <p:spPr>
          <a:xfrm>
            <a:off x="2954215" y="2197100"/>
            <a:ext cx="1594339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77C573-EA1D-2658-F7E4-156DFFCF7CAD}"/>
              </a:ext>
            </a:extLst>
          </p:cNvPr>
          <p:cNvSpPr txBox="1"/>
          <p:nvPr/>
        </p:nvSpPr>
        <p:spPr>
          <a:xfrm>
            <a:off x="3017715" y="2260600"/>
            <a:ext cx="14673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−1.71 pp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8AA43C-00FA-6E4E-AE60-C85DEB9E9545}"/>
              </a:ext>
            </a:extLst>
          </p:cNvPr>
          <p:cNvSpPr/>
          <p:nvPr/>
        </p:nvSpPr>
        <p:spPr>
          <a:xfrm>
            <a:off x="4548554" y="2197100"/>
            <a:ext cx="1875692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5EBCBD-1988-D95D-89D7-499A3417046F}"/>
              </a:ext>
            </a:extLst>
          </p:cNvPr>
          <p:cNvSpPr txBox="1"/>
          <p:nvPr/>
        </p:nvSpPr>
        <p:spPr>
          <a:xfrm>
            <a:off x="4612054" y="2260600"/>
            <a:ext cx="174869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AU pre 8.68% weekly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383793-EC14-D582-12F2-7DC51674AAD9}"/>
              </a:ext>
            </a:extLst>
          </p:cNvPr>
          <p:cNvSpPr/>
          <p:nvPr/>
        </p:nvSpPr>
        <p:spPr>
          <a:xfrm>
            <a:off x="6424246" y="2197100"/>
            <a:ext cx="2250831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E14207-D6E4-DDDB-5BF0-5224F78626B2}"/>
              </a:ext>
            </a:extLst>
          </p:cNvPr>
          <p:cNvSpPr txBox="1"/>
          <p:nvPr/>
        </p:nvSpPr>
        <p:spPr>
          <a:xfrm>
            <a:off x="6487746" y="2260600"/>
            <a:ext cx="21238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SE 0.82 pp; p=0.043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65BF89-FE32-43D9-447C-DC43FCE2CE3D}"/>
              </a:ext>
            </a:extLst>
          </p:cNvPr>
          <p:cNvSpPr/>
          <p:nvPr/>
        </p:nvSpPr>
        <p:spPr>
          <a:xfrm>
            <a:off x="8675077" y="2197100"/>
            <a:ext cx="2907323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32DB25-3D27-1DF3-B6E8-9BB1C8535C28}"/>
              </a:ext>
            </a:extLst>
          </p:cNvPr>
          <p:cNvSpPr txBox="1"/>
          <p:nvPr/>
        </p:nvSpPr>
        <p:spPr>
          <a:xfrm>
            <a:off x="8738577" y="2260600"/>
            <a:ext cx="278032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48 nationality-week cells; IID errors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7040DE-958F-4C8C-4F88-1346505D66DB}"/>
              </a:ext>
            </a:extLst>
          </p:cNvPr>
          <p:cNvSpPr/>
          <p:nvPr/>
        </p:nvSpPr>
        <p:spPr>
          <a:xfrm>
            <a:off x="609600" y="2921000"/>
            <a:ext cx="2344615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492EA3-5C8B-F501-FD9D-0FE9313A6594}"/>
              </a:ext>
            </a:extLst>
          </p:cNvPr>
          <p:cNvSpPr txBox="1"/>
          <p:nvPr/>
        </p:nvSpPr>
        <p:spPr>
          <a:xfrm>
            <a:off x="673100" y="2984500"/>
            <a:ext cx="221761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Payroll employment exits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A2ECD8-BC2D-5B74-B281-58C275C7A11F}"/>
              </a:ext>
            </a:extLst>
          </p:cNvPr>
          <p:cNvSpPr/>
          <p:nvPr/>
        </p:nvSpPr>
        <p:spPr>
          <a:xfrm>
            <a:off x="2954215" y="2921000"/>
            <a:ext cx="1594339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C3E033-BBD9-A10E-8A4B-A92C9A71D0D3}"/>
              </a:ext>
            </a:extLst>
          </p:cNvPr>
          <p:cNvSpPr txBox="1"/>
          <p:nvPr/>
        </p:nvSpPr>
        <p:spPr>
          <a:xfrm>
            <a:off x="3017715" y="2984500"/>
            <a:ext cx="14673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+3.72 pp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588C8C-F4FD-345F-2264-F20394AEB76D}"/>
              </a:ext>
            </a:extLst>
          </p:cNvPr>
          <p:cNvSpPr/>
          <p:nvPr/>
        </p:nvSpPr>
        <p:spPr>
          <a:xfrm>
            <a:off x="4548554" y="2921000"/>
            <a:ext cx="1875692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EEBD1A-A842-D154-536C-428F4D207E52}"/>
              </a:ext>
            </a:extLst>
          </p:cNvPr>
          <p:cNvSpPr txBox="1"/>
          <p:nvPr/>
        </p:nvSpPr>
        <p:spPr>
          <a:xfrm>
            <a:off x="4612054" y="2984500"/>
            <a:ext cx="174869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AU pre 4.84% weekly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E0FBBC-5201-790E-3428-29C25230573F}"/>
              </a:ext>
            </a:extLst>
          </p:cNvPr>
          <p:cNvSpPr/>
          <p:nvPr/>
        </p:nvSpPr>
        <p:spPr>
          <a:xfrm>
            <a:off x="6424246" y="2921000"/>
            <a:ext cx="2250831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1BCFD4-364C-0763-BBFF-7923FCE9276D}"/>
              </a:ext>
            </a:extLst>
          </p:cNvPr>
          <p:cNvSpPr txBox="1"/>
          <p:nvPr/>
        </p:nvSpPr>
        <p:spPr>
          <a:xfrm>
            <a:off x="6487746" y="2984500"/>
            <a:ext cx="21238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SE 1.40 pp; p=0.011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3ACC2E-46ED-D1C5-48A7-784FDA822C55}"/>
              </a:ext>
            </a:extLst>
          </p:cNvPr>
          <p:cNvSpPr/>
          <p:nvPr/>
        </p:nvSpPr>
        <p:spPr>
          <a:xfrm>
            <a:off x="8675077" y="2921000"/>
            <a:ext cx="2907323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F19EC3-B78C-7772-2560-37544D66A3B5}"/>
              </a:ext>
            </a:extLst>
          </p:cNvPr>
          <p:cNvSpPr txBox="1"/>
          <p:nvPr/>
        </p:nvSpPr>
        <p:spPr>
          <a:xfrm>
            <a:off x="8738577" y="2984500"/>
            <a:ext cx="278032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Selected exit sample; IID errors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EED60CB-87D3-59BC-A62B-D97429D23AF9}"/>
              </a:ext>
            </a:extLst>
          </p:cNvPr>
          <p:cNvSpPr/>
          <p:nvPr/>
        </p:nvSpPr>
        <p:spPr>
          <a:xfrm>
            <a:off x="609600" y="3644900"/>
            <a:ext cx="2344615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FDDA4A-8D02-6777-5088-FCF93FAEAE89}"/>
              </a:ext>
            </a:extLst>
          </p:cNvPr>
          <p:cNvSpPr txBox="1"/>
          <p:nvPr/>
        </p:nvSpPr>
        <p:spPr>
          <a:xfrm>
            <a:off x="673100" y="3708400"/>
            <a:ext cx="221761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Earnings / match quality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74C0413-43EF-C16E-7C05-3CC4EAD6B859}"/>
              </a:ext>
            </a:extLst>
          </p:cNvPr>
          <p:cNvSpPr/>
          <p:nvPr/>
        </p:nvSpPr>
        <p:spPr>
          <a:xfrm>
            <a:off x="2954215" y="3644900"/>
            <a:ext cx="1594339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23FCF2-CA70-17F6-6491-A9BFF498A948}"/>
              </a:ext>
            </a:extLst>
          </p:cNvPr>
          <p:cNvSpPr txBox="1"/>
          <p:nvPr/>
        </p:nvSpPr>
        <p:spPr>
          <a:xfrm>
            <a:off x="3017715" y="3708400"/>
            <a:ext cx="14673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Claimed no gain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342176-D44A-2D0D-AAC4-897330B98204}"/>
              </a:ext>
            </a:extLst>
          </p:cNvPr>
          <p:cNvSpPr/>
          <p:nvPr/>
        </p:nvSpPr>
        <p:spPr>
          <a:xfrm>
            <a:off x="4548554" y="3644900"/>
            <a:ext cx="1875692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06ACDD-53F4-74DB-E67F-71CC17F23064}"/>
              </a:ext>
            </a:extLst>
          </p:cNvPr>
          <p:cNvSpPr txBox="1"/>
          <p:nvPr/>
        </p:nvSpPr>
        <p:spPr>
          <a:xfrm>
            <a:off x="4612054" y="3708400"/>
            <a:ext cx="1748692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Annual descriptive indices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796A6A-7BB3-CA2B-4650-D4E0A9B146E9}"/>
              </a:ext>
            </a:extLst>
          </p:cNvPr>
          <p:cNvSpPr/>
          <p:nvPr/>
        </p:nvSpPr>
        <p:spPr>
          <a:xfrm>
            <a:off x="6424246" y="3644900"/>
            <a:ext cx="2250831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3B32FD-7AF2-3316-729E-2B1FF213FD5C}"/>
              </a:ext>
            </a:extLst>
          </p:cNvPr>
          <p:cNvSpPr txBox="1"/>
          <p:nvPr/>
        </p:nvSpPr>
        <p:spPr>
          <a:xfrm>
            <a:off x="6487746" y="3708400"/>
            <a:ext cx="2123831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No causal interval in reviewed script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209E1A-F625-EF15-46E8-A97E2EC58926}"/>
              </a:ext>
            </a:extLst>
          </p:cNvPr>
          <p:cNvSpPr/>
          <p:nvPr/>
        </p:nvSpPr>
        <p:spPr>
          <a:xfrm>
            <a:off x="8675077" y="3644900"/>
            <a:ext cx="2907323" cy="723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4A0ED1-9DEC-1EA7-6576-0F55B488ABAB}"/>
              </a:ext>
            </a:extLst>
          </p:cNvPr>
          <p:cNvSpPr txBox="1"/>
          <p:nvPr/>
        </p:nvSpPr>
        <p:spPr>
          <a:xfrm>
            <a:off x="8738577" y="3708400"/>
            <a:ext cx="2780323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Rebuild formal outcomes or remove claim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ACAE16-65E3-B74D-7AF4-D805046586EB}"/>
              </a:ext>
            </a:extLst>
          </p:cNvPr>
          <p:cNvSpPr/>
          <p:nvPr/>
        </p:nvSpPr>
        <p:spPr>
          <a:xfrm>
            <a:off x="609600" y="4368800"/>
            <a:ext cx="2344615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0847B7-4DF9-E6B6-35F1-5D86F353CA4F}"/>
              </a:ext>
            </a:extLst>
          </p:cNvPr>
          <p:cNvSpPr txBox="1"/>
          <p:nvPr/>
        </p:nvSpPr>
        <p:spPr>
          <a:xfrm>
            <a:off x="673100" y="4432300"/>
            <a:ext cx="221761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JobKeeper-adjusted exits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4AF7D64-F055-068B-C415-E84E45525F32}"/>
              </a:ext>
            </a:extLst>
          </p:cNvPr>
          <p:cNvSpPr/>
          <p:nvPr/>
        </p:nvSpPr>
        <p:spPr>
          <a:xfrm>
            <a:off x="2954215" y="4368800"/>
            <a:ext cx="1594339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32F646-1EF9-189D-E852-BC71C2D38338}"/>
              </a:ext>
            </a:extLst>
          </p:cNvPr>
          <p:cNvSpPr txBox="1"/>
          <p:nvPr/>
        </p:nvSpPr>
        <p:spPr>
          <a:xfrm>
            <a:off x="3017715" y="4432300"/>
            <a:ext cx="14673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+2.60 pp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3C503F9-2024-EF68-1C14-3498374C90A6}"/>
              </a:ext>
            </a:extLst>
          </p:cNvPr>
          <p:cNvSpPr/>
          <p:nvPr/>
        </p:nvSpPr>
        <p:spPr>
          <a:xfrm>
            <a:off x="4548554" y="4368800"/>
            <a:ext cx="1875692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576718-AEEB-A282-1834-E3CD7810B494}"/>
              </a:ext>
            </a:extLst>
          </p:cNvPr>
          <p:cNvSpPr txBox="1"/>
          <p:nvPr/>
        </p:nvSpPr>
        <p:spPr>
          <a:xfrm>
            <a:off x="4612054" y="4432300"/>
            <a:ext cx="174869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Same selected series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0AF585E-5375-1DB3-0A15-2B4CF763AF93}"/>
              </a:ext>
            </a:extLst>
          </p:cNvPr>
          <p:cNvSpPr/>
          <p:nvPr/>
        </p:nvSpPr>
        <p:spPr>
          <a:xfrm>
            <a:off x="6424246" y="4368800"/>
            <a:ext cx="2250831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C5EA8A-5792-F922-D909-F869BA67C977}"/>
              </a:ext>
            </a:extLst>
          </p:cNvPr>
          <p:cNvSpPr txBox="1"/>
          <p:nvPr/>
        </p:nvSpPr>
        <p:spPr>
          <a:xfrm>
            <a:off x="6487746" y="4432300"/>
            <a:ext cx="21238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Single month dummy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39AFB2-BC9A-7419-F6BD-5DDEE1BCDA0D}"/>
              </a:ext>
            </a:extLst>
          </p:cNvPr>
          <p:cNvSpPr/>
          <p:nvPr/>
        </p:nvSpPr>
        <p:spPr>
          <a:xfrm>
            <a:off x="8675077" y="4368800"/>
            <a:ext cx="2907323" cy="723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69DC6E-12A5-E065-29EA-BC64AFDDD666}"/>
              </a:ext>
            </a:extLst>
          </p:cNvPr>
          <p:cNvSpPr txBox="1"/>
          <p:nvPr/>
        </p:nvSpPr>
        <p:spPr>
          <a:xfrm>
            <a:off x="8738577" y="4432300"/>
            <a:ext cx="278032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Not a measure of actual exposure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999F304-BC13-BF08-8846-077254AACBFC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714BBD-2529-0D31-C6BC-04656CAA2164}"/>
              </a:ext>
            </a:extLst>
          </p:cNvPr>
          <p:cNvSpPr txBox="1"/>
          <p:nvPr/>
        </p:nvSpPr>
        <p:spPr>
          <a:xfrm>
            <a:off x="876300" y="5588000"/>
            <a:ext cx="10312400" cy="5283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Do not lock the abstractʼs 19% and 64% claims until the redesigned denominators and inference are final.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90744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9DE299-E028-C14D-8DDF-810F1283E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ADCB68-8849-02EE-31A3-1E92EF4E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2AECA5-AD1D-7C16-8F60-3D541C052DED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F89CC-DFD5-400F-1B5F-FA0A30CD8B91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57CDBA-979E-BFA0-630D-DF054CEA024A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460A9-91D0-6F93-C2F9-C0CC8133C575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Current design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73C8F1-9DDC-6F60-53F3-E180EF1B8D3E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4669A-5E0A-CC07-8040-3F50E412C30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C71E5E-616B-23FD-869B-83999DDF7DD9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BA8506-327D-CCB6-C9D0-2CC36B409D94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8EA6B5-D943-6F49-6B50-82C5731622E7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23BEA7-E834-8A86-1CA9-E8FB037ED276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DBDF0-9648-7C2B-C0D0-6BE2769177E3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Why the design is still worth rebuilding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CF75A3-91D0-4719-5774-7B3C5DC54FF0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E11BA-DAB1-23D8-BAD8-7C7DE8E9C895}"/>
              </a:ext>
            </a:extLst>
          </p:cNvPr>
          <p:cNvSpPr/>
          <p:nvPr/>
        </p:nvSpPr>
        <p:spPr>
          <a:xfrm>
            <a:off x="571500" y="1587500"/>
            <a:ext cx="33782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4A337E-6EBC-E137-360C-8971DB8C7425}"/>
              </a:ext>
            </a:extLst>
          </p:cNvPr>
          <p:cNvSpPr txBox="1"/>
          <p:nvPr/>
        </p:nvSpPr>
        <p:spPr>
          <a:xfrm>
            <a:off x="6985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Measurement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F1E973-7C8B-5C57-AD24-DDF2C49880E4}"/>
              </a:ext>
            </a:extLst>
          </p:cNvPr>
          <p:cNvSpPr/>
          <p:nvPr/>
        </p:nvSpPr>
        <p:spPr>
          <a:xfrm>
            <a:off x="5715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86BE3-9CAD-8FCD-C284-DD3F80917006}"/>
              </a:ext>
            </a:extLst>
          </p:cNvPr>
          <p:cNvSpPr txBox="1"/>
          <p:nvPr/>
        </p:nvSpPr>
        <p:spPr>
          <a:xfrm>
            <a:off x="7366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Weekly administrative transitions can measure flows and spell dynamics much more sharply than household surveys.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728E14-66F6-F9B9-5F0D-B5A5CBD9E9D0}"/>
              </a:ext>
            </a:extLst>
          </p:cNvPr>
          <p:cNvSpPr/>
          <p:nvPr/>
        </p:nvSpPr>
        <p:spPr>
          <a:xfrm>
            <a:off x="4432300" y="1587500"/>
            <a:ext cx="33782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BD62C9-6679-96F8-B81B-7C071F740E8E}"/>
              </a:ext>
            </a:extLst>
          </p:cNvPr>
          <p:cNvSpPr txBox="1"/>
          <p:nvPr/>
        </p:nvSpPr>
        <p:spPr>
          <a:xfrm>
            <a:off x="45593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Counterfactual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5EAFBB-DDE7-CDEE-3C63-A678413595FB}"/>
              </a:ext>
            </a:extLst>
          </p:cNvPr>
          <p:cNvSpPr/>
          <p:nvPr/>
        </p:nvSpPr>
        <p:spPr>
          <a:xfrm>
            <a:off x="4432300" y="2120900"/>
            <a:ext cx="3378200" cy="28956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40B592-DF46-2144-0670-14279A9E9697}"/>
              </a:ext>
            </a:extLst>
          </p:cNvPr>
          <p:cNvSpPr txBox="1"/>
          <p:nvPr/>
        </p:nvSpPr>
        <p:spPr>
          <a:xfrm>
            <a:off x="45974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NZ citizens share Australian local labour markets yet differ in benefit access—a rare comparison for an aggregate emergency reform.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51B3AB-957B-1A4D-32A4-131A6E79060D}"/>
              </a:ext>
            </a:extLst>
          </p:cNvPr>
          <p:cNvSpPr/>
          <p:nvPr/>
        </p:nvSpPr>
        <p:spPr>
          <a:xfrm>
            <a:off x="8293100" y="1587500"/>
            <a:ext cx="3378200" cy="533400"/>
          </a:xfrm>
          <a:prstGeom prst="rect">
            <a:avLst/>
          </a:prstGeom>
          <a:solidFill>
            <a:srgbClr val="4A4E50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43033B-A540-1A60-7A7C-4B6908E475B0}"/>
              </a:ext>
            </a:extLst>
          </p:cNvPr>
          <p:cNvSpPr txBox="1"/>
          <p:nvPr/>
        </p:nvSpPr>
        <p:spPr>
          <a:xfrm>
            <a:off x="84201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Policy relevance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E20CB-5DD6-BCD9-401E-C4EEE48B9A0B}"/>
              </a:ext>
            </a:extLst>
          </p:cNvPr>
          <p:cNvSpPr/>
          <p:nvPr/>
        </p:nvSpPr>
        <p:spPr>
          <a:xfrm>
            <a:off x="82931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8B48FC-A139-B74E-1634-2E19AB068860}"/>
              </a:ext>
            </a:extLst>
          </p:cNvPr>
          <p:cNvSpPr txBox="1"/>
          <p:nvPr/>
        </p:nvSpPr>
        <p:spPr>
          <a:xfrm>
            <a:off x="84582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The flat, large supplement generates meaningful variation in predicted replacement-rate changes and household exposure.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FE25606-C4D4-48C8-9EA1-BF21D0BCA049}"/>
              </a:ext>
            </a:extLst>
          </p:cNvPr>
          <p:cNvSpPr/>
          <p:nvPr/>
        </p:nvSpPr>
        <p:spPr>
          <a:xfrm>
            <a:off x="698500" y="5397500"/>
            <a:ext cx="10668000" cy="7874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05C55B-A46D-8A7A-2504-0C2B4749DC21}"/>
              </a:ext>
            </a:extLst>
          </p:cNvPr>
          <p:cNvSpPr txBox="1"/>
          <p:nvPr/>
        </p:nvSpPr>
        <p:spPr>
          <a:xfrm>
            <a:off x="876300" y="54991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If the revised results survive, the design can speak to state-contingent unemployment assistance beyond COVID-19.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941235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B169F1-B5DE-929A-E26B-686EBD431A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02B27-B7A6-9DD1-9498-6C3561F98CFD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03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FAC63-15CC-2C9D-7A23-B949ECEEA9BA}"/>
              </a:ext>
            </a:extLst>
          </p:cNvPr>
          <p:cNvSpPr txBox="1"/>
          <p:nvPr/>
        </p:nvSpPr>
        <p:spPr>
          <a:xfrm>
            <a:off x="1397000" y="2857500"/>
            <a:ext cx="9525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3600" b="1">
                <a:solidFill>
                  <a:srgbClr val="FFFFFF"/>
                </a:solidFill>
                <a:latin typeface="Proxima Nova Rg"/>
              </a:rPr>
              <a:t>Threats to identification and inference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B7F9B-393E-A301-ED12-AA22E8673079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FFF"/>
                </a:solidFill>
                <a:latin typeface="GT Sectra Fine"/>
              </a:rPr>
              <a:t>The central issues are selection, one-shock uncertainty and bundled interventions.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1788132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8B4A3-0A83-75F9-D549-72BE1ADAA8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14A11A-FA35-A91C-5B7F-0BC2C1A9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90E3F-90CE-09E2-F551-B33DB44038CC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FE88E-5E5C-0E20-A7F4-AF8F29302B65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9576F-E192-F1EA-73F5-8BFDAA2A5DB2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4A386-47A6-40C6-A05A-2A6F110D0D29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EA4A5D-F955-AD4F-5413-306F505C9FE8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05DB8-7A4B-A07E-9C1A-6BB006EE967E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Threats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6338CC-CC3A-DE1E-04DE-9DD9A26332A0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9B60D-8AF6-0E84-9EE4-D382DD232D2C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448C91-1519-100B-4A12-71F41DB777B6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380CC0-3889-3E11-2E05-434FD09D1D39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FD079-4B2D-A8F6-A058-60EC65E5C42C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Conditioning on future non-employment creates a collider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F5E603-4306-32D6-F931-03CC52044FC1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0C087E-4FC9-622A-8604-5747B772DD16}"/>
              </a:ext>
            </a:extLst>
          </p:cNvPr>
          <p:cNvSpPr/>
          <p:nvPr/>
        </p:nvSpPr>
        <p:spPr>
          <a:xfrm>
            <a:off x="762000" y="2032000"/>
            <a:ext cx="2603500" cy="1206500"/>
          </a:xfrm>
          <a:prstGeom prst="round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D57B1-D891-3E8C-30EC-185CEB9AF357}"/>
              </a:ext>
            </a:extLst>
          </p:cNvPr>
          <p:cNvSpPr txBox="1"/>
          <p:nvPr/>
        </p:nvSpPr>
        <p:spPr>
          <a:xfrm>
            <a:off x="889000" y="2146300"/>
            <a:ext cx="2349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Policy exposure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964308-E826-2937-D613-7BBA71E9B2F2}"/>
              </a:ext>
            </a:extLst>
          </p:cNvPr>
          <p:cNvSpPr txBox="1"/>
          <p:nvPr/>
        </p:nvSpPr>
        <p:spPr>
          <a:xfrm>
            <a:off x="889000" y="2489200"/>
            <a:ext cx="2349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150">
                <a:solidFill>
                  <a:srgbClr val="FFFFFF"/>
                </a:solidFill>
                <a:latin typeface="Proxima Nova Rg"/>
              </a:rPr>
              <a:t>Australian eligibility / benefit receipt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EACBD6-8579-B745-8386-C8E1DA4FEE6C}"/>
              </a:ext>
            </a:extLst>
          </p:cNvPr>
          <p:cNvSpPr/>
          <p:nvPr/>
        </p:nvSpPr>
        <p:spPr>
          <a:xfrm>
            <a:off x="4800600" y="2032000"/>
            <a:ext cx="2603500" cy="1206500"/>
          </a:xfrm>
          <a:prstGeom prst="round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51F543-1B56-23B5-9E3A-A2761BEF2762}"/>
              </a:ext>
            </a:extLst>
          </p:cNvPr>
          <p:cNvSpPr txBox="1"/>
          <p:nvPr/>
        </p:nvSpPr>
        <p:spPr>
          <a:xfrm>
            <a:off x="4927600" y="2146300"/>
            <a:ext cx="2349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AC2E2F"/>
                </a:solidFill>
                <a:latin typeface="Proxima Nova Rg"/>
              </a:rPr>
              <a:t>Included in sample</a:t>
            </a:r>
            <a:endParaRPr lang="en-NZ" sz="1400" b="1" dirty="0">
              <a:solidFill>
                <a:srgbClr val="AC2E2F"/>
              </a:solidFill>
              <a:latin typeface="Proxima Nova Rg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34078D-6EBB-6C3D-2711-6ED59B873D18}"/>
              </a:ext>
            </a:extLst>
          </p:cNvPr>
          <p:cNvSpPr txBox="1"/>
          <p:nvPr/>
        </p:nvSpPr>
        <p:spPr>
          <a:xfrm>
            <a:off x="4927600" y="2489200"/>
            <a:ext cx="2349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AC2E2F"/>
                </a:solidFill>
                <a:latin typeface="Proxima Nova Rg"/>
              </a:rPr>
              <a:t>≥4 weeks non-employed later in 2020</a:t>
            </a:r>
            <a:endParaRPr lang="en-NZ" sz="1150" dirty="0">
              <a:solidFill>
                <a:srgbClr val="AC2E2F"/>
              </a:solidFill>
              <a:latin typeface="Proxima Nova Rg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1822393-FE7E-7533-6CFB-BECAE78E626F}"/>
              </a:ext>
            </a:extLst>
          </p:cNvPr>
          <p:cNvSpPr/>
          <p:nvPr/>
        </p:nvSpPr>
        <p:spPr>
          <a:xfrm>
            <a:off x="8826500" y="2032000"/>
            <a:ext cx="2603500" cy="1206500"/>
          </a:xfrm>
          <a:prstGeom prst="round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70AF23-465D-9335-3839-E858A0BB89B1}"/>
              </a:ext>
            </a:extLst>
          </p:cNvPr>
          <p:cNvSpPr txBox="1"/>
          <p:nvPr/>
        </p:nvSpPr>
        <p:spPr>
          <a:xfrm>
            <a:off x="8953500" y="2146300"/>
            <a:ext cx="2349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4A4E50"/>
                </a:solidFill>
                <a:latin typeface="Proxima Nova Rg"/>
              </a:rPr>
              <a:t>Latent fragility</a:t>
            </a:r>
            <a:endParaRPr lang="en-NZ" sz="14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9CCEFB-8C8A-2A41-B975-3EABE4952133}"/>
              </a:ext>
            </a:extLst>
          </p:cNvPr>
          <p:cNvSpPr txBox="1"/>
          <p:nvPr/>
        </p:nvSpPr>
        <p:spPr>
          <a:xfrm>
            <a:off x="8953500" y="2489200"/>
            <a:ext cx="2349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4A4E50"/>
                </a:solidFill>
                <a:latin typeface="Proxima Nova Rg"/>
              </a:rPr>
              <a:t>Unobserved attachment, health, employer risk</a:t>
            </a:r>
            <a:endParaRPr lang="en-NZ" sz="1150" dirty="0">
              <a:solidFill>
                <a:srgbClr val="4A4E50"/>
              </a:solidFill>
              <a:latin typeface="Proxima Nova Rg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09389C-4CC3-49DB-4C3B-8A9C8109D111}"/>
              </a:ext>
            </a:extLst>
          </p:cNvPr>
          <p:cNvCxnSpPr/>
          <p:nvPr/>
        </p:nvCxnSpPr>
        <p:spPr>
          <a:xfrm>
            <a:off x="3365500" y="2641600"/>
            <a:ext cx="1308100" cy="0"/>
          </a:xfrm>
          <a:prstGeom prst="line">
            <a:avLst/>
          </a:prstGeom>
          <a:ln w="25400">
            <a:solidFill>
              <a:srgbClr val="AC2E2F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2EE152-E12E-8A6F-7BC3-08DBCC738968}"/>
              </a:ext>
            </a:extLst>
          </p:cNvPr>
          <p:cNvCxnSpPr/>
          <p:nvPr/>
        </p:nvCxnSpPr>
        <p:spPr>
          <a:xfrm flipH="1">
            <a:off x="7531100" y="2641600"/>
            <a:ext cx="1295400" cy="0"/>
          </a:xfrm>
          <a:prstGeom prst="line">
            <a:avLst/>
          </a:prstGeom>
          <a:ln w="25400">
            <a:solidFill>
              <a:srgbClr val="AC2E2F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18B7714-F661-9C8A-0459-12E8735F7F6F}"/>
              </a:ext>
            </a:extLst>
          </p:cNvPr>
          <p:cNvSpPr/>
          <p:nvPr/>
        </p:nvSpPr>
        <p:spPr>
          <a:xfrm>
            <a:off x="4800600" y="4064000"/>
            <a:ext cx="2603500" cy="1143000"/>
          </a:xfrm>
          <a:prstGeom prst="round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D7AF15-9E86-3433-2A43-D59AC64E9B18}"/>
              </a:ext>
            </a:extLst>
          </p:cNvPr>
          <p:cNvSpPr txBox="1"/>
          <p:nvPr/>
        </p:nvSpPr>
        <p:spPr>
          <a:xfrm>
            <a:off x="4927600" y="4178300"/>
            <a:ext cx="2349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Measured transition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BCC497-C8F8-A3E6-5D14-B870537A37D2}"/>
              </a:ext>
            </a:extLst>
          </p:cNvPr>
          <p:cNvSpPr txBox="1"/>
          <p:nvPr/>
        </p:nvSpPr>
        <p:spPr>
          <a:xfrm>
            <a:off x="4927600" y="4521200"/>
            <a:ext cx="23495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Job finding or employment exit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AC065CF-7868-47B6-F8F2-44F97B602CB4}"/>
              </a:ext>
            </a:extLst>
          </p:cNvPr>
          <p:cNvCxnSpPr/>
          <p:nvPr/>
        </p:nvCxnSpPr>
        <p:spPr>
          <a:xfrm>
            <a:off x="6096000" y="3238500"/>
            <a:ext cx="0" cy="723900"/>
          </a:xfrm>
          <a:prstGeom prst="line">
            <a:avLst/>
          </a:prstGeom>
          <a:ln w="25400">
            <a:solidFill>
              <a:srgbClr val="AC2E2F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2A944B-B53A-22D5-A531-007053628A2C}"/>
              </a:ext>
            </a:extLst>
          </p:cNvPr>
          <p:cNvCxnSpPr/>
          <p:nvPr/>
        </p:nvCxnSpPr>
        <p:spPr>
          <a:xfrm flipH="1">
            <a:off x="7493000" y="3238500"/>
            <a:ext cx="2628900" cy="101600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130BAD6-E2EB-FC2E-ECA5-E86EFBDDFD01}"/>
              </a:ext>
            </a:extLst>
          </p:cNvPr>
          <p:cNvSpPr/>
          <p:nvPr/>
        </p:nvSpPr>
        <p:spPr>
          <a:xfrm>
            <a:off x="1041400" y="5461000"/>
            <a:ext cx="10109200" cy="762000"/>
          </a:xfrm>
          <a:prstGeom prst="round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055B9A-A94C-F916-6083-F99E7F21E1FE}"/>
              </a:ext>
            </a:extLst>
          </p:cNvPr>
          <p:cNvSpPr txBox="1"/>
          <p:nvPr/>
        </p:nvSpPr>
        <p:spPr>
          <a:xfrm>
            <a:off x="1219200" y="5562600"/>
            <a:ext cx="9753600" cy="4360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50" b="1">
                <a:solidFill>
                  <a:srgbClr val="AC2E2F"/>
                </a:solidFill>
                <a:latin typeface="Proxima Nova Rg"/>
              </a:rPr>
              <a:t>Selecting on the middle box opens a non-causal path between policy exposure and latent fragility. The exit sample is especially mechanical because inclusion requires a later exit.</a:t>
            </a:r>
            <a:endParaRPr lang="en-NZ" sz="1250" b="1" dirty="0">
              <a:solidFill>
                <a:srgbClr val="AC2E2F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5265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0B1143-9BA7-174B-AA9A-468FE708E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EC53E4-19F9-AAA5-0F98-9C3A74F7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206735-E951-B289-19F9-42851090E176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84AE97-F3E2-5300-0130-C470FC0589D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45879A-21CB-9CDB-D2F6-E0C52C44EF1B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6A793-BAD7-1B32-6C4E-3FABEB5112A0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8C2AF-4A80-1331-14EF-3733DB8A2AC8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9A60D-6D59-EB52-57A4-6B8B3F7D3F99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Threats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6875EC-96C1-F592-4EDE-52784EDA6854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AD409D-4379-AED3-187E-836AC31CCCB0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017CD-BFD5-1214-3689-294059F888DD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DF9AE9-1E88-F8B8-E0CF-911867BD6E29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4F659A-FE2A-7F32-DDB7-E18C0D65CBAE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Realised receipt is an outcome of the same process being studied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7F793E-933D-8F96-05F9-A30F18100CDC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E18770-5F19-3678-6CA3-2373C94E85F0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C6B87-23D9-2107-DB14-C7296D4AFDCA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Why it is endogenous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AED4AF-E723-2462-0729-478D08D9633C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4B5976-26D5-F928-28CC-DB65D71C9D38}"/>
              </a:ext>
            </a:extLst>
          </p:cNvPr>
          <p:cNvSpPr txBox="1"/>
          <p:nvPr/>
        </p:nvSpPr>
        <p:spPr>
          <a:xfrm>
            <a:off x="774700" y="2108200"/>
            <a:ext cx="5003800" cy="99514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Receipt depends on job loss, take-up, claim timing, partner income, assets and administration.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Job finding and employment exits directly affect the chance of becoming a recipient.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533FC4-0ACC-C0D8-C999-D670EF567D95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FC954C-1BB2-4F23-002F-B4D714367D50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Preferred treatment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58942B-1B1E-40FB-14B3-8FDC932B3217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24DF02-7C6A-0078-1A30-125DC484A2C2}"/>
              </a:ext>
            </a:extLst>
          </p:cNvPr>
          <p:cNvSpPr txBox="1"/>
          <p:nvPr/>
        </p:nvSpPr>
        <p:spPr>
          <a:xfrm>
            <a:off x="6413500" y="2108200"/>
            <a:ext cx="5003800" cy="12695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Citizenship × pre-policy legal eligibility.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If feasible, predict 1 March eligibility from only pre-period information.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Use actual receipt as a mediator or instrumented secondary analysis.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94A46D-74BB-A399-84B6-74132F9F9A0A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A7DB48-8004-9635-5D06-E97EC150074B}"/>
              </a:ext>
            </a:extLst>
          </p:cNvPr>
          <p:cNvSpPr txBox="1"/>
          <p:nvPr/>
        </p:nvSpPr>
        <p:spPr>
          <a:xfrm>
            <a:off x="876300" y="55753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Eligibility-based ITT sacrifices a «treated recipients» label but gains a coherent causal estimand.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515769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B3F7CE-A356-981F-4DC2-1BAF2C7C2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FC5D08-8637-3B72-E09B-DF12AFA1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F338E-1486-CB4F-8660-BB5460D49432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85E36-4E5B-9F97-6551-08DAC3EBD7BB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AC6D8-0134-498D-8BFB-55FBF4E2B75C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06E32-30EE-24C8-F82B-52AC65C308B8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3F315-50D7-806C-CA05-FC51AD6433F7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87AA3-7FDE-8F39-191C-6FA14AD8206C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Threats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22D7CF-7AA6-D85D-E916-D43B17F86572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3E6EC-008A-A9F2-2F03-128B20DD84DC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0FEEFE-FF89-2C7A-A047-F2D4F7D968ED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6F1A53-BFAC-C6D9-DF77-5655018632EA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7C9E95-D698-8992-D624-654846D1D4EE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One policy shock does not create 48 independent experiments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A59CFF-C045-EF8B-EECE-43AC3CE371C9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A1435-AC4E-62E4-6493-076C46CADD73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2677B7-F526-D8B7-5912-BDCD65650ACE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Current problem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5F80E1-BFDF-2C8F-6CF6-5D0B8BCFD108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5B768-51F7-D8C3-9BC0-BABC91BE9F85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Weekly outcomes are serially correlated.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Treatment turns on once for one nationality group.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IID standard errors treat cell residuals as independent.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Clustering on people cannot create more policy shocks.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B9184F-5462-3967-810B-11570C929D0F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9995D9-9EA3-74F5-A2D3-BA697AC006DA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Implication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AE2CE2-778D-A318-49BA-AB6D0DD23D1D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E13ACE-E633-5697-2D2D-4ADC3EE59F90}"/>
              </a:ext>
            </a:extLst>
          </p:cNvPr>
          <p:cNvSpPr txBox="1"/>
          <p:nvPr/>
        </p:nvSpPr>
        <p:spPr>
          <a:xfrm>
            <a:off x="6413500" y="2108200"/>
            <a:ext cx="5003800" cy="99514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The effective design uncertainty is about the Australian-minus-NZ time series around one event.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Confidence intervals may be materially wider than conventional cell-level or person-clustered errors.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CFAA168-BD85-7ECB-DF59-9DD7F9A01D90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C76F47-F1EC-7BAD-4268-65D838667E3E}"/>
              </a:ext>
            </a:extLst>
          </p:cNvPr>
          <p:cNvSpPr txBox="1"/>
          <p:nvPr/>
        </p:nvSpPr>
        <p:spPr>
          <a:xfrm>
            <a:off x="876300" y="5575300"/>
            <a:ext cx="10312400" cy="5283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Administrative N improves outcome measurement and adjustment; it does not solve few-policy inference.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796AF3-4D64-AA2D-06DA-F940FF39B582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750">
                <a:solidFill>
                  <a:srgbClr val="A6A6A6"/>
                </a:solidFill>
                <a:latin typeface="Proxima Nova Rg"/>
              </a:rPr>
              <a:t>Bertrand, Duflo &amp; Mullainathan (2004); Conley &amp; Taber (2011).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613396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04D38B-43B5-0312-24CE-0C3F5B5B5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7A1B6-EAA3-3BCD-77EB-7DB8BC4CE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2BC098-94C8-AC1C-FC85-5C5543D655D9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9EB69-105A-3881-20DC-D436E7995978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F2A9B9-2CCF-4120-C8FA-A007ABDA1E52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5F4EB-CBCD-45ED-B8AC-8D91EAFFA66D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751AC-0E49-EF7E-6011-AF0FE840F9C3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CF824-A3E2-6601-804F-48BA2FCA7FB1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Threats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47A2A8-9871-5008-A165-0B5301CB093B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89F1B-74E3-46C5-6BC0-A40EED8C6CE5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CC11B3-3E36-6EF8-588B-3B687D0D256D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86D1E2-F5E3-279D-9BAE-D8E5F270229A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BB430A-9858-25F1-C710-D80543752265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A transparent inference package for one treated contrast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38985-B896-E30A-59DB-861DAA44138C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D47B08-D338-4BA3-7CA8-94812DF96931}"/>
              </a:ext>
            </a:extLst>
          </p:cNvPr>
          <p:cNvSpPr/>
          <p:nvPr/>
        </p:nvSpPr>
        <p:spPr>
          <a:xfrm>
            <a:off x="609600" y="1473200"/>
            <a:ext cx="2904565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8F386D-E6A3-31C7-EBD9-460A90EC9B5E}"/>
              </a:ext>
            </a:extLst>
          </p:cNvPr>
          <p:cNvSpPr txBox="1"/>
          <p:nvPr/>
        </p:nvSpPr>
        <p:spPr>
          <a:xfrm>
            <a:off x="673100" y="1549400"/>
            <a:ext cx="2777565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Method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E68DA3-32C2-CBC3-2A98-45DBFDDEDE4E}"/>
              </a:ext>
            </a:extLst>
          </p:cNvPr>
          <p:cNvSpPr/>
          <p:nvPr/>
        </p:nvSpPr>
        <p:spPr>
          <a:xfrm>
            <a:off x="3514165" y="1473200"/>
            <a:ext cx="3550023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A5A871-0B52-FC5E-B2A5-6FF39431930C}"/>
              </a:ext>
            </a:extLst>
          </p:cNvPr>
          <p:cNvSpPr txBox="1"/>
          <p:nvPr/>
        </p:nvSpPr>
        <p:spPr>
          <a:xfrm>
            <a:off x="3577665" y="1549400"/>
            <a:ext cx="3423024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What it preserves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1B37C9-05C2-242D-80B0-711ADA737AEC}"/>
              </a:ext>
            </a:extLst>
          </p:cNvPr>
          <p:cNvSpPr/>
          <p:nvPr/>
        </p:nvSpPr>
        <p:spPr>
          <a:xfrm>
            <a:off x="7064188" y="1473200"/>
            <a:ext cx="4518212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A3AC6E-8A43-2FFA-F64E-FC700866379F}"/>
              </a:ext>
            </a:extLst>
          </p:cNvPr>
          <p:cNvSpPr txBox="1"/>
          <p:nvPr/>
        </p:nvSpPr>
        <p:spPr>
          <a:xfrm>
            <a:off x="7127688" y="1549400"/>
            <a:ext cx="4391212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Role / caveat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19F596-8140-2D9D-1D96-00FE05D5D662}"/>
              </a:ext>
            </a:extLst>
          </p:cNvPr>
          <p:cNvSpPr/>
          <p:nvPr/>
        </p:nvSpPr>
        <p:spPr>
          <a:xfrm>
            <a:off x="609600" y="2070100"/>
            <a:ext cx="2904565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DC156F-96F2-8B14-99BC-15FB9C6FA609}"/>
              </a:ext>
            </a:extLst>
          </p:cNvPr>
          <p:cNvSpPr txBox="1"/>
          <p:nvPr/>
        </p:nvSpPr>
        <p:spPr>
          <a:xfrm>
            <a:off x="673100" y="2133600"/>
            <a:ext cx="277756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Pre/post collapse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DE63B4-C066-6AAA-0155-6B415CAD7635}"/>
              </a:ext>
            </a:extLst>
          </p:cNvPr>
          <p:cNvSpPr/>
          <p:nvPr/>
        </p:nvSpPr>
        <p:spPr>
          <a:xfrm>
            <a:off x="3514165" y="2070100"/>
            <a:ext cx="3550023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D71F53-39F1-FD20-DA08-81842523CADF}"/>
              </a:ext>
            </a:extLst>
          </p:cNvPr>
          <p:cNvSpPr txBox="1"/>
          <p:nvPr/>
        </p:nvSpPr>
        <p:spPr>
          <a:xfrm>
            <a:off x="3577665" y="2133600"/>
            <a:ext cx="342302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Low-frequency policy contrast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A95B37-9604-3AB4-958F-5A15EC8835A1}"/>
              </a:ext>
            </a:extLst>
          </p:cNvPr>
          <p:cNvSpPr/>
          <p:nvPr/>
        </p:nvSpPr>
        <p:spPr>
          <a:xfrm>
            <a:off x="7064188" y="2070100"/>
            <a:ext cx="4518212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1871CC-E746-B5F4-4377-265BF714A66F}"/>
              </a:ext>
            </a:extLst>
          </p:cNvPr>
          <p:cNvSpPr txBox="1"/>
          <p:nvPr/>
        </p:nvSpPr>
        <p:spPr>
          <a:xfrm>
            <a:off x="7127688" y="2133600"/>
            <a:ext cx="43912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Conservative benchmark; few observations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C746B6-179E-4ABA-10E5-484BCA82A6A8}"/>
              </a:ext>
            </a:extLst>
          </p:cNvPr>
          <p:cNvSpPr/>
          <p:nvPr/>
        </p:nvSpPr>
        <p:spPr>
          <a:xfrm>
            <a:off x="609600" y="2667000"/>
            <a:ext cx="2904565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6074E6-FD6F-7E37-3F84-B987EC738643}"/>
              </a:ext>
            </a:extLst>
          </p:cNvPr>
          <p:cNvSpPr txBox="1"/>
          <p:nvPr/>
        </p:nvSpPr>
        <p:spPr>
          <a:xfrm>
            <a:off x="673100" y="2730500"/>
            <a:ext cx="277756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 b="1">
                <a:solidFill>
                  <a:srgbClr val="4A4E50"/>
                </a:solidFill>
                <a:latin typeface="Proxima Nova Rg"/>
              </a:rPr>
              <a:t>HAC on weekly AU−NZ gap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9B7884-FB76-96BA-5EF9-00A00E1409F5}"/>
              </a:ext>
            </a:extLst>
          </p:cNvPr>
          <p:cNvSpPr/>
          <p:nvPr/>
        </p:nvSpPr>
        <p:spPr>
          <a:xfrm>
            <a:off x="3514165" y="2667000"/>
            <a:ext cx="3550023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A8DF79-4B1E-544E-A49F-EB60CE6F5B8C}"/>
              </a:ext>
            </a:extLst>
          </p:cNvPr>
          <p:cNvSpPr txBox="1"/>
          <p:nvPr/>
        </p:nvSpPr>
        <p:spPr>
          <a:xfrm>
            <a:off x="3577665" y="2730500"/>
            <a:ext cx="342302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Serial correlation over calendar time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753E14-60D1-F9B0-50CA-D9974504C900}"/>
              </a:ext>
            </a:extLst>
          </p:cNvPr>
          <p:cNvSpPr/>
          <p:nvPr/>
        </p:nvSpPr>
        <p:spPr>
          <a:xfrm>
            <a:off x="7064188" y="2667000"/>
            <a:ext cx="4518212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90CA2B-D7A0-8397-6D2E-839580FD20E5}"/>
              </a:ext>
            </a:extLst>
          </p:cNvPr>
          <p:cNvSpPr txBox="1"/>
          <p:nvPr/>
        </p:nvSpPr>
        <p:spPr>
          <a:xfrm>
            <a:off x="7127688" y="2730500"/>
            <a:ext cx="43912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Show bandwidth and small-sample sensitivity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B9DCB1-3DCD-C4CD-5A23-EB8434CBE4BE}"/>
              </a:ext>
            </a:extLst>
          </p:cNvPr>
          <p:cNvSpPr/>
          <p:nvPr/>
        </p:nvSpPr>
        <p:spPr>
          <a:xfrm>
            <a:off x="609600" y="3263900"/>
            <a:ext cx="2904565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2EF3FE-1E7A-8344-BF34-2D2EDAC5E522}"/>
              </a:ext>
            </a:extLst>
          </p:cNvPr>
          <p:cNvSpPr txBox="1"/>
          <p:nvPr/>
        </p:nvSpPr>
        <p:spPr>
          <a:xfrm>
            <a:off x="673100" y="3327400"/>
            <a:ext cx="277756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Block bootstrap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C2FF62-A724-1C1E-5119-77BC171CA6CE}"/>
              </a:ext>
            </a:extLst>
          </p:cNvPr>
          <p:cNvSpPr/>
          <p:nvPr/>
        </p:nvSpPr>
        <p:spPr>
          <a:xfrm>
            <a:off x="3514165" y="3263900"/>
            <a:ext cx="3550023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34787A-B423-AA55-D713-A4699A9D97F8}"/>
              </a:ext>
            </a:extLst>
          </p:cNvPr>
          <p:cNvSpPr txBox="1"/>
          <p:nvPr/>
        </p:nvSpPr>
        <p:spPr>
          <a:xfrm>
            <a:off x="3577665" y="3327400"/>
            <a:ext cx="342302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Within-series dependence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1A5A14-98EB-7B39-CD89-F24ED6C3DA6F}"/>
              </a:ext>
            </a:extLst>
          </p:cNvPr>
          <p:cNvSpPr/>
          <p:nvPr/>
        </p:nvSpPr>
        <p:spPr>
          <a:xfrm>
            <a:off x="7064188" y="3263900"/>
            <a:ext cx="4518212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A59FB8-D58B-9DFD-85C8-96FCE02F0699}"/>
              </a:ext>
            </a:extLst>
          </p:cNvPr>
          <p:cNvSpPr txBox="1"/>
          <p:nvPr/>
        </p:nvSpPr>
        <p:spPr>
          <a:xfrm>
            <a:off x="7127688" y="3327400"/>
            <a:ext cx="43912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Resample calendar/residual blocks, not individual weeks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DB69C1-F9BD-29F0-726A-21B1DF966ADF}"/>
              </a:ext>
            </a:extLst>
          </p:cNvPr>
          <p:cNvSpPr/>
          <p:nvPr/>
        </p:nvSpPr>
        <p:spPr>
          <a:xfrm>
            <a:off x="609600" y="3860800"/>
            <a:ext cx="2904565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A65287-881D-894E-4A7A-3D02CCBD6C2F}"/>
              </a:ext>
            </a:extLst>
          </p:cNvPr>
          <p:cNvSpPr txBox="1"/>
          <p:nvPr/>
        </p:nvSpPr>
        <p:spPr>
          <a:xfrm>
            <a:off x="673100" y="3924300"/>
            <a:ext cx="277756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Pair/design bootstrap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2E0975-DE69-307A-4004-CF2FDD21D4B8}"/>
              </a:ext>
            </a:extLst>
          </p:cNvPr>
          <p:cNvSpPr/>
          <p:nvPr/>
        </p:nvSpPr>
        <p:spPr>
          <a:xfrm>
            <a:off x="3514165" y="3860800"/>
            <a:ext cx="3550023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83BF07-FB49-B7B6-4A1C-91638F334DBA}"/>
              </a:ext>
            </a:extLst>
          </p:cNvPr>
          <p:cNvSpPr txBox="1"/>
          <p:nvPr/>
        </p:nvSpPr>
        <p:spPr>
          <a:xfrm>
            <a:off x="3577665" y="3924300"/>
            <a:ext cx="342302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Matching and person composition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453FA41-B8CA-5C1A-F4D2-65A216FA733F}"/>
              </a:ext>
            </a:extLst>
          </p:cNvPr>
          <p:cNvSpPr/>
          <p:nvPr/>
        </p:nvSpPr>
        <p:spPr>
          <a:xfrm>
            <a:off x="7064188" y="3860800"/>
            <a:ext cx="4518212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E40CEC-3CAA-0DB1-1C7C-5DF26885983D}"/>
              </a:ext>
            </a:extLst>
          </p:cNvPr>
          <p:cNvSpPr txBox="1"/>
          <p:nvPr/>
        </p:nvSpPr>
        <p:spPr>
          <a:xfrm>
            <a:off x="7127688" y="3924300"/>
            <a:ext cx="43912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Rebuild weights/risk sets within each draw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B60203-7C3C-AB3B-0F49-E14025DCF80F}"/>
              </a:ext>
            </a:extLst>
          </p:cNvPr>
          <p:cNvSpPr/>
          <p:nvPr/>
        </p:nvSpPr>
        <p:spPr>
          <a:xfrm>
            <a:off x="609600" y="4457700"/>
            <a:ext cx="2904565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BF1FD6-0A41-B8D7-B1D4-FFA5E3FB81D6}"/>
              </a:ext>
            </a:extLst>
          </p:cNvPr>
          <p:cNvSpPr txBox="1"/>
          <p:nvPr/>
        </p:nvSpPr>
        <p:spPr>
          <a:xfrm>
            <a:off x="673100" y="4521200"/>
            <a:ext cx="277756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Placebo-date distribution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0545B46-425D-7B5E-552C-365E6A2D159B}"/>
              </a:ext>
            </a:extLst>
          </p:cNvPr>
          <p:cNvSpPr/>
          <p:nvPr/>
        </p:nvSpPr>
        <p:spPr>
          <a:xfrm>
            <a:off x="3514165" y="4457700"/>
            <a:ext cx="3550023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7A090E-2C58-488A-EBFD-28CA658873DE}"/>
              </a:ext>
            </a:extLst>
          </p:cNvPr>
          <p:cNvSpPr txBox="1"/>
          <p:nvPr/>
        </p:nvSpPr>
        <p:spPr>
          <a:xfrm>
            <a:off x="3577665" y="4521200"/>
            <a:ext cx="3423024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How unusual the break is in admissible pre-periods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91A38E6-8E5F-F916-E7FA-0FA008FA5C88}"/>
              </a:ext>
            </a:extLst>
          </p:cNvPr>
          <p:cNvSpPr/>
          <p:nvPr/>
        </p:nvSpPr>
        <p:spPr>
          <a:xfrm>
            <a:off x="7064188" y="4457700"/>
            <a:ext cx="4518212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565F59-1C58-6842-AB12-93536DB926F7}"/>
              </a:ext>
            </a:extLst>
          </p:cNvPr>
          <p:cNvSpPr txBox="1"/>
          <p:nvPr/>
        </p:nvSpPr>
        <p:spPr>
          <a:xfrm>
            <a:off x="7127688" y="4521200"/>
            <a:ext cx="43912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Reference distribution; dates are not literally random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99BAED8-0140-6B83-D671-7E0DAFB044E4}"/>
              </a:ext>
            </a:extLst>
          </p:cNvPr>
          <p:cNvSpPr/>
          <p:nvPr/>
        </p:nvSpPr>
        <p:spPr>
          <a:xfrm>
            <a:off x="609600" y="5054600"/>
            <a:ext cx="2904565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F370C3-75A5-4BFF-9AAC-69C5FC356046}"/>
              </a:ext>
            </a:extLst>
          </p:cNvPr>
          <p:cNvSpPr txBox="1"/>
          <p:nvPr/>
        </p:nvSpPr>
        <p:spPr>
          <a:xfrm>
            <a:off x="673100" y="5118100"/>
            <a:ext cx="277756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Multiple placebo years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5B8613-AA24-53A2-6DDE-998FF22A92F9}"/>
              </a:ext>
            </a:extLst>
          </p:cNvPr>
          <p:cNvSpPr/>
          <p:nvPr/>
        </p:nvSpPr>
        <p:spPr>
          <a:xfrm>
            <a:off x="3514165" y="5054600"/>
            <a:ext cx="3550023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6B704C-9A84-BB89-0B37-E7DDD78B88AF}"/>
              </a:ext>
            </a:extLst>
          </p:cNvPr>
          <p:cNvSpPr txBox="1"/>
          <p:nvPr/>
        </p:nvSpPr>
        <p:spPr>
          <a:xfrm>
            <a:off x="3577665" y="5118100"/>
            <a:ext cx="342302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Seasonality and recurring nationality gaps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8790B79-452D-B5CA-C05F-090D2F5F2293}"/>
              </a:ext>
            </a:extLst>
          </p:cNvPr>
          <p:cNvSpPr/>
          <p:nvPr/>
        </p:nvSpPr>
        <p:spPr>
          <a:xfrm>
            <a:off x="7064188" y="5054600"/>
            <a:ext cx="4518212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7D7457-7B2F-A361-BA0C-CF8D1C93DEC4}"/>
              </a:ext>
            </a:extLst>
          </p:cNvPr>
          <p:cNvSpPr txBox="1"/>
          <p:nvPr/>
        </p:nvSpPr>
        <p:spPr>
          <a:xfrm>
            <a:off x="7127688" y="5118100"/>
            <a:ext cx="439121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Must use identical cohort/risk-set algorithm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E6FC950-829C-8679-6D4B-E8A5870D811C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2AC604-4BB9-4231-BE80-5539EF13A49A}"/>
              </a:ext>
            </a:extLst>
          </p:cNvPr>
          <p:cNvSpPr txBox="1"/>
          <p:nvPr/>
        </p:nvSpPr>
        <p:spPr>
          <a:xfrm>
            <a:off x="876300" y="55880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Report intervals from several defensible methods. Do not use significance stars as the core argument.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52637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EF721-2C63-69E2-B426-EE2DB3FEE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1B6EB4-A7FC-261A-93E2-B13396CA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56F41-5055-ECF7-6499-9B6463F46651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70315-4DE1-97F3-4889-6B209F69187A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7C8E9-E7A3-0670-2261-C3D0BBB44138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72EFE-F96D-379E-CA0D-4BC20DE5F1A4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1FF036-ED4C-26DE-C363-BF86AA163046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1D8732-89D1-DDD8-2E7E-F9A1A98EB6B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Threats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C44E0D-83AE-009D-ADC6-592CA78245EA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53A71-B931-963B-043B-3EAA7AC76D88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9307FA-DFED-4D70-1150-324FD494D104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297A1D-E159-BAAD-8E33-089627511DA8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4ABF3-8727-06B7-2E37-978F3688D587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A short flat pre-period has low power against damaging trend differences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2F4030-92DF-45CA-BF5D-DD3C4479E168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3C038C-1CCB-A576-807C-41DA9C1144E3}"/>
              </a:ext>
            </a:extLst>
          </p:cNvPr>
          <p:cNvSpPr txBox="1"/>
          <p:nvPr/>
        </p:nvSpPr>
        <p:spPr>
          <a:xfrm>
            <a:off x="736600" y="1422400"/>
            <a:ext cx="10668000" cy="18312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Extend consistently into 2019 as far as payroll coverage permits.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Plot raw and composition-adjusted Australian-minus-NZ gaps.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Estimate event-study coefficients and joint pre-period tests, but do not treat non-rejection as proof.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Report the minimum detectable pre-trend and how much differential trend overturns the conclusion.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Apply Rambachan–Roth / HonestDiD sensitivity to bounded deviations from parallel trends.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Use nationality-specific trends only as a sensitivity check; short-window extrapolation is model-dependent.</a:t>
            </a:r>
            <a:endParaRPr lang="en-NZ" sz="16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9C697A6-AEC9-31A6-3C29-83FAEC1CCC5C}"/>
              </a:ext>
            </a:extLst>
          </p:cNvPr>
          <p:cNvSpPr/>
          <p:nvPr/>
        </p:nvSpPr>
        <p:spPr>
          <a:xfrm>
            <a:off x="698500" y="5435600"/>
            <a:ext cx="10668000" cy="736600"/>
          </a:xfrm>
          <a:prstGeom prst="round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30037B-4A22-E36E-F22D-ACD09EE75243}"/>
              </a:ext>
            </a:extLst>
          </p:cNvPr>
          <p:cNvSpPr txBox="1"/>
          <p:nvPr/>
        </p:nvSpPr>
        <p:spPr>
          <a:xfrm>
            <a:off x="876300" y="55372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E86F3D"/>
                </a:solidFill>
                <a:latin typeface="Proxima Nova Rg"/>
              </a:rPr>
              <a:t>The identifying assumption is a counterfactual path claim. Balance and a pre-trend p-value are evidence—not validation.</a:t>
            </a:r>
            <a:endParaRPr lang="en-NZ" sz="1400" b="1" dirty="0">
              <a:solidFill>
                <a:srgbClr val="E86F3D"/>
              </a:solidFill>
              <a:latin typeface="Proxima Nova Rg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542F3B-3C2E-7C8B-123B-5C2FDD87F389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750">
                <a:solidFill>
                  <a:srgbClr val="A6A6A6"/>
                </a:solidFill>
                <a:latin typeface="Proxima Nova Rg"/>
              </a:rPr>
              <a:t>Roth (2022); Rambachan &amp; Roth (2023).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028775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8E6EFB-AF69-8647-DF79-47F3C2F91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5E6A23-F189-A067-33FC-9BDBAAC8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428110-1BAA-C03C-0D08-C7802B553DF6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98562-B148-9B24-5C49-FAAA8D9DBCE1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A18D66-49A8-C368-D7D8-054310889DCD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1CE76-C049-B50A-2526-583FE2FCB315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2B29B0-09D0-F292-9DCC-7431116FAD43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0AA48-A81D-A2F0-0063-8B80367B28F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Threats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FF3006-13CC-2CA6-B876-86858363CF18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22CBD3-0B0A-B899-6C55-EBF09F72D65F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224564-1501-A56D-03B8-7D2042AF91E1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5F2687-0477-338A-7660-B48E6DB2FA80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743D31-6D52-7CA1-0A41-FCD5F1D5C7C2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JobKeeper is a direct retention treatment, not an April nuisance dummy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D9C98D-4BE1-CE22-BDE2-A456DBECC6F9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E26BB0-EADC-0384-DD2C-007A50BABD06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64A9DA-D0EE-80A1-BE4A-09FF00A88C91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Why it confounds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69CA94-A971-0D84-D9BC-374A60FA573A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50BFE7-4CE7-3AE7-BD19-1F757B0394B7}"/>
              </a:ext>
            </a:extLst>
          </p:cNvPr>
          <p:cNvSpPr txBox="1"/>
          <p:nvPr/>
        </p:nvSpPr>
        <p:spPr>
          <a:xfrm>
            <a:off x="774700" y="2108200"/>
            <a:ext cx="5003800" cy="12695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JobKeeper preserves worker-firm links, including zero-hours jobs.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It changes measured exits, vacancy creation and competition for new jobs.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Its interaction with JobSeeker may differ by nationality.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89EE64-D687-C9AE-EA21-5F8F72CA8F17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B01B68-DCEF-BB1B-EF28-AB11ABCDDF8D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Preferred strategies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E2E51B-B367-F1B1-60F9-F0FA58C8CEE4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F5F2E6-CB99-9E4E-9F30-00B8F2164020}"/>
              </a:ext>
            </a:extLst>
          </p:cNvPr>
          <p:cNvSpPr txBox="1"/>
          <p:nvPr/>
        </p:nvSpPr>
        <p:spPr>
          <a:xfrm>
            <a:off x="6413500" y="2108200"/>
            <a:ext cx="5003800" cy="132087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Link actual receipt / firm eligibility.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Split supported and unsupported jobs.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Use pre-pandemic predicted exposure or firm eligibility designs.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Restrict to clearly ineligible firms as a bounded sample.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010A25-2D57-7578-1EF5-F2173390CAB1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1110BF-BDB0-A0DF-553B-7D9438EAC508}"/>
              </a:ext>
            </a:extLst>
          </p:cNvPr>
          <p:cNvSpPr txBox="1"/>
          <p:nvPr/>
        </p:nvSpPr>
        <p:spPr>
          <a:xfrm>
            <a:off x="876300" y="55753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If exposure cannot be measured, label residual confounding honestly—especially for employment exits.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13831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30E257-5F68-8366-4B67-78C9922A19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EE604D-766E-3B34-32FD-CD2FBBDAF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C21E17-397C-0EE0-1BAD-20E2E61E76BB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062FD-CAD1-DAC1-C663-8B01904B74A2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C1F912-86BA-91D3-D4C7-764A4AA547E4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F4BA5-7E77-DA35-55A6-01E8B186C663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CA99E-7F34-3F28-417D-AF410080CCE0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FA338-C6C3-1B13-634E-B465A740AC49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Threats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0BE93F-2B69-035B-1981-B20E78C9D5C0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52622-003E-6376-3746-F72FA1E30981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FB188-284E-306F-6911-1B0B761EC6B1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0037ED-D9FE-495B-0BF4-8ED783217F1E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6BBBFD-8892-1BB7-AC5E-B9112DC99CC2}"/>
              </a:ext>
            </a:extLst>
          </p:cNvPr>
          <p:cNvSpPr txBox="1"/>
          <p:nvPr/>
        </p:nvSpPr>
        <p:spPr>
          <a:xfrm>
            <a:off x="482600" y="469900"/>
            <a:ext cx="111760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100" b="1">
                <a:solidFill>
                  <a:srgbClr val="000000"/>
                </a:solidFill>
                <a:latin typeface="Proxima Nova Rg"/>
              </a:rPr>
              <a:t>Payroll records are powerful, but missing pay is not always non-employment</a:t>
            </a:r>
            <a:endParaRPr lang="en-NZ" sz="21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F1F832-2AD3-65BC-A8D2-A2334F2C9DBD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05D43-A2F3-D374-71B3-A14EEDA487F4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FB64D3-BB2E-49F2-7957-D0A4A89D9BE7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Potential false transitions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D5D3F7-485F-CDFD-40F1-38F17685666F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46A15D-E0D9-90D5-4573-4EA5A94C01FB}"/>
              </a:ext>
            </a:extLst>
          </p:cNvPr>
          <p:cNvSpPr txBox="1"/>
          <p:nvPr/>
        </p:nvSpPr>
        <p:spPr>
          <a:xfrm>
            <a:off x="774700" y="2108200"/>
            <a:ext cx="5003800" cy="164660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Fortnightly or irregular payment cadence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Late reports and corrections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Zero-hours retention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Employer STP entry/exit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Concurrent jobs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Self-employment not recorded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82BA0F-4462-9856-A031-29483C4BDE93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A0B998-BD3C-8CB3-1B54-58892A5CA31E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Validation design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8903CC-D29A-F257-D0CA-642DA791E523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798C3E-7320-F723-7851-3F2143B5C225}"/>
              </a:ext>
            </a:extLst>
          </p:cNvPr>
          <p:cNvSpPr txBox="1"/>
          <p:nvPr/>
        </p:nvSpPr>
        <p:spPr>
          <a:xfrm>
            <a:off x="6413500" y="2108200"/>
            <a:ext cx="5003800" cy="164660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1-, 2- and 4-week persistence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Fortnightly aggregation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Regular-payer restriction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Quarterly/annual tax cross-checks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Any-job versus main-job states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Employer and person exit flags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09DA3F0-9899-9F89-04DE-F26BAE9755AB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F14D8F-8F9C-330D-EF80-D37276000BB2}"/>
              </a:ext>
            </a:extLst>
          </p:cNvPr>
          <p:cNvSpPr txBox="1"/>
          <p:nvPr/>
        </p:nvSpPr>
        <p:spPr>
          <a:xfrm>
            <a:off x="876300" y="5575300"/>
            <a:ext cx="10312400" cy="5283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Call the outcome «exit from recorded payroll employment» unless voluntary quits and layoffs can be separated.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583366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EF4D0C-EA15-219B-15AE-205714526A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AC0D9E-47CA-DDE9-5F1D-16C2B27D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B9908C-B714-BDC3-6EFF-0D59DA29ACAE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A78D2-C933-1BF7-C689-BC167FAC9E68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370180-D4DC-57FD-592D-9E353412FF67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E8196-77DF-D1AC-6253-4D24B972ACDE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34F06-3C1C-E6F1-AE9B-C035AFF7B9FF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1E771-1FCF-7BE2-C8F2-0F63BAD9D9F7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Threats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BCF075-727B-6F6D-8819-734B7EDF10BF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6A02FD-5C45-1A32-BAA9-21A46E1A9FF4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14D5F8-C684-E33D-0D66-F494B8179408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F10CC-C8FF-FFD2-7A39-ADF41C08A0B9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22B4D4-099B-1AAC-B0A1-6C347F032A08}"/>
              </a:ext>
            </a:extLst>
          </p:cNvPr>
          <p:cNvSpPr txBox="1"/>
          <p:nvPr/>
        </p:nvSpPr>
        <p:spPr>
          <a:xfrm>
            <a:off x="482600" y="469900"/>
            <a:ext cx="111760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100" b="1">
                <a:solidFill>
                  <a:srgbClr val="000000"/>
                </a:solidFill>
                <a:latin typeface="Proxima Nova Rg"/>
              </a:rPr>
              <a:t>Nationality comparability remains the substantive counterfactual assumption</a:t>
            </a:r>
            <a:endParaRPr lang="en-NZ" sz="21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B74A32-F0A2-BF32-DF46-9C7E52F9B9D2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35D820-CBB3-B733-F7D7-C0B7F7359062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192BD-C3EF-7E3F-C6B8-B662294111D7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Plausible shared shocks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90CA76-E6F6-1FC1-F006-814FE03DBB2E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6FE1FA-1D13-D54C-991B-591FA25B9C5B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Same national macroeconomy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Same state/local restrictions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Often same industries and occupations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Common payroll measurement system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11E7D-A4A2-5CC1-E141-85EB167604B9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24E61C-AAD4-2D3E-0ACD-3D057049BE56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Possible differential responses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92B242-2EFA-2EDB-C788-601AEB4C24E6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520624-51EE-BAEA-BBC7-31C21E2EEA02}"/>
              </a:ext>
            </a:extLst>
          </p:cNvPr>
          <p:cNvSpPr txBox="1"/>
          <p:nvPr/>
        </p:nvSpPr>
        <p:spPr>
          <a:xfrm>
            <a:off x="6413500" y="2108200"/>
            <a:ext cx="5003800" cy="164660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Migration tenure and networks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Household composition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Return-migration options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Industry/employer sorting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Risk tolerance and work orientation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Access to other support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4F2A31B-1663-CF11-C6DA-2244574DE808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DD73AF-2133-66C9-C4D8-EA992FD42521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Match/reweight on observables and pre-outcomes; test heterogeneity and mobility; state conditional parallel trends explicitly.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027396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4A989D-3B01-2036-9792-940D8FCEF8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F2133F-51E4-1954-FB67-6959197B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BF225-1CF5-75FB-9461-5DBB61B35787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6381A-2197-14E9-F59E-ED5ADD3E1053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334295-705F-26F6-7D0C-9365E6E23916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1A5B6-260F-16AB-3448-B7BE810B40AA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4718E-6906-3780-D50C-04835A16A917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11975-51A7-7875-945D-DDFB26A9FE99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Threats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6B0F00-AA0D-7F08-2730-7D6897AAC91E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B8700-BBEF-A413-0862-FD722E2FAA40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304F82-1F59-08E6-9CFC-351F4FDFF62A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7F15DE-7EAA-74CF-AFE0-784FE2D2EF15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72E1CF-070C-EB70-3D14-9270B55019DA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Matching needs diagnostics, not only «balanced distributions»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6E7B7A-3790-4EE7-572B-24EF74CC6366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D24C0E-C6E2-F8C7-B83D-BB7BB54756EF}"/>
              </a:ext>
            </a:extLst>
          </p:cNvPr>
          <p:cNvSpPr/>
          <p:nvPr/>
        </p:nvSpPr>
        <p:spPr>
          <a:xfrm>
            <a:off x="609600" y="1473200"/>
            <a:ext cx="3334870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112F27-16E3-F32A-DCA5-011B7561A112}"/>
              </a:ext>
            </a:extLst>
          </p:cNvPr>
          <p:cNvSpPr txBox="1"/>
          <p:nvPr/>
        </p:nvSpPr>
        <p:spPr>
          <a:xfrm>
            <a:off x="673100" y="1549400"/>
            <a:ext cx="3207871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Required diagnostic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68501A-5E06-355F-DCC3-F9BD506AA610}"/>
              </a:ext>
            </a:extLst>
          </p:cNvPr>
          <p:cNvSpPr/>
          <p:nvPr/>
        </p:nvSpPr>
        <p:spPr>
          <a:xfrm>
            <a:off x="3944470" y="1473200"/>
            <a:ext cx="4303059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8480A-83EC-2A6F-43CD-31FC183EFAB0}"/>
              </a:ext>
            </a:extLst>
          </p:cNvPr>
          <p:cNvSpPr txBox="1"/>
          <p:nvPr/>
        </p:nvSpPr>
        <p:spPr>
          <a:xfrm>
            <a:off x="4007970" y="1549400"/>
            <a:ext cx="4176059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What it reveals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D60E6B-9009-7737-75EE-E77A0473ED5D}"/>
              </a:ext>
            </a:extLst>
          </p:cNvPr>
          <p:cNvSpPr/>
          <p:nvPr/>
        </p:nvSpPr>
        <p:spPr>
          <a:xfrm>
            <a:off x="8247529" y="1473200"/>
            <a:ext cx="3334871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8C2B56-1887-5611-76F5-837DE1A8F98B}"/>
              </a:ext>
            </a:extLst>
          </p:cNvPr>
          <p:cNvSpPr txBox="1"/>
          <p:nvPr/>
        </p:nvSpPr>
        <p:spPr>
          <a:xfrm>
            <a:off x="8311029" y="1549400"/>
            <a:ext cx="3207871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Decision rule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BD1226-F3D0-4E96-9227-ACE92A9C21DD}"/>
              </a:ext>
            </a:extLst>
          </p:cNvPr>
          <p:cNvSpPr/>
          <p:nvPr/>
        </p:nvSpPr>
        <p:spPr>
          <a:xfrm>
            <a:off x="609600" y="2070100"/>
            <a:ext cx="3334870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AC4EAA-194E-A5DC-1350-9709BB657FB3}"/>
              </a:ext>
            </a:extLst>
          </p:cNvPr>
          <p:cNvSpPr txBox="1"/>
          <p:nvPr/>
        </p:nvSpPr>
        <p:spPr>
          <a:xfrm>
            <a:off x="673100" y="21336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Standardised mean differences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8E2DF3-C18F-0185-271E-77F2D3FC4058}"/>
              </a:ext>
            </a:extLst>
          </p:cNvPr>
          <p:cNvSpPr/>
          <p:nvPr/>
        </p:nvSpPr>
        <p:spPr>
          <a:xfrm>
            <a:off x="3944470" y="2070100"/>
            <a:ext cx="4303059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D82450-C68B-3192-D51A-43A36AF49551}"/>
              </a:ext>
            </a:extLst>
          </p:cNvPr>
          <p:cNvSpPr txBox="1"/>
          <p:nvPr/>
        </p:nvSpPr>
        <p:spPr>
          <a:xfrm>
            <a:off x="4007970" y="2133600"/>
            <a:ext cx="417605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Balance for every covariate and key interaction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315226-8529-1345-8CBB-35281DDDDE15}"/>
              </a:ext>
            </a:extLst>
          </p:cNvPr>
          <p:cNvSpPr/>
          <p:nvPr/>
        </p:nvSpPr>
        <p:spPr>
          <a:xfrm>
            <a:off x="8247529" y="2070100"/>
            <a:ext cx="3334871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B6B278-CAE1-D58C-B6E0-CB2076E468DA}"/>
              </a:ext>
            </a:extLst>
          </p:cNvPr>
          <p:cNvSpPr txBox="1"/>
          <p:nvPr/>
        </p:nvSpPr>
        <p:spPr>
          <a:xfrm>
            <a:off x="8311029" y="21336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Pre-specify acceptable threshold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049B9D-0E88-006E-1768-2F4B2A46E388}"/>
              </a:ext>
            </a:extLst>
          </p:cNvPr>
          <p:cNvSpPr/>
          <p:nvPr/>
        </p:nvSpPr>
        <p:spPr>
          <a:xfrm>
            <a:off x="609600" y="2667000"/>
            <a:ext cx="3334870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8BD213-2DA9-DC81-A465-76F43F6A4C20}"/>
              </a:ext>
            </a:extLst>
          </p:cNvPr>
          <p:cNvSpPr txBox="1"/>
          <p:nvPr/>
        </p:nvSpPr>
        <p:spPr>
          <a:xfrm>
            <a:off x="673100" y="27305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Variance ratios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1AF843-114B-09A7-25AD-EDEA812E064F}"/>
              </a:ext>
            </a:extLst>
          </p:cNvPr>
          <p:cNvSpPr/>
          <p:nvPr/>
        </p:nvSpPr>
        <p:spPr>
          <a:xfrm>
            <a:off x="3944470" y="2667000"/>
            <a:ext cx="4303059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B465F1-999E-92D1-499B-47DE591BD43C}"/>
              </a:ext>
            </a:extLst>
          </p:cNvPr>
          <p:cNvSpPr txBox="1"/>
          <p:nvPr/>
        </p:nvSpPr>
        <p:spPr>
          <a:xfrm>
            <a:off x="4007970" y="2730500"/>
            <a:ext cx="417605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Distributional imbalance beyond means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A89656-4A93-5F16-EF9F-91E965FF9FA1}"/>
              </a:ext>
            </a:extLst>
          </p:cNvPr>
          <p:cNvSpPr/>
          <p:nvPr/>
        </p:nvSpPr>
        <p:spPr>
          <a:xfrm>
            <a:off x="8247529" y="2667000"/>
            <a:ext cx="3334871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C3E7EB-4076-F1AA-6604-60AD5859B556}"/>
              </a:ext>
            </a:extLst>
          </p:cNvPr>
          <p:cNvSpPr txBox="1"/>
          <p:nvPr/>
        </p:nvSpPr>
        <p:spPr>
          <a:xfrm>
            <a:off x="8311029" y="27305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Report before/after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7F0E0F-67E6-DE4F-CCC6-FDD9066A8FAA}"/>
              </a:ext>
            </a:extLst>
          </p:cNvPr>
          <p:cNvSpPr/>
          <p:nvPr/>
        </p:nvSpPr>
        <p:spPr>
          <a:xfrm>
            <a:off x="609600" y="3263900"/>
            <a:ext cx="3334870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291CAF-27FA-420A-B4BD-07EEC41F2767}"/>
              </a:ext>
            </a:extLst>
          </p:cNvPr>
          <p:cNvSpPr txBox="1"/>
          <p:nvPr/>
        </p:nvSpPr>
        <p:spPr>
          <a:xfrm>
            <a:off x="673100" y="33274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Propensity overlap + trimmed share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4F180A-34C6-F208-6BBF-71807E265A01}"/>
              </a:ext>
            </a:extLst>
          </p:cNvPr>
          <p:cNvSpPr/>
          <p:nvPr/>
        </p:nvSpPr>
        <p:spPr>
          <a:xfrm>
            <a:off x="3944470" y="3263900"/>
            <a:ext cx="4303059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90633C-1000-CE95-8912-42A48812DA05}"/>
              </a:ext>
            </a:extLst>
          </p:cNvPr>
          <p:cNvSpPr txBox="1"/>
          <p:nvPr/>
        </p:nvSpPr>
        <p:spPr>
          <a:xfrm>
            <a:off x="4007970" y="3327400"/>
            <a:ext cx="417605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Where counterfactual support exists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E1CB2FB-CF84-1DB7-D898-9A60AB804BE1}"/>
              </a:ext>
            </a:extLst>
          </p:cNvPr>
          <p:cNvSpPr/>
          <p:nvPr/>
        </p:nvSpPr>
        <p:spPr>
          <a:xfrm>
            <a:off x="8247529" y="3263900"/>
            <a:ext cx="3334871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6996D-92FC-FA25-EF6B-82640F2B4301}"/>
              </a:ext>
            </a:extLst>
          </p:cNvPr>
          <p:cNvSpPr txBox="1"/>
          <p:nvPr/>
        </p:nvSpPr>
        <p:spPr>
          <a:xfrm>
            <a:off x="8311029" y="33274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Restrict to common support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89F884A-4102-E002-3645-5B8C4FA16B36}"/>
              </a:ext>
            </a:extLst>
          </p:cNvPr>
          <p:cNvSpPr/>
          <p:nvPr/>
        </p:nvSpPr>
        <p:spPr>
          <a:xfrm>
            <a:off x="609600" y="3860800"/>
            <a:ext cx="3334870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5DF890-8326-4509-A8EB-6543B5028E91}"/>
              </a:ext>
            </a:extLst>
          </p:cNvPr>
          <p:cNvSpPr txBox="1"/>
          <p:nvPr/>
        </p:nvSpPr>
        <p:spPr>
          <a:xfrm>
            <a:off x="673100" y="39243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Pre-policy outcome balance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FB977C-ED96-916D-C6B8-DE19FC4EDDA4}"/>
              </a:ext>
            </a:extLst>
          </p:cNvPr>
          <p:cNvSpPr/>
          <p:nvPr/>
        </p:nvSpPr>
        <p:spPr>
          <a:xfrm>
            <a:off x="3944470" y="3860800"/>
            <a:ext cx="4303059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EF2E90-FB70-1271-BFC7-96AFE57D3067}"/>
              </a:ext>
            </a:extLst>
          </p:cNvPr>
          <p:cNvSpPr txBox="1"/>
          <p:nvPr/>
        </p:nvSpPr>
        <p:spPr>
          <a:xfrm>
            <a:off x="4007970" y="3924300"/>
            <a:ext cx="417605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Whether transition histories align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741E9B-D486-0922-87CA-305CEF2DA151}"/>
              </a:ext>
            </a:extLst>
          </p:cNvPr>
          <p:cNvSpPr/>
          <p:nvPr/>
        </p:nvSpPr>
        <p:spPr>
          <a:xfrm>
            <a:off x="8247529" y="3860800"/>
            <a:ext cx="3334871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80037C-7175-F3F0-63E4-4858B9358C50}"/>
              </a:ext>
            </a:extLst>
          </p:cNvPr>
          <p:cNvSpPr txBox="1"/>
          <p:nvPr/>
        </p:nvSpPr>
        <p:spPr>
          <a:xfrm>
            <a:off x="8311029" y="3924300"/>
            <a:ext cx="3207871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Include employment, JFR, exits, duration, earnings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DB4B2C-8247-56BD-4586-AFFA624C2113}"/>
              </a:ext>
            </a:extLst>
          </p:cNvPr>
          <p:cNvSpPr/>
          <p:nvPr/>
        </p:nvSpPr>
        <p:spPr>
          <a:xfrm>
            <a:off x="609600" y="4457700"/>
            <a:ext cx="3334870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319E9C-1971-F3D0-5D74-275C3629280D}"/>
              </a:ext>
            </a:extLst>
          </p:cNvPr>
          <p:cNvSpPr txBox="1"/>
          <p:nvPr/>
        </p:nvSpPr>
        <p:spPr>
          <a:xfrm>
            <a:off x="673100" y="45212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Caliper / replacement sensitivity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97F7F8-14D9-EAB3-8B47-E41ADDDFAB43}"/>
              </a:ext>
            </a:extLst>
          </p:cNvPr>
          <p:cNvSpPr/>
          <p:nvPr/>
        </p:nvSpPr>
        <p:spPr>
          <a:xfrm>
            <a:off x="3944470" y="4457700"/>
            <a:ext cx="4303059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951E7C-4FAE-91D9-8B65-BC420F9BDE38}"/>
              </a:ext>
            </a:extLst>
          </p:cNvPr>
          <p:cNvSpPr txBox="1"/>
          <p:nvPr/>
        </p:nvSpPr>
        <p:spPr>
          <a:xfrm>
            <a:off x="4007970" y="4521200"/>
            <a:ext cx="417605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Dependence on matching algorithm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FC5152-8618-5DE0-6643-04537E78EE5B}"/>
              </a:ext>
            </a:extLst>
          </p:cNvPr>
          <p:cNvSpPr/>
          <p:nvPr/>
        </p:nvSpPr>
        <p:spPr>
          <a:xfrm>
            <a:off x="8247529" y="4457700"/>
            <a:ext cx="3334871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9AA677-5A24-1109-1CBB-A9EDD0B33216}"/>
              </a:ext>
            </a:extLst>
          </p:cNvPr>
          <p:cNvSpPr txBox="1"/>
          <p:nvPr/>
        </p:nvSpPr>
        <p:spPr>
          <a:xfrm>
            <a:off x="8311029" y="45212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Compare with overlap/entropy weights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F2EAF23-AFFE-74DA-9549-B1110675FAE3}"/>
              </a:ext>
            </a:extLst>
          </p:cNvPr>
          <p:cNvSpPr/>
          <p:nvPr/>
        </p:nvSpPr>
        <p:spPr>
          <a:xfrm>
            <a:off x="609600" y="5054600"/>
            <a:ext cx="3334870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038E37-86B1-D129-0C82-B9421F7449B8}"/>
              </a:ext>
            </a:extLst>
          </p:cNvPr>
          <p:cNvSpPr txBox="1"/>
          <p:nvPr/>
        </p:nvSpPr>
        <p:spPr>
          <a:xfrm>
            <a:off x="673100" y="51181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Matched-pair identifiers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BD1243D-D514-DB2B-EF51-A490981195AC}"/>
              </a:ext>
            </a:extLst>
          </p:cNvPr>
          <p:cNvSpPr/>
          <p:nvPr/>
        </p:nvSpPr>
        <p:spPr>
          <a:xfrm>
            <a:off x="3944470" y="5054600"/>
            <a:ext cx="4303059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F4D3EC-FC24-5A91-9846-CF0341D9022E}"/>
              </a:ext>
            </a:extLst>
          </p:cNvPr>
          <p:cNvSpPr txBox="1"/>
          <p:nvPr/>
        </p:nvSpPr>
        <p:spPr>
          <a:xfrm>
            <a:off x="4007970" y="5118100"/>
            <a:ext cx="417605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Dependence and design structure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5384D9D-997D-0EB8-B3D8-D5CDA433F16D}"/>
              </a:ext>
            </a:extLst>
          </p:cNvPr>
          <p:cNvSpPr/>
          <p:nvPr/>
        </p:nvSpPr>
        <p:spPr>
          <a:xfrm>
            <a:off x="8247529" y="5054600"/>
            <a:ext cx="3334871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9714EC-62FC-ED96-2596-A20D90984FC8}"/>
              </a:ext>
            </a:extLst>
          </p:cNvPr>
          <p:cNvSpPr txBox="1"/>
          <p:nvPr/>
        </p:nvSpPr>
        <p:spPr>
          <a:xfrm>
            <a:off x="8311029" y="5118100"/>
            <a:ext cx="320787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Retain in estimation and bootstrap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2E5924A-F3DE-A9CA-2472-90F1754089CA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7EA9BF-C119-2155-00D8-CB92611FA502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Do not select the matching method by the most significant treatment effect. Matching improves comparability; it does not randomise nationality.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963078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882C8-BAF1-4645-72AA-A0D75E9460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2BEBC-4D2B-4FFC-3B86-FAFE105AD12C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04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93332-0237-AB85-D437-DDFBA797C891}"/>
              </a:ext>
            </a:extLst>
          </p:cNvPr>
          <p:cNvSpPr txBox="1"/>
          <p:nvPr/>
        </p:nvSpPr>
        <p:spPr>
          <a:xfrm>
            <a:off x="1397000" y="2857500"/>
            <a:ext cx="9525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600" b="1">
                <a:solidFill>
                  <a:srgbClr val="FFFFFF"/>
                </a:solidFill>
                <a:latin typeface="Proxima Nova Rg"/>
              </a:rPr>
              <a:t>A journal-ready re-estimation plan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9B579-D056-839C-069E-157CDBF95467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FFF"/>
                </a:solidFill>
                <a:latin typeface="GT Sectra Fine"/>
              </a:rPr>
              <a:t>Pre-policy cohorts, contemporaneous hazards, person-week models and pre-specified validation.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3472759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D0374-E5BE-DF90-4E06-824DE9BF9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DBE087-7EF4-900D-9BBB-2815A4C6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B2F515-213C-2351-6051-7398137B2B96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FF2FB-16DE-DFFD-B40E-D3CFD5DBC581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54776-8D93-AAB4-74D8-C4FA69E596C1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59F19-9C1A-5B89-CE6D-DC46D7B0B280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2F3C3D-29EC-548E-B75F-0EA774111BF6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87993B-749E-8199-6DD2-2BE92C0A3585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2ED5C9-C999-9FFB-5E79-542AA8E3EF1C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3234CF-7E3D-C0B3-6262-3FD4FCBA5AC2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Re-estimation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F288BE-42E7-38B1-763C-B72C084A9A35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823568-090E-CCB3-21F2-A312374DD3DE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BC2F7A-2A54-4899-5E5B-F981BE931376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redesign starts with a pre-policy cohort and weekly risk sets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990B42-5517-6018-C93E-B27A8952F508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D8D2B2-4FDD-1D57-697B-736C5594F9AE}"/>
              </a:ext>
            </a:extLst>
          </p:cNvPr>
          <p:cNvSpPr/>
          <p:nvPr/>
        </p:nvSpPr>
        <p:spPr>
          <a:xfrm>
            <a:off x="635000" y="1778000"/>
            <a:ext cx="2857500" cy="1397000"/>
          </a:xfrm>
          <a:prstGeom prst="round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F5E2-F186-95F9-AC78-0580FB755993}"/>
              </a:ext>
            </a:extLst>
          </p:cNvPr>
          <p:cNvSpPr txBox="1"/>
          <p:nvPr/>
        </p:nvSpPr>
        <p:spPr>
          <a:xfrm>
            <a:off x="762000" y="1892300"/>
            <a:ext cx="2603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Freeze cohort at t₀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3C8135-F66F-2F22-2D5B-7A2EA922E47C}"/>
              </a:ext>
            </a:extLst>
          </p:cNvPr>
          <p:cNvSpPr txBox="1"/>
          <p:nvPr/>
        </p:nvSpPr>
        <p:spPr>
          <a:xfrm>
            <a:off x="762000" y="2235200"/>
            <a:ext cx="2603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Residence + working age + 2019 labour-market attachment only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9C2290-FE45-D633-FD15-5C9E4E1765BF}"/>
              </a:ext>
            </a:extLst>
          </p:cNvPr>
          <p:cNvSpPr/>
          <p:nvPr/>
        </p:nvSpPr>
        <p:spPr>
          <a:xfrm>
            <a:off x="4635500" y="1778000"/>
            <a:ext cx="2857500" cy="1397000"/>
          </a:xfrm>
          <a:prstGeom prst="roundRect">
            <a:avLst/>
          </a:prstGeom>
          <a:solidFill>
            <a:srgbClr val="3AA7AC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6F93D-625F-C0F1-E4C2-F4E8102047CD}"/>
              </a:ext>
            </a:extLst>
          </p:cNvPr>
          <p:cNvSpPr txBox="1"/>
          <p:nvPr/>
        </p:nvSpPr>
        <p:spPr>
          <a:xfrm>
            <a:off x="4762500" y="1892300"/>
            <a:ext cx="2603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Build person-week states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152168-204C-81CF-08D9-225048F96F52}"/>
              </a:ext>
            </a:extLst>
          </p:cNvPr>
          <p:cNvSpPr txBox="1"/>
          <p:nvPr/>
        </p:nvSpPr>
        <p:spPr>
          <a:xfrm>
            <a:off x="4762500" y="2235200"/>
            <a:ext cx="2603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Employed, not employed, missing/reporting, multiple jobs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75D0B7A-D444-B20E-336E-93C174592CF0}"/>
              </a:ext>
            </a:extLst>
          </p:cNvPr>
          <p:cNvSpPr/>
          <p:nvPr/>
        </p:nvSpPr>
        <p:spPr>
          <a:xfrm>
            <a:off x="8636000" y="1778000"/>
            <a:ext cx="2857500" cy="1397000"/>
          </a:xfrm>
          <a:prstGeom prst="round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C9E8C1-622B-0A26-D9DD-321FB8654C0F}"/>
              </a:ext>
            </a:extLst>
          </p:cNvPr>
          <p:cNvSpPr txBox="1"/>
          <p:nvPr/>
        </p:nvSpPr>
        <p:spPr>
          <a:xfrm>
            <a:off x="8763000" y="1892300"/>
            <a:ext cx="2603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Define two hazards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AA8478-1027-DC32-10D1-D0174A56345B}"/>
              </a:ext>
            </a:extLst>
          </p:cNvPr>
          <p:cNvSpPr txBox="1"/>
          <p:nvPr/>
        </p:nvSpPr>
        <p:spPr>
          <a:xfrm>
            <a:off x="8763000" y="2235200"/>
            <a:ext cx="2603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Uₜ → Eₜ₊₁ and Eₜ → Uₜ₊₁ on contemporaneous denominators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9C6492-734C-02BD-17C5-C02D786CEFD9}"/>
              </a:ext>
            </a:extLst>
          </p:cNvPr>
          <p:cNvCxnSpPr/>
          <p:nvPr/>
        </p:nvCxnSpPr>
        <p:spPr>
          <a:xfrm>
            <a:off x="3492500" y="2476500"/>
            <a:ext cx="1016000" cy="0"/>
          </a:xfrm>
          <a:prstGeom prst="line">
            <a:avLst/>
          </a:prstGeom>
          <a:ln w="20320">
            <a:solidFill>
              <a:srgbClr val="4A4E50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7D3FFCE-9F3F-3168-A9F2-48D210E361B4}"/>
              </a:ext>
            </a:extLst>
          </p:cNvPr>
          <p:cNvCxnSpPr/>
          <p:nvPr/>
        </p:nvCxnSpPr>
        <p:spPr>
          <a:xfrm>
            <a:off x="7493000" y="2476500"/>
            <a:ext cx="1016000" cy="0"/>
          </a:xfrm>
          <a:prstGeom prst="line">
            <a:avLst/>
          </a:prstGeom>
          <a:ln w="20320">
            <a:solidFill>
              <a:srgbClr val="4A4E50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12E58D5-5F9A-63B6-86EC-5EB39575D35B}"/>
              </a:ext>
            </a:extLst>
          </p:cNvPr>
          <p:cNvSpPr/>
          <p:nvPr/>
        </p:nvSpPr>
        <p:spPr>
          <a:xfrm>
            <a:off x="1397000" y="3810000"/>
            <a:ext cx="4191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822931-240C-DD1C-E66D-757FD25625D0}"/>
              </a:ext>
            </a:extLst>
          </p:cNvPr>
          <p:cNvSpPr txBox="1"/>
          <p:nvPr/>
        </p:nvSpPr>
        <p:spPr>
          <a:xfrm>
            <a:off x="1524000" y="3911600"/>
            <a:ext cx="3937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Job-finding risk set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F3938D-E64B-96D6-F069-B6B8F615723D}"/>
              </a:ext>
            </a:extLst>
          </p:cNvPr>
          <p:cNvSpPr/>
          <p:nvPr/>
        </p:nvSpPr>
        <p:spPr>
          <a:xfrm>
            <a:off x="1397000" y="4343400"/>
            <a:ext cx="4191000" cy="8382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EF1F73-F3B0-F3F9-33AA-6A7F1C478AE4}"/>
              </a:ext>
            </a:extLst>
          </p:cNvPr>
          <p:cNvSpPr txBox="1"/>
          <p:nvPr/>
        </p:nvSpPr>
        <p:spPr>
          <a:xfrm>
            <a:off x="1562100" y="4495800"/>
            <a:ext cx="3860800" cy="7720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Everyone not in recorded payroll employment in week t.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Add flexible duration dependence.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09294B-53C5-A5E7-02A5-35929FD5325C}"/>
              </a:ext>
            </a:extLst>
          </p:cNvPr>
          <p:cNvSpPr/>
          <p:nvPr/>
        </p:nvSpPr>
        <p:spPr>
          <a:xfrm>
            <a:off x="6604000" y="3810000"/>
            <a:ext cx="4191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E628A5-4A7E-B676-EAD6-A22336F3AA65}"/>
              </a:ext>
            </a:extLst>
          </p:cNvPr>
          <p:cNvSpPr txBox="1"/>
          <p:nvPr/>
        </p:nvSpPr>
        <p:spPr>
          <a:xfrm>
            <a:off x="6731000" y="3911600"/>
            <a:ext cx="3937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Employment-exit risk set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0BE4DC-5FCE-D34E-8B8B-61B5148B6ED5}"/>
              </a:ext>
            </a:extLst>
          </p:cNvPr>
          <p:cNvSpPr/>
          <p:nvPr/>
        </p:nvSpPr>
        <p:spPr>
          <a:xfrm>
            <a:off x="6604000" y="4343400"/>
            <a:ext cx="4191000" cy="8382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444D20-A642-5CA3-A2CA-3312F2418357}"/>
              </a:ext>
            </a:extLst>
          </p:cNvPr>
          <p:cNvSpPr txBox="1"/>
          <p:nvPr/>
        </p:nvSpPr>
        <p:spPr>
          <a:xfrm>
            <a:off x="6769100" y="4495800"/>
            <a:ext cx="3860800" cy="99514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Everyone in recorded payroll employment in week t.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Persistence is an outcome definition—not inclusion.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600455B-D747-8AB9-37A2-290A264B3E0C}"/>
              </a:ext>
            </a:extLst>
          </p:cNvPr>
          <p:cNvSpPr/>
          <p:nvPr/>
        </p:nvSpPr>
        <p:spPr>
          <a:xfrm>
            <a:off x="1397000" y="5562600"/>
            <a:ext cx="9398000" cy="6350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B2B698-0A9B-687C-0915-AFD994117C5A}"/>
              </a:ext>
            </a:extLst>
          </p:cNvPr>
          <p:cNvSpPr txBox="1"/>
          <p:nvPr/>
        </p:nvSpPr>
        <p:spPr>
          <a:xfrm>
            <a:off x="1574800" y="5664200"/>
            <a:ext cx="904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Run 1-, 2-, and 4-week persistence definitions; report weekly denominators, events and censoring by nationality.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323759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9F8632-1138-FFC8-E40D-8CB93B6CC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E41866-B777-A93F-CB02-10173F42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A72F7-6801-BEB2-E748-09BE6D5D145A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8E84E-BE3C-7943-F3BA-712E30EBD722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9EA131-17F1-D5EC-AD4D-304C396A1402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992D1-D69E-6030-941C-93868DDDAD57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0F5BB-3DA3-B84F-C0BE-D10C86843217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1A2B60-0873-2712-9C9C-3DE77B7B44D7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C2F56D-5598-B8C8-C1D3-2E786A8BFD8A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C29DA8-4CA5-FC3C-D4BD-6F0587039B21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Re-estimation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11F3EE-763C-92E9-EF10-2033C729F024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5C8A2D-937A-E34F-E583-7A221DA9C86F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2A6593-5F5E-71F5-B6BA-33569C4BE361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2600" b="1">
                <a:solidFill>
                  <a:srgbClr val="000000"/>
                </a:solidFill>
                <a:latin typeface="Proxima Nova Rg"/>
              </a:rPr>
              <a:t>Preferred person-week specifications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5F4A1A-C0DC-4BB6-E7F3-D1D2876DBA90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71CAF0-A27E-7532-30A3-95D8E33DBACB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2C5FEC-F251-F7A6-609D-7299E3C56348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Linear probability baseline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F04DBC-7A17-1349-427B-432931D4B623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790713-4E8A-132E-0FEB-8BD5A03A84CB}"/>
              </a:ext>
            </a:extLst>
          </p:cNvPr>
          <p:cNvSpPr txBox="1"/>
          <p:nvPr/>
        </p:nvSpPr>
        <p:spPr>
          <a:xfrm>
            <a:off x="774700" y="2108200"/>
            <a:ext cx="5003800" cy="132087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Yᵢ,t+1 = week FE +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β(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AUᵢ×Postₜ)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+ pre-X weights/interactions + duration FE +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ε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ᵢt</a:t>
            </a:r>
          </a:p>
          <a:p>
            <a:pPr>
              <a:spcAft>
                <a:spcPts val="400"/>
              </a:spcAft>
            </a:pPr>
            <a:endParaRPr lang="en-NZ" sz="1450">
              <a:solidFill>
                <a:srgbClr val="4A4E50"/>
              </a:solidFill>
              <a:latin typeface="Proxima Nova Rg"/>
            </a:endParaRP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Easy to interpret in percentage points; estimate on weekly risk sets.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20D148-36D4-6672-1B30-CACDC3A5B5AF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EFE9E2-7EBC-E35A-F586-F6F0AC6DE4AA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Discrete-time hazard complement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835E64-B782-938E-21EF-D8A5CB4C8D0C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6C39B-492B-D8AC-BC7C-92DAD42D263E}"/>
              </a:ext>
            </a:extLst>
          </p:cNvPr>
          <p:cNvSpPr txBox="1"/>
          <p:nvPr/>
        </p:nvSpPr>
        <p:spPr>
          <a:xfrm>
            <a:off x="64135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Logit or complementary log-log link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Flexible duration dependence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Calendar-week effects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Matched-pair or weighting structure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Average marginal effects for comparability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2E71FB-0415-99FC-A968-9DD5332CBE2C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1FC24B-79E6-86AD-08E9-E32AA12C3463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Cell-level AU−NZ series remains essential for transparency and time-series inference; person-week estimation adds covariate and duration control.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621349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EBB1C9-CA03-BC58-A49F-C0F218F08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99F504-D4E0-85EE-B89E-F6F8C5B3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AE1F7F-8CA3-2AF0-D158-631BBFA35ABD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563A3-2798-5C3F-DB9A-7258BFDB5ACB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041EF-C25F-A5FD-2488-EF218084253C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026F3-904C-B038-AB74-9D717BAF400A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C315A2-6E21-A7CE-60F1-0F9AAD736BAD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69BEA-31D4-1BFF-D948-96433086872E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C4CC45-535A-1069-81D2-CCAF5495D58D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B912E-D204-9F32-EB28-5900012C301C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Re-estimation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D8DC0-CEF2-1AC3-96AD-5F0D505644BA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DEE34E-43C9-153C-873D-184B2A1356E8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F1E346-8C57-D1CB-5283-524A3E7CE240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Covariates should respect timing and risk-set mechanics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45EFD9-FC07-43AC-19A8-21674AA9360B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2F2828-7F61-4199-34AD-3E634CB04471}"/>
              </a:ext>
            </a:extLst>
          </p:cNvPr>
          <p:cNvSpPr txBox="1"/>
          <p:nvPr/>
        </p:nvSpPr>
        <p:spPr>
          <a:xfrm>
            <a:off x="736600" y="1422400"/>
            <a:ext cx="10668000" cy="24416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Calendar-week fixed effects.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Only pre-treatment demographic, household, industry, occupation, earnings and attachment measures.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Non-employment-duration fixed effects for job finding.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Job tenure or pre-policy attachment controls for employment exit where available.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Matched-pair fixed effects or design weights if matching remains central.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Region-by-week and industry-by-week controls only after checking they do not absorb the sole useful contrast.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Payroll cadence and employer coverage indicators.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Exact person, employer, person-week and event counts in every table.</a:t>
            </a:r>
            <a:endParaRPr lang="en-NZ" sz="16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B972B0-11B4-4A99-9FF6-73320794C18A}"/>
              </a:ext>
            </a:extLst>
          </p:cNvPr>
          <p:cNvSpPr/>
          <p:nvPr/>
        </p:nvSpPr>
        <p:spPr>
          <a:xfrm>
            <a:off x="698500" y="5435600"/>
            <a:ext cx="10668000" cy="7366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A1F1DE-4CA3-B78C-8A87-8E6BFA17C6BA}"/>
              </a:ext>
            </a:extLst>
          </p:cNvPr>
          <p:cNvSpPr txBox="1"/>
          <p:nvPr/>
        </p:nvSpPr>
        <p:spPr>
          <a:xfrm>
            <a:off x="876300" y="55372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The preferred specification should be chosen for design coherence—not because it maximises β/SE.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452804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098351-1BFB-D3C4-0068-EC535C77C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23FE5-9D0F-A2BD-4E19-841C4324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C3F662-3662-39C2-550B-407E5A06BAED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02E63-BAEA-6CA9-ADDB-6DD7726E94A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625E7-3B02-7D4A-28CB-FE979976F641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37C81-81C9-4BD2-4ABC-DB36A74D484F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471C1A-DDBE-782B-B9E4-D26D5B993143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9707D-2F03-B1B5-0272-0EF02C47B8C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E893C9-57A6-D769-7AAD-E68FFC27C509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65D6A1-0AD7-5F8A-8E1E-42B7B3B591E3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Re-estimation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FC05E7-388A-313F-F540-1D3095BE2659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39EE49-C70C-973C-BEC3-5DE7F3515E8B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094417-F8E9-A51D-C38C-4E41C2E75898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Event-study design should diagnose dynamics, not certify parallel trends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3540C3-13FD-9464-FE95-9CAFD12493E4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CD0A87-52DC-068F-6CC7-DDEC7CA52F34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42F137-0703-B1B6-0594-F7191D3DA33B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Main figure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6BAF97-9356-DC69-5A4C-7D665F85E80A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5B810F-4E5E-BA42-1FDD-53CB0BDD0725}"/>
              </a:ext>
            </a:extLst>
          </p:cNvPr>
          <p:cNvSpPr txBox="1"/>
          <p:nvPr/>
        </p:nvSpPr>
        <p:spPr>
          <a:xfrm>
            <a:off x="7747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Weekly AU−NZ adjusted gap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One omitted pre-period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Long 2019 pre-window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Announcement and payment markers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Confidence bands using design-specific uncertainty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8DD49F-E077-56CB-3C8F-DC42890738EC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F8E743-2FCD-B194-4EC8-C3898FD8DEA7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Sensitivity overlays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DE509C-459A-5AE3-C33F-76817CA72A63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3EA41D-EE61-7108-B591-11587BFCF07E}"/>
              </a:ext>
            </a:extLst>
          </p:cNvPr>
          <p:cNvSpPr txBox="1"/>
          <p:nvPr/>
        </p:nvSpPr>
        <p:spPr>
          <a:xfrm>
            <a:off x="6413500" y="2108200"/>
            <a:ext cx="5003800" cy="164660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Alternative cohort/risk-set definitions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HonestDiD bounds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JobKeeper exposure split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Leave-one-industry/region/age-out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Fortnightly aggregation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Post-taper and expiry dynamics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29DB5AF-715D-CC6C-2C68-9E1DCD71A3F4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21ECBD-5B5E-96C2-74DA-F9306857AAD8}"/>
              </a:ext>
            </a:extLst>
          </p:cNvPr>
          <p:cNvSpPr txBox="1"/>
          <p:nvPr/>
        </p:nvSpPr>
        <p:spPr>
          <a:xfrm>
            <a:off x="876300" y="55753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A good event study makes the identifying comparison visually auditable week by week.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920226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F1D70-6BCC-69B5-E022-D295FD7E3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3B8C91-7134-40DA-4EBD-746F4A8D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A99B5-61D7-B525-59AC-E799A18BC1F1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98D8F-3DBC-C7BB-5CF3-F0BAA49EBA3F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E186DE-C56F-3710-0F4F-54959415082D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4F19A-3E8D-DE8F-38C6-CC50A10C89DB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DE89D9-DE99-3F5A-204C-21A1AEA605B8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AB094-A337-87AE-6BB2-C12DCF7DC404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1B1396-75C8-28D1-3989-2E80798AA955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60615-5C18-68E7-E8E7-238FC5D0E94D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Re-estimation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B4E025-347B-464F-5B70-1EC83343BD22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9DB955-FF3B-91A3-9573-AD39F23EA466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A7597D-697D-FB90-9B6A-FDE797C0A0E7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Mutual obligations require a direct pooled triple difference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3A7A99-7C1C-DC47-C776-FC6887E344F4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EDB246-9263-979E-A39B-172D11CC406C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12FB92-CD35-5F80-0023-B72EC4DB3259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Current approach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A64DB2-D360-8B35-4081-DA493E5861EA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7A6FE3-DB69-19B6-392F-E521D42D211B}"/>
              </a:ext>
            </a:extLst>
          </p:cNvPr>
          <p:cNvSpPr txBox="1"/>
          <p:nvPr/>
        </p:nvSpPr>
        <p:spPr>
          <a:xfrm>
            <a:off x="774700" y="2108200"/>
            <a:ext cx="5003800" cy="7720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Run separate Victoria and non-Victoria DiDs around July.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One insignificant coefficient and one significant coefficient do not imply the coefficients differ.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EF9B80-775E-0733-3542-C8F8E134F28E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74E04C-D5F0-990A-BFFD-78A4398981B4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Required test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B08106-0EF1-977C-3DD4-245E66E1AF40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085299-DEFA-E249-8838-BCDA16DC616E}"/>
              </a:ext>
            </a:extLst>
          </p:cNvPr>
          <p:cNvSpPr txBox="1"/>
          <p:nvPr/>
        </p:nvSpPr>
        <p:spPr>
          <a:xfrm>
            <a:off x="6413500" y="2108200"/>
            <a:ext cx="5003800" cy="12695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Estimate AU × Post × NonVictoria with all lower-order terms.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Test the triple interaction directly.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Plot dynamics and confront Victoriaʼs distinct outbreak/restrictions.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36650AB-DE9C-B8AF-53B9-D69867B52091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D1AC5D-ECEF-1E94-B31E-EFE9DD6FB383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Interpret modestly: differential nationality gaps when requirements resumed—not a clean proof of «motivation» or zero conditionality effects.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696677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732CC5-FF14-C98C-1A92-565F275FB4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1F21FA-F05E-9A2A-5A8E-DE274E39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FE0986-F12F-0CCB-27E9-FFBBB9972B94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CE176-4083-650E-B30F-697F33A73668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0C10C6-4E15-AC91-8F14-49BF3B15353E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DE622-350B-9AA4-EA58-898E75114D36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932F25-17E1-E8E5-A35D-C7D2AD9930F0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E7C18-A0B7-F0F8-E018-92328FC5BF6E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D57FC9-A552-88BA-9498-8651AB00B100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368AC-0313-198D-1FB7-2F9B1D8F3751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Re-estimation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D50EF7-1DAB-F294-25CD-623F70236682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7E9931-4DB6-A10A-4389-783F456DD4DB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965E67-AB12-791F-ED3C-52537B781C61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Heterogeneity should use actual predicted replacement-rate changes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C7DFEB-6697-6832-DC58-FF2220EA4D90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E80DCF-D592-A659-9204-587836CC6DD6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0969B-F573-158A-7862-DBAE4E2C8414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Current problem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1CA2C4-061B-A9F7-9134-BD491A60D69A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320E60-7E80-60F7-FCD5-FC5EC245765A}"/>
              </a:ext>
            </a:extLst>
          </p:cNvPr>
          <p:cNvSpPr txBox="1"/>
          <p:nvPr/>
        </p:nvSpPr>
        <p:spPr>
          <a:xfrm>
            <a:off x="774700" y="2108200"/>
            <a:ext cx="5003800" cy="12695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Income-bin DiDs are −2.37, −4.25 and −6.04 pp from low to high income.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The model file relabels these as low/mid/high replacement rates using placeholder rates.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That mapping is not valid.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E375C2-81B3-F256-2B45-D06E01DC2E62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2E0FF0-9AC8-393C-C007-3B4B4E1892B1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Required construction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2DB498-24BF-ABDC-7AC4-82AB0AB80AD5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50AFE4-46D4-B724-484B-7CC3AE119C9D}"/>
              </a:ext>
            </a:extLst>
          </p:cNvPr>
          <p:cNvSpPr txBox="1"/>
          <p:nvPr/>
        </p:nvSpPr>
        <p:spPr>
          <a:xfrm>
            <a:off x="6413500" y="2108200"/>
            <a:ext cx="5003800" cy="12695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Predict statutory pre/post entitlement from pre-policy household information.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Divide by a clearly defined pre-displacement wage.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Estimate continuous/bin/spline interactions and direct equality/trend tests.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2177F93-9D14-806A-B8EB-DA8B27F30F91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B5E116-E1CC-9AED-C1E6-837EF6A2AE67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Show absolute benefit changes and proportional replacement-rate changes; separate them from sector, age and household exposure.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940161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711F7B-B5AB-F343-F45A-C540B2E16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9E16CF-77CE-DE0D-C4DF-ECD44C35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93F667-7317-79D2-DCF7-22A616CED0FA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4E916-43D4-64AD-9714-CDD046265608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926FB7-4D1E-287B-7569-70C94C3DFE5D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C56567-9530-F342-DD1B-E4EA3DA9F00D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7A4263-0FEE-06D7-EB75-EC248DCB921C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540832-FE3F-0CFD-188A-F46ADEBEB11E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283BB9-2452-CDD1-7459-0EA831EAB848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B48C00-6D13-1576-B599-23F1232BF1B6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Re-estimation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46F6D4-E878-3E12-D34D-30730DC42CB8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0A43DF-F60A-EA4D-C3C2-0A9C50B35CEA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F1144-7F06-5887-A9E4-A2CC8D6CDEFE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earnings / match-quality claim needs a real treatment-effect design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162469-F261-CCB4-A5A6-93ED5D39F7F3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0ACA33-B535-97A5-CBAA-C648124459BE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088155-6D41-D129-7E6D-A0A6039BE852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To retain the claim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32DA3D-8378-B31A-24AB-CF73DEA1EC43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8B395D-52D0-710F-8DE5-F10060DFA01B}"/>
              </a:ext>
            </a:extLst>
          </p:cNvPr>
          <p:cNvSpPr txBox="1"/>
          <p:nvPr/>
        </p:nvSpPr>
        <p:spPr>
          <a:xfrm>
            <a:off x="774700" y="2108200"/>
            <a:ext cx="5003800" cy="19210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Unconditional earnings including zeros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Conditional re-employment wages with selection caveat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Quarterly/weekly dynamics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2021–22 outcomes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Employer/occupation quality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13/26/52-week retention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Confidence intervals and selection bounds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9E0279-BC5E-22BD-68B4-3C3A009C9D41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6506C9-DD5E-55BF-9D64-D83C1F60BE3B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If not feasible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EEE4A2-2EFF-A16C-CE93-DBDCB25D5DDD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06A2C2-2E89-A3A0-2E72-8A792AD76D22}"/>
              </a:ext>
            </a:extLst>
          </p:cNvPr>
          <p:cNvSpPr txBox="1"/>
          <p:nvPr/>
        </p:nvSpPr>
        <p:spPr>
          <a:xfrm>
            <a:off x="6413500" y="2108200"/>
            <a:ext cx="5003800" cy="99514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Remove «no subsequent earnings gain» from abstract, introduction and conclusion.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Keep descriptive indices only as secondary context with limited language.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2C16F9F-0ABB-3BE6-2327-9338FC76B965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601262-BF4B-A8BD-2DB8-878D7208ED81}"/>
              </a:ext>
            </a:extLst>
          </p:cNvPr>
          <p:cNvSpPr txBox="1"/>
          <p:nvPr/>
        </p:nvSpPr>
        <p:spPr>
          <a:xfrm>
            <a:off x="876300" y="55753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A null descriptive pattern is not evidence of no causal match-quality benefit.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129078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0C036-7E76-E20A-ECAD-B7BE12BB8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3B0B21-54C9-45DA-46E5-68F1CB7F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475233-2473-A2C7-73CC-63AF2B8FC8CF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CDC7A-186F-70CA-43DC-2B97B4F2BDA7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D6D50-A44A-F391-B1ED-1CC9A9E46E68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32ED77-08BE-8DCB-1C01-417375045863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53E428-B119-7FBB-66D2-555B724A3413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26851-633C-E812-2C9E-720403F38546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977D1-5993-47BC-D9D6-FA1326C5ABED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C797E-09C1-8C66-96A2-0FEE4FDEDA5A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Re-estimation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F0B282-AE03-A668-DF5D-8DC7E3BCAC60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7F0DD7-069B-5883-BE51-35378205BF31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6BC9B2-68FA-FA3E-697F-793039E55C60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Robustness should target specific failure modes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FDBB42-0766-8C3F-96E1-63B68828019C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2CECEE-2BC8-EB54-77BE-A014492DD392}"/>
              </a:ext>
            </a:extLst>
          </p:cNvPr>
          <p:cNvSpPr/>
          <p:nvPr/>
        </p:nvSpPr>
        <p:spPr>
          <a:xfrm>
            <a:off x="609600" y="1473200"/>
            <a:ext cx="2743200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A48402-56FF-E4DC-EE49-FDD19067D9EC}"/>
              </a:ext>
            </a:extLst>
          </p:cNvPr>
          <p:cNvSpPr txBox="1"/>
          <p:nvPr/>
        </p:nvSpPr>
        <p:spPr>
          <a:xfrm>
            <a:off x="673100" y="1549400"/>
            <a:ext cx="2616200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Threat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DAAE54-2F9C-EB4B-B7A3-2B684A7876EB}"/>
              </a:ext>
            </a:extLst>
          </p:cNvPr>
          <p:cNvSpPr/>
          <p:nvPr/>
        </p:nvSpPr>
        <p:spPr>
          <a:xfrm>
            <a:off x="3352800" y="1473200"/>
            <a:ext cx="5064369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537664-958A-C9A8-E14F-EF7D918A3D24}"/>
              </a:ext>
            </a:extLst>
          </p:cNvPr>
          <p:cNvSpPr txBox="1"/>
          <p:nvPr/>
        </p:nvSpPr>
        <p:spPr>
          <a:xfrm>
            <a:off x="3416300" y="1549400"/>
            <a:ext cx="4937369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High-value check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DBAFEF-0FE4-CBD6-6704-8B1D2E4C6DB8}"/>
              </a:ext>
            </a:extLst>
          </p:cNvPr>
          <p:cNvSpPr/>
          <p:nvPr/>
        </p:nvSpPr>
        <p:spPr>
          <a:xfrm>
            <a:off x="8417169" y="1473200"/>
            <a:ext cx="3165231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2B8459-1180-9527-ECDE-13A77B109EFF}"/>
              </a:ext>
            </a:extLst>
          </p:cNvPr>
          <p:cNvSpPr txBox="1"/>
          <p:nvPr/>
        </p:nvSpPr>
        <p:spPr>
          <a:xfrm>
            <a:off x="8480669" y="1549400"/>
            <a:ext cx="3038231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What would worry us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2E48DB-D513-07FC-321D-3CC47AE4D79C}"/>
              </a:ext>
            </a:extLst>
          </p:cNvPr>
          <p:cNvSpPr/>
          <p:nvPr/>
        </p:nvSpPr>
        <p:spPr>
          <a:xfrm>
            <a:off x="609600" y="1993900"/>
            <a:ext cx="27432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08CB77-BE18-5451-5074-9B691581EBBE}"/>
              </a:ext>
            </a:extLst>
          </p:cNvPr>
          <p:cNvSpPr txBox="1"/>
          <p:nvPr/>
        </p:nvSpPr>
        <p:spPr>
          <a:xfrm>
            <a:off x="673100" y="2057400"/>
            <a:ext cx="2616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Seasonality / break mining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49E9EB-6550-480B-ABCC-9EE7864E93FC}"/>
              </a:ext>
            </a:extLst>
          </p:cNvPr>
          <p:cNvSpPr/>
          <p:nvPr/>
        </p:nvSpPr>
        <p:spPr>
          <a:xfrm>
            <a:off x="3352800" y="1993900"/>
            <a:ext cx="5064369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14A49E-8563-BB42-53FF-3A24822AFFFE}"/>
              </a:ext>
            </a:extLst>
          </p:cNvPr>
          <p:cNvSpPr txBox="1"/>
          <p:nvPr/>
        </p:nvSpPr>
        <p:spPr>
          <a:xfrm>
            <a:off x="3416300" y="20574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Multiple pseudo-dates and 2019/2022 placebos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63E849-CF4A-4578-72DC-C7989C2AAE25}"/>
              </a:ext>
            </a:extLst>
          </p:cNvPr>
          <p:cNvSpPr/>
          <p:nvPr/>
        </p:nvSpPr>
        <p:spPr>
          <a:xfrm>
            <a:off x="8417169" y="1993900"/>
            <a:ext cx="3165231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161816-2860-10B2-0AF7-08A421599AEC}"/>
              </a:ext>
            </a:extLst>
          </p:cNvPr>
          <p:cNvSpPr txBox="1"/>
          <p:nvPr/>
        </p:nvSpPr>
        <p:spPr>
          <a:xfrm>
            <a:off x="8480669" y="2057400"/>
            <a:ext cx="30382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Similar breaks occur often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464037-5B4D-5C0B-5780-222B0E25EB0D}"/>
              </a:ext>
            </a:extLst>
          </p:cNvPr>
          <p:cNvSpPr/>
          <p:nvPr/>
        </p:nvSpPr>
        <p:spPr>
          <a:xfrm>
            <a:off x="609600" y="2514600"/>
            <a:ext cx="27432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B1AE8D-13A4-E98E-A7DA-BD3FB9FB7F59}"/>
              </a:ext>
            </a:extLst>
          </p:cNvPr>
          <p:cNvSpPr txBox="1"/>
          <p:nvPr/>
        </p:nvSpPr>
        <p:spPr>
          <a:xfrm>
            <a:off x="673100" y="2578100"/>
            <a:ext cx="2616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Outcome definition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45C0F-ACAC-D6AC-E92D-F6599E842239}"/>
              </a:ext>
            </a:extLst>
          </p:cNvPr>
          <p:cNvSpPr/>
          <p:nvPr/>
        </p:nvSpPr>
        <p:spPr>
          <a:xfrm>
            <a:off x="3352800" y="2514600"/>
            <a:ext cx="5064369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C9D1FE-F1E4-7E5D-B938-B4CAFB63A77F}"/>
              </a:ext>
            </a:extLst>
          </p:cNvPr>
          <p:cNvSpPr txBox="1"/>
          <p:nvPr/>
        </p:nvSpPr>
        <p:spPr>
          <a:xfrm>
            <a:off x="3416300" y="25781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1/2/4-week persistence; fortnightly aggregation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8496F2-50F3-D0EB-C284-7495C577C77F}"/>
              </a:ext>
            </a:extLst>
          </p:cNvPr>
          <p:cNvSpPr/>
          <p:nvPr/>
        </p:nvSpPr>
        <p:spPr>
          <a:xfrm>
            <a:off x="8417169" y="2514600"/>
            <a:ext cx="3165231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F2291-700F-2005-EC03-45FEDB8EB60B}"/>
              </a:ext>
            </a:extLst>
          </p:cNvPr>
          <p:cNvSpPr txBox="1"/>
          <p:nvPr/>
        </p:nvSpPr>
        <p:spPr>
          <a:xfrm>
            <a:off x="8480669" y="2578100"/>
            <a:ext cx="30382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Effect appears only under one cadence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73F9D3-9582-1AD6-44ED-10D0A850AC2D}"/>
              </a:ext>
            </a:extLst>
          </p:cNvPr>
          <p:cNvSpPr/>
          <p:nvPr/>
        </p:nvSpPr>
        <p:spPr>
          <a:xfrm>
            <a:off x="609600" y="3035300"/>
            <a:ext cx="27432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927919-94DF-6B6A-A853-13D5E6125AD8}"/>
              </a:ext>
            </a:extLst>
          </p:cNvPr>
          <p:cNvSpPr txBox="1"/>
          <p:nvPr/>
        </p:nvSpPr>
        <p:spPr>
          <a:xfrm>
            <a:off x="673100" y="3098800"/>
            <a:ext cx="2616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Policy timing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F36FCE-2544-B7DC-8A8F-3F40F7BFCDF4}"/>
              </a:ext>
            </a:extLst>
          </p:cNvPr>
          <p:cNvSpPr/>
          <p:nvPr/>
        </p:nvSpPr>
        <p:spPr>
          <a:xfrm>
            <a:off x="3352800" y="3035300"/>
            <a:ext cx="5064369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9224B6-BBBB-E13D-49D7-8BF56ACF58EC}"/>
              </a:ext>
            </a:extLst>
          </p:cNvPr>
          <p:cNvSpPr txBox="1"/>
          <p:nvPr/>
        </p:nvSpPr>
        <p:spPr>
          <a:xfrm>
            <a:off x="3416300" y="30988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22 Mar, 24 Mar, early Apr, 27 Apr; anticipation windows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3B7EAF2-A7F8-2C82-9D4E-55E67EFCC5ED}"/>
              </a:ext>
            </a:extLst>
          </p:cNvPr>
          <p:cNvSpPr/>
          <p:nvPr/>
        </p:nvSpPr>
        <p:spPr>
          <a:xfrm>
            <a:off x="8417169" y="3035300"/>
            <a:ext cx="3165231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C9B7B2-0713-2001-EC05-F314DA5466E2}"/>
              </a:ext>
            </a:extLst>
          </p:cNvPr>
          <p:cNvSpPr txBox="1"/>
          <p:nvPr/>
        </p:nvSpPr>
        <p:spPr>
          <a:xfrm>
            <a:off x="8480669" y="3098800"/>
            <a:ext cx="30382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Estimate depends on undocumented cut-off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237EFE-9572-F1F5-0E18-6B914F037D6C}"/>
              </a:ext>
            </a:extLst>
          </p:cNvPr>
          <p:cNvSpPr/>
          <p:nvPr/>
        </p:nvSpPr>
        <p:spPr>
          <a:xfrm>
            <a:off x="609600" y="3556000"/>
            <a:ext cx="27432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79039C-0A37-2947-8A3F-DD9971C5A4A3}"/>
              </a:ext>
            </a:extLst>
          </p:cNvPr>
          <p:cNvSpPr txBox="1"/>
          <p:nvPr/>
        </p:nvSpPr>
        <p:spPr>
          <a:xfrm>
            <a:off x="673100" y="3619500"/>
            <a:ext cx="2616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Composition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9A0E59-6227-83B4-85F5-B841D252C56D}"/>
              </a:ext>
            </a:extLst>
          </p:cNvPr>
          <p:cNvSpPr/>
          <p:nvPr/>
        </p:nvSpPr>
        <p:spPr>
          <a:xfrm>
            <a:off x="3352800" y="3556000"/>
            <a:ext cx="5064369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0410B1-2773-FF20-A3B6-B576DA9D16B5}"/>
              </a:ext>
            </a:extLst>
          </p:cNvPr>
          <p:cNvSpPr txBox="1"/>
          <p:nvPr/>
        </p:nvSpPr>
        <p:spPr>
          <a:xfrm>
            <a:off x="3416300" y="36195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Balanced/open cohorts; leave-one-group-out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4482A01-E305-B054-4F5E-249851DCFD5C}"/>
              </a:ext>
            </a:extLst>
          </p:cNvPr>
          <p:cNvSpPr/>
          <p:nvPr/>
        </p:nvSpPr>
        <p:spPr>
          <a:xfrm>
            <a:off x="8417169" y="3556000"/>
            <a:ext cx="3165231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FDE12B-7B97-860A-4784-BDAED0A9F25E}"/>
              </a:ext>
            </a:extLst>
          </p:cNvPr>
          <p:cNvSpPr txBox="1"/>
          <p:nvPr/>
        </p:nvSpPr>
        <p:spPr>
          <a:xfrm>
            <a:off x="8480669" y="3619500"/>
            <a:ext cx="30382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One industry/region/age drives result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4CEF1A6-608C-BF4D-FF69-FF589203EFC1}"/>
              </a:ext>
            </a:extLst>
          </p:cNvPr>
          <p:cNvSpPr/>
          <p:nvPr/>
        </p:nvSpPr>
        <p:spPr>
          <a:xfrm>
            <a:off x="609600" y="4076700"/>
            <a:ext cx="27432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06958B-7F76-A54C-5086-05D7362A8A43}"/>
              </a:ext>
            </a:extLst>
          </p:cNvPr>
          <p:cNvSpPr txBox="1"/>
          <p:nvPr/>
        </p:nvSpPr>
        <p:spPr>
          <a:xfrm>
            <a:off x="673100" y="4140200"/>
            <a:ext cx="2616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JobKeeper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4A8EE6A-BC04-1FF4-000B-1707E24220AE}"/>
              </a:ext>
            </a:extLst>
          </p:cNvPr>
          <p:cNvSpPr/>
          <p:nvPr/>
        </p:nvSpPr>
        <p:spPr>
          <a:xfrm>
            <a:off x="3352800" y="4076700"/>
            <a:ext cx="5064369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F22A70-0607-98F8-ED11-DFB55E584BD4}"/>
              </a:ext>
            </a:extLst>
          </p:cNvPr>
          <p:cNvSpPr txBox="1"/>
          <p:nvPr/>
        </p:nvSpPr>
        <p:spPr>
          <a:xfrm>
            <a:off x="3416300" y="41402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Actual/predicted exposure splits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AED5903-E6D2-E511-58CF-CFF430943DB8}"/>
              </a:ext>
            </a:extLst>
          </p:cNvPr>
          <p:cNvSpPr/>
          <p:nvPr/>
        </p:nvSpPr>
        <p:spPr>
          <a:xfrm>
            <a:off x="8417169" y="4076700"/>
            <a:ext cx="3165231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0F442D-10CB-3BD7-F70E-45E8EF126CF1}"/>
              </a:ext>
            </a:extLst>
          </p:cNvPr>
          <p:cNvSpPr txBox="1"/>
          <p:nvPr/>
        </p:nvSpPr>
        <p:spPr>
          <a:xfrm>
            <a:off x="8480669" y="4140200"/>
            <a:ext cx="30382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Exit effect concentrated in supported jobs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330C45-4F43-2B30-EAFF-F409CE22BF00}"/>
              </a:ext>
            </a:extLst>
          </p:cNvPr>
          <p:cNvSpPr/>
          <p:nvPr/>
        </p:nvSpPr>
        <p:spPr>
          <a:xfrm>
            <a:off x="609600" y="4597400"/>
            <a:ext cx="27432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3E8012-CBCC-634D-434D-7BE794884221}"/>
              </a:ext>
            </a:extLst>
          </p:cNvPr>
          <p:cNvSpPr txBox="1"/>
          <p:nvPr/>
        </p:nvSpPr>
        <p:spPr>
          <a:xfrm>
            <a:off x="673100" y="4660900"/>
            <a:ext cx="2616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Matching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611539-0E75-396B-D883-E55B203D040A}"/>
              </a:ext>
            </a:extLst>
          </p:cNvPr>
          <p:cNvSpPr/>
          <p:nvPr/>
        </p:nvSpPr>
        <p:spPr>
          <a:xfrm>
            <a:off x="3352800" y="4597400"/>
            <a:ext cx="5064369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6974CB-4102-E255-553D-5ED1CEBE85FC}"/>
              </a:ext>
            </a:extLst>
          </p:cNvPr>
          <p:cNvSpPr txBox="1"/>
          <p:nvPr/>
        </p:nvSpPr>
        <p:spPr>
          <a:xfrm>
            <a:off x="3416300" y="46609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Calipers, replacement, overlap/entropy weights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E229CCE-250E-F4D1-4218-B4310D218321}"/>
              </a:ext>
            </a:extLst>
          </p:cNvPr>
          <p:cNvSpPr/>
          <p:nvPr/>
        </p:nvSpPr>
        <p:spPr>
          <a:xfrm>
            <a:off x="8417169" y="4597400"/>
            <a:ext cx="3165231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538350-7138-12EC-4E31-64A77E987195}"/>
              </a:ext>
            </a:extLst>
          </p:cNvPr>
          <p:cNvSpPr txBox="1"/>
          <p:nvPr/>
        </p:nvSpPr>
        <p:spPr>
          <a:xfrm>
            <a:off x="8480669" y="4660900"/>
            <a:ext cx="30382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Poor overlap or sign instability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F2CA86-E5D7-19E8-E1B8-E2B7811755FE}"/>
              </a:ext>
            </a:extLst>
          </p:cNvPr>
          <p:cNvSpPr/>
          <p:nvPr/>
        </p:nvSpPr>
        <p:spPr>
          <a:xfrm>
            <a:off x="609600" y="5118100"/>
            <a:ext cx="27432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C88D71-06A1-1FC5-65D7-E091AD1FA1D7}"/>
              </a:ext>
            </a:extLst>
          </p:cNvPr>
          <p:cNvSpPr txBox="1"/>
          <p:nvPr/>
        </p:nvSpPr>
        <p:spPr>
          <a:xfrm>
            <a:off x="673100" y="5181600"/>
            <a:ext cx="2616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Parallel trends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D206AB3-E1EE-A13E-B81B-207F59532789}"/>
              </a:ext>
            </a:extLst>
          </p:cNvPr>
          <p:cNvSpPr/>
          <p:nvPr/>
        </p:nvSpPr>
        <p:spPr>
          <a:xfrm>
            <a:off x="3352800" y="5118100"/>
            <a:ext cx="5064369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94CFEC-D708-8733-17A0-222B8A5EAA21}"/>
              </a:ext>
            </a:extLst>
          </p:cNvPr>
          <p:cNvSpPr txBox="1"/>
          <p:nvPr/>
        </p:nvSpPr>
        <p:spPr>
          <a:xfrm>
            <a:off x="3416300" y="51816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Long pre-period + HonestDiD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D2E57F4-E56B-22C0-D24A-EFD6047ADEF5}"/>
              </a:ext>
            </a:extLst>
          </p:cNvPr>
          <p:cNvSpPr/>
          <p:nvPr/>
        </p:nvSpPr>
        <p:spPr>
          <a:xfrm>
            <a:off x="8417169" y="5118100"/>
            <a:ext cx="3165231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AE2746-4178-6857-74A2-5DDA97E3D9B3}"/>
              </a:ext>
            </a:extLst>
          </p:cNvPr>
          <p:cNvSpPr txBox="1"/>
          <p:nvPr/>
        </p:nvSpPr>
        <p:spPr>
          <a:xfrm>
            <a:off x="8480669" y="5181600"/>
            <a:ext cx="303823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Small plausible drift overturns result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E6544F3-F004-BF69-109D-A686E3B343C1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51DE7E-428D-1AFE-A906-28669C7E59E4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Summarise a pre-specified battery in a robustness table/specification curve; avoid dozens of selectively narrated regressions.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785938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8BFC03-B0FC-22D9-16DD-D302D07156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CB9EC1-BA4B-9D1B-96B4-36AEDADE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F26D9F-0C82-1220-BE7D-F5A1C77DE33F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7A3E4-1C50-72AE-16CE-2C2274BBE77D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BBC98-180F-58C9-B361-A19E971AB8E3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1AA6E-06DA-C2FF-3CFE-8904B214F288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3DE201-E494-7493-9A65-64E1DF280A68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9E7D59-5C95-B1CA-ABDE-15D55723C1D8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5059C5-2880-5356-4576-7EAF494A7A88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F1C8D3-96FD-9B9A-EAD7-15394BB863E7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Re-estimation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0DC56F-EC49-986C-88DA-FBC218CB7040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7532EF-1AE0-FCF4-45C6-EFF3403B5AB9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Paper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CCEC8B-D6A1-0A2C-0232-F7E7A3B7750B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main paper needs a small set of decisive empirical exhibits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860E32-6DA8-717C-6BD9-4B66C246EE69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F7C4D6-2492-4C2B-2823-AE82294AC9BD}"/>
              </a:ext>
            </a:extLst>
          </p:cNvPr>
          <p:cNvSpPr/>
          <p:nvPr/>
        </p:nvSpPr>
        <p:spPr>
          <a:xfrm>
            <a:off x="609600" y="1473200"/>
            <a:ext cx="738554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95023B-B363-D855-D112-A361D9EEC702}"/>
              </a:ext>
            </a:extLst>
          </p:cNvPr>
          <p:cNvSpPr txBox="1"/>
          <p:nvPr/>
        </p:nvSpPr>
        <p:spPr>
          <a:xfrm>
            <a:off x="673100" y="1549400"/>
            <a:ext cx="611554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#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A58F9E-9DAE-8260-874B-4D0AC4AFB4CD}"/>
              </a:ext>
            </a:extLst>
          </p:cNvPr>
          <p:cNvSpPr/>
          <p:nvPr/>
        </p:nvSpPr>
        <p:spPr>
          <a:xfrm>
            <a:off x="1348154" y="1473200"/>
            <a:ext cx="5064369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084E6F-2D37-F976-C1D3-9993863D11FB}"/>
              </a:ext>
            </a:extLst>
          </p:cNvPr>
          <p:cNvSpPr txBox="1"/>
          <p:nvPr/>
        </p:nvSpPr>
        <p:spPr>
          <a:xfrm>
            <a:off x="1411654" y="1549400"/>
            <a:ext cx="4937369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Exhibit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CAA4D9-237B-0116-F5E3-25A5786D8FA1}"/>
              </a:ext>
            </a:extLst>
          </p:cNvPr>
          <p:cNvSpPr/>
          <p:nvPr/>
        </p:nvSpPr>
        <p:spPr>
          <a:xfrm>
            <a:off x="6412523" y="1473200"/>
            <a:ext cx="5169877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FB6AFE-C785-33B3-8A72-3CB5CF8A2052}"/>
              </a:ext>
            </a:extLst>
          </p:cNvPr>
          <p:cNvSpPr txBox="1"/>
          <p:nvPr/>
        </p:nvSpPr>
        <p:spPr>
          <a:xfrm>
            <a:off x="6476023" y="1549400"/>
            <a:ext cx="5042877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Question answered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174CA0-DF0E-96EF-8AA3-94F73ECD7B0A}"/>
              </a:ext>
            </a:extLst>
          </p:cNvPr>
          <p:cNvSpPr/>
          <p:nvPr/>
        </p:nvSpPr>
        <p:spPr>
          <a:xfrm>
            <a:off x="609600" y="1993900"/>
            <a:ext cx="738554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48A0EB-11F3-C38C-FDFF-A6D404C1845A}"/>
              </a:ext>
            </a:extLst>
          </p:cNvPr>
          <p:cNvSpPr txBox="1"/>
          <p:nvPr/>
        </p:nvSpPr>
        <p:spPr>
          <a:xfrm>
            <a:off x="673100" y="2057400"/>
            <a:ext cx="6115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1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40B720-ED31-BA5B-FFB0-E64B99C87F81}"/>
              </a:ext>
            </a:extLst>
          </p:cNvPr>
          <p:cNvSpPr/>
          <p:nvPr/>
        </p:nvSpPr>
        <p:spPr>
          <a:xfrm>
            <a:off x="1348154" y="1993900"/>
            <a:ext cx="5064369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6F9BD4-FCBA-FD92-5581-7B35470EE13E}"/>
              </a:ext>
            </a:extLst>
          </p:cNvPr>
          <p:cNvSpPr txBox="1"/>
          <p:nvPr/>
        </p:nvSpPr>
        <p:spPr>
          <a:xfrm>
            <a:off x="1411654" y="20574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Institutional timeline + eligibility diagram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CE096A-841F-7C0B-0C4D-0344C8B019FA}"/>
              </a:ext>
            </a:extLst>
          </p:cNvPr>
          <p:cNvSpPr/>
          <p:nvPr/>
        </p:nvSpPr>
        <p:spPr>
          <a:xfrm>
            <a:off x="6412523" y="1993900"/>
            <a:ext cx="5169877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1A1C6A-35D3-E6A7-43D0-D5450C3B3039}"/>
              </a:ext>
            </a:extLst>
          </p:cNvPr>
          <p:cNvSpPr txBox="1"/>
          <p:nvPr/>
        </p:nvSpPr>
        <p:spPr>
          <a:xfrm>
            <a:off x="6476023" y="2057400"/>
            <a:ext cx="50428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Who is exposed to which policy component and when?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FFF102-F86F-4388-8C92-4A902F984869}"/>
              </a:ext>
            </a:extLst>
          </p:cNvPr>
          <p:cNvSpPr/>
          <p:nvPr/>
        </p:nvSpPr>
        <p:spPr>
          <a:xfrm>
            <a:off x="609600" y="2514600"/>
            <a:ext cx="738554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928BA5-7E99-58EA-EAB7-E954C6AC8946}"/>
              </a:ext>
            </a:extLst>
          </p:cNvPr>
          <p:cNvSpPr txBox="1"/>
          <p:nvPr/>
        </p:nvSpPr>
        <p:spPr>
          <a:xfrm>
            <a:off x="673100" y="2578100"/>
            <a:ext cx="6115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2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123487-B864-88CD-3E99-58564279F450}"/>
              </a:ext>
            </a:extLst>
          </p:cNvPr>
          <p:cNvSpPr/>
          <p:nvPr/>
        </p:nvSpPr>
        <p:spPr>
          <a:xfrm>
            <a:off x="1348154" y="2514600"/>
            <a:ext cx="5064369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BC278D-730D-BABC-38C2-8CD79E664F21}"/>
              </a:ext>
            </a:extLst>
          </p:cNvPr>
          <p:cNvSpPr txBox="1"/>
          <p:nvPr/>
        </p:nvSpPr>
        <p:spPr>
          <a:xfrm>
            <a:off x="1411654" y="25781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Cohort and balance table + Love plot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D59425-F2F8-30C7-BF3A-E1DC90618180}"/>
              </a:ext>
            </a:extLst>
          </p:cNvPr>
          <p:cNvSpPr/>
          <p:nvPr/>
        </p:nvSpPr>
        <p:spPr>
          <a:xfrm>
            <a:off x="6412523" y="2514600"/>
            <a:ext cx="5169877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186325-0E6B-44CC-1CFF-D141FFC42FD1}"/>
              </a:ext>
            </a:extLst>
          </p:cNvPr>
          <p:cNvSpPr txBox="1"/>
          <p:nvPr/>
        </p:nvSpPr>
        <p:spPr>
          <a:xfrm>
            <a:off x="6476023" y="2578100"/>
            <a:ext cx="5042877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Are groups comparable on pre-policy variables and outcomes?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B1F78D-7005-B401-78DB-0A66A72888EB}"/>
              </a:ext>
            </a:extLst>
          </p:cNvPr>
          <p:cNvSpPr/>
          <p:nvPr/>
        </p:nvSpPr>
        <p:spPr>
          <a:xfrm>
            <a:off x="609600" y="3035300"/>
            <a:ext cx="738554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871E48-19CE-FA79-FB9E-A4B9F540A299}"/>
              </a:ext>
            </a:extLst>
          </p:cNvPr>
          <p:cNvSpPr txBox="1"/>
          <p:nvPr/>
        </p:nvSpPr>
        <p:spPr>
          <a:xfrm>
            <a:off x="673100" y="3098800"/>
            <a:ext cx="6115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3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AB2B17-22A0-8C8E-C758-AEEA5ACC2B85}"/>
              </a:ext>
            </a:extLst>
          </p:cNvPr>
          <p:cNvSpPr/>
          <p:nvPr/>
        </p:nvSpPr>
        <p:spPr>
          <a:xfrm>
            <a:off x="1348154" y="3035300"/>
            <a:ext cx="5064369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5DCC59-A68A-BCD2-3775-55C2F8AF4F7B}"/>
              </a:ext>
            </a:extLst>
          </p:cNvPr>
          <p:cNvSpPr txBox="1"/>
          <p:nvPr/>
        </p:nvSpPr>
        <p:spPr>
          <a:xfrm>
            <a:off x="1411654" y="30988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Long event-study gap figure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2588F4-21E7-EB5F-6543-6151AB0811C2}"/>
              </a:ext>
            </a:extLst>
          </p:cNvPr>
          <p:cNvSpPr/>
          <p:nvPr/>
        </p:nvSpPr>
        <p:spPr>
          <a:xfrm>
            <a:off x="6412523" y="3035300"/>
            <a:ext cx="5169877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75E0B5-7A9C-1508-EA8B-BF3C00417702}"/>
              </a:ext>
            </a:extLst>
          </p:cNvPr>
          <p:cNvSpPr txBox="1"/>
          <p:nvPr/>
        </p:nvSpPr>
        <p:spPr>
          <a:xfrm>
            <a:off x="6476023" y="3098800"/>
            <a:ext cx="5042877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Do paths align before the event; when does the gap open and close?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BEA9BF-F565-F087-B873-FDB26F3F9F9A}"/>
              </a:ext>
            </a:extLst>
          </p:cNvPr>
          <p:cNvSpPr/>
          <p:nvPr/>
        </p:nvSpPr>
        <p:spPr>
          <a:xfrm>
            <a:off x="609600" y="3556000"/>
            <a:ext cx="738554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204069-84FA-A74F-FB9D-F1932B3D9FF8}"/>
              </a:ext>
            </a:extLst>
          </p:cNvPr>
          <p:cNvSpPr txBox="1"/>
          <p:nvPr/>
        </p:nvSpPr>
        <p:spPr>
          <a:xfrm>
            <a:off x="673100" y="3619500"/>
            <a:ext cx="6115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4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1F2346-317B-A33A-4CD7-037EBF822B6E}"/>
              </a:ext>
            </a:extLst>
          </p:cNvPr>
          <p:cNvSpPr/>
          <p:nvPr/>
        </p:nvSpPr>
        <p:spPr>
          <a:xfrm>
            <a:off x="1348154" y="3556000"/>
            <a:ext cx="5064369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F26BB5-8727-1D4F-0EA3-C3BA045C1994}"/>
              </a:ext>
            </a:extLst>
          </p:cNvPr>
          <p:cNvSpPr txBox="1"/>
          <p:nvPr/>
        </p:nvSpPr>
        <p:spPr>
          <a:xfrm>
            <a:off x="1411654" y="36195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Main person-week effects table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508A24-C732-91DD-1B64-803B23EC4F3F}"/>
              </a:ext>
            </a:extLst>
          </p:cNvPr>
          <p:cNvSpPr/>
          <p:nvPr/>
        </p:nvSpPr>
        <p:spPr>
          <a:xfrm>
            <a:off x="6412523" y="3556000"/>
            <a:ext cx="5169877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F73F08-88E6-B82E-4880-2EDA4108C5C6}"/>
              </a:ext>
            </a:extLst>
          </p:cNvPr>
          <p:cNvSpPr txBox="1"/>
          <p:nvPr/>
        </p:nvSpPr>
        <p:spPr>
          <a:xfrm>
            <a:off x="6476023" y="3619500"/>
            <a:ext cx="5042877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What is the effect under exact risk sets and conservative inference?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B7060F0-AD31-0050-13EA-63228308492A}"/>
              </a:ext>
            </a:extLst>
          </p:cNvPr>
          <p:cNvSpPr/>
          <p:nvPr/>
        </p:nvSpPr>
        <p:spPr>
          <a:xfrm>
            <a:off x="609600" y="4076700"/>
            <a:ext cx="738554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3B6866-0181-2F83-A8D2-40A0F6C33D22}"/>
              </a:ext>
            </a:extLst>
          </p:cNvPr>
          <p:cNvSpPr txBox="1"/>
          <p:nvPr/>
        </p:nvSpPr>
        <p:spPr>
          <a:xfrm>
            <a:off x="673100" y="4140200"/>
            <a:ext cx="6115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5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15E210-256D-9870-1454-FA2FA445C42D}"/>
              </a:ext>
            </a:extLst>
          </p:cNvPr>
          <p:cNvSpPr/>
          <p:nvPr/>
        </p:nvSpPr>
        <p:spPr>
          <a:xfrm>
            <a:off x="1348154" y="4076700"/>
            <a:ext cx="5064369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23A370-BB68-F539-E1DB-156120D46A57}"/>
              </a:ext>
            </a:extLst>
          </p:cNvPr>
          <p:cNvSpPr txBox="1"/>
          <p:nvPr/>
        </p:nvSpPr>
        <p:spPr>
          <a:xfrm>
            <a:off x="1411654" y="41402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Threats / robustness table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A717D03-D8DA-3371-CC55-66FF890F164D}"/>
              </a:ext>
            </a:extLst>
          </p:cNvPr>
          <p:cNvSpPr/>
          <p:nvPr/>
        </p:nvSpPr>
        <p:spPr>
          <a:xfrm>
            <a:off x="6412523" y="4076700"/>
            <a:ext cx="5169877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1386B6-2364-C111-E042-3DF42DA4E600}"/>
              </a:ext>
            </a:extLst>
          </p:cNvPr>
          <p:cNvSpPr txBox="1"/>
          <p:nvPr/>
        </p:nvSpPr>
        <p:spPr>
          <a:xfrm>
            <a:off x="6476023" y="4140200"/>
            <a:ext cx="5042877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How sensitive are results to JobKeeper, dates, trends and transition definitions?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FB89D4B-9167-AA28-8C5F-AE6BDD6E36F2}"/>
              </a:ext>
            </a:extLst>
          </p:cNvPr>
          <p:cNvSpPr/>
          <p:nvPr/>
        </p:nvSpPr>
        <p:spPr>
          <a:xfrm>
            <a:off x="609600" y="4597400"/>
            <a:ext cx="738554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6228F1-77A3-E374-0E73-8D6A3FE50A88}"/>
              </a:ext>
            </a:extLst>
          </p:cNvPr>
          <p:cNvSpPr txBox="1"/>
          <p:nvPr/>
        </p:nvSpPr>
        <p:spPr>
          <a:xfrm>
            <a:off x="673100" y="4660900"/>
            <a:ext cx="6115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6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3576F13-C132-0A22-81B0-BF41D2B1D65B}"/>
              </a:ext>
            </a:extLst>
          </p:cNvPr>
          <p:cNvSpPr/>
          <p:nvPr/>
        </p:nvSpPr>
        <p:spPr>
          <a:xfrm>
            <a:off x="1348154" y="4597400"/>
            <a:ext cx="5064369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991416-C8E9-8DFD-558D-4B5DE914AFEB}"/>
              </a:ext>
            </a:extLst>
          </p:cNvPr>
          <p:cNvSpPr txBox="1"/>
          <p:nvPr/>
        </p:nvSpPr>
        <p:spPr>
          <a:xfrm>
            <a:off x="1411654" y="46609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Predicted replacement-rate figure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BB329C8-E6F4-5D0C-C861-5174318882CB}"/>
              </a:ext>
            </a:extLst>
          </p:cNvPr>
          <p:cNvSpPr/>
          <p:nvPr/>
        </p:nvSpPr>
        <p:spPr>
          <a:xfrm>
            <a:off x="6412523" y="4597400"/>
            <a:ext cx="5169877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72D003-FD12-3184-0BA1-615CB2230A3C}"/>
              </a:ext>
            </a:extLst>
          </p:cNvPr>
          <p:cNvSpPr txBox="1"/>
          <p:nvPr/>
        </p:nvSpPr>
        <p:spPr>
          <a:xfrm>
            <a:off x="6476023" y="4660900"/>
            <a:ext cx="504287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Does response scale with actual policy intensity?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FDBF41-A118-B15A-3127-0B70B1425C1D}"/>
              </a:ext>
            </a:extLst>
          </p:cNvPr>
          <p:cNvSpPr/>
          <p:nvPr/>
        </p:nvSpPr>
        <p:spPr>
          <a:xfrm>
            <a:off x="609600" y="5118100"/>
            <a:ext cx="738554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8EE4AA-850A-2089-0760-0D4A07C37551}"/>
              </a:ext>
            </a:extLst>
          </p:cNvPr>
          <p:cNvSpPr txBox="1"/>
          <p:nvPr/>
        </p:nvSpPr>
        <p:spPr>
          <a:xfrm>
            <a:off x="673100" y="5181600"/>
            <a:ext cx="6115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7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EB0EE7-7D4E-737C-01B7-17A0C694A772}"/>
              </a:ext>
            </a:extLst>
          </p:cNvPr>
          <p:cNvSpPr/>
          <p:nvPr/>
        </p:nvSpPr>
        <p:spPr>
          <a:xfrm>
            <a:off x="1348154" y="5118100"/>
            <a:ext cx="5064369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DCFF6D-A58E-A084-7A53-8707380A28FE}"/>
              </a:ext>
            </a:extLst>
          </p:cNvPr>
          <p:cNvSpPr txBox="1"/>
          <p:nvPr/>
        </p:nvSpPr>
        <p:spPr>
          <a:xfrm>
            <a:off x="1411654" y="5181600"/>
            <a:ext cx="493736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Model fit / held-out range / interaction decomposition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0C5A38F-E62A-DE56-FE71-29463937998F}"/>
              </a:ext>
            </a:extLst>
          </p:cNvPr>
          <p:cNvSpPr/>
          <p:nvPr/>
        </p:nvSpPr>
        <p:spPr>
          <a:xfrm>
            <a:off x="6412523" y="5118100"/>
            <a:ext cx="5169877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3C27C-94BA-F141-ECEC-D3482CAE3522}"/>
              </a:ext>
            </a:extLst>
          </p:cNvPr>
          <p:cNvSpPr txBox="1"/>
          <p:nvPr/>
        </p:nvSpPr>
        <p:spPr>
          <a:xfrm>
            <a:off x="6476023" y="5181600"/>
            <a:ext cx="5042877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Which mechanisms are quantitatively consistent with the revised moments?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5F77F48-7241-6E14-EF6A-2E8A2C9159FB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0B2639-F6B1-BE46-8705-041002D72091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Everything else—matching variants, placebo grids, subgroup tables and model derivations—can move to the online appendix.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045276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F65566-EF2A-066E-A226-6C30EE93E8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3FF41-88E9-04B0-C0D0-9601818D103F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05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64FF1-17CE-6184-AEB1-09817C39CACF}"/>
              </a:ext>
            </a:extLst>
          </p:cNvPr>
          <p:cNvSpPr txBox="1"/>
          <p:nvPr/>
        </p:nvSpPr>
        <p:spPr>
          <a:xfrm>
            <a:off x="1397000" y="2857500"/>
            <a:ext cx="9525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3600" b="1">
                <a:solidFill>
                  <a:srgbClr val="FFFFFF"/>
                </a:solidFill>
                <a:latin typeface="Proxima Nova Rg"/>
              </a:rPr>
              <a:t>From analysis to a rewritten paper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71965-DC79-C4EB-B0B6-D916E680743F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FFF"/>
                </a:solidFill>
                <a:latin typeface="GT Sectra Fine"/>
              </a:rPr>
              <a:t>Narrow the claim, lead with uncertainty and make every design choice auditable.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130591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58E2C6-50BF-D4AC-1D30-3124D35B8E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95E71A-BAEF-2DBF-A448-0FE25A288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21DFAC-00B8-9838-8CE0-A8318B1B77DB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E6308-D82D-4DC5-1E6F-2A2BCF37EEF3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8BDAA1-4472-3FB4-D779-1FC6DDE6D990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AB12B-5742-6792-C00D-3354AA1180A4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450C8F-B9FD-B6FB-F186-2499818C8591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61FC5C-7C99-DEAF-A444-1FD8A02B5500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9AB26B-E6FD-A39A-E48D-585A76CBC149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3F7F46-CA34-267C-EF67-BA9774EA95C4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26FDC8-753B-4F0B-4343-0B07B3CE89AB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B6B349-E313-31F4-4022-FCD047D15972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Paper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DA310-5E35-2CFE-3DBB-AD393B798577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A defensible contribution has three parts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7FE54B-6F45-5446-5A59-4A9BC52EE22C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AF79B6-7B02-9361-E432-43CA7E3CDC8B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2799DC-4B28-A93F-990E-212F35D9B06C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Empirical design and result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000E32-8D4B-5874-6994-F0D2F83C0B08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9D4D1-0E15-0D0F-5515-CE884F933F45}"/>
              </a:ext>
            </a:extLst>
          </p:cNvPr>
          <p:cNvSpPr txBox="1"/>
          <p:nvPr/>
        </p:nvSpPr>
        <p:spPr>
          <a:xfrm>
            <a:off x="774700" y="2108200"/>
            <a:ext cx="50038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Linked weekly administrative records compare pre-policy-similar Australian and ineligible New Zealand citizens in shared labour markets; estimate transitions with design-specific uncertainty and explicit bundle caveats.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320C20-C6F6-570A-BB3D-185665A4D495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18F7A6-FB75-362E-157A-BD339BDF2FE0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Mechanism and broader lesson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32B163-0676-0AB2-5C66-08BE78092568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6CB7BE-883F-BEE4-1A12-2D51D785D93E}"/>
              </a:ext>
            </a:extLst>
          </p:cNvPr>
          <p:cNvSpPr txBox="1"/>
          <p:nvPr/>
        </p:nvSpPr>
        <p:spPr>
          <a:xfrm>
            <a:off x="6413500" y="2108200"/>
            <a:ext cx="50038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 partial-equilibrium dynamic model shows how a flat benefit increase and residual work-surplus wedge can interact; emergency benefit effects need not equal normal-times elasticities.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CC6831A-31E1-11D7-0221-17463406CABC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046DEB-DFBC-7CF9-E9CA-C864950B3742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Do not oversell «clean identification», «identical conditions», voluntary separations, isolated supplement effects or welfare.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0698568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ADBDBD-FF04-D040-F4F1-A8D8CE766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3C30-1FE6-95DC-8D79-9F2491FB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079D40-391A-0504-FFDD-ABE7893F35DA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971EC-4F55-BB4E-E05C-D58CB1FB2020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0E02C5-9655-9099-5E8E-FD1003056BE6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468A4-29D9-6208-28A6-76E6FFDBA13B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CEA7C1-007E-7F83-1CAB-DE4276A5FF11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8BA86-D5E2-3441-234C-0012A33EFDF4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0FFB92-9C9A-3989-0E6B-EAC03147D39D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303D9-EC92-16C8-1127-4D028601430F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80C025-ADBE-766A-E0CC-81AF373E7B38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6B7CB-E5CF-4595-274C-90D2FA7FBDAD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Paper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DE5724-780B-C814-0400-565734384D3B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2600" b="1">
                <a:solidFill>
                  <a:srgbClr val="000000"/>
                </a:solidFill>
                <a:latin typeface="Proxima Nova Rg"/>
              </a:rPr>
              <a:t>Recommended paper architecture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A006EC-8097-1BFA-A8B6-D86F4D2D4316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186C97-4DB6-9764-C66F-A67300B886AA}"/>
              </a:ext>
            </a:extLst>
          </p:cNvPr>
          <p:cNvSpPr/>
          <p:nvPr/>
        </p:nvSpPr>
        <p:spPr>
          <a:xfrm>
            <a:off x="609600" y="1473200"/>
            <a:ext cx="2834640" cy="469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36EBD-30D6-D3F0-3243-9E7156E97413}"/>
              </a:ext>
            </a:extLst>
          </p:cNvPr>
          <p:cNvSpPr txBox="1"/>
          <p:nvPr/>
        </p:nvSpPr>
        <p:spPr>
          <a:xfrm>
            <a:off x="673100" y="1549400"/>
            <a:ext cx="2707640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Section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19861E-45AB-449F-A61B-01D14B5CF20A}"/>
              </a:ext>
            </a:extLst>
          </p:cNvPr>
          <p:cNvSpPr/>
          <p:nvPr/>
        </p:nvSpPr>
        <p:spPr>
          <a:xfrm>
            <a:off x="3444240" y="1473200"/>
            <a:ext cx="8138160" cy="469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D4C57-211A-89BE-9A6F-376AAEB60F29}"/>
              </a:ext>
            </a:extLst>
          </p:cNvPr>
          <p:cNvSpPr txBox="1"/>
          <p:nvPr/>
        </p:nvSpPr>
        <p:spPr>
          <a:xfrm>
            <a:off x="3507740" y="1549400"/>
            <a:ext cx="8011160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Job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54BCCF-6B43-503A-3DFE-3DA835D347C2}"/>
              </a:ext>
            </a:extLst>
          </p:cNvPr>
          <p:cNvSpPr/>
          <p:nvPr/>
        </p:nvSpPr>
        <p:spPr>
          <a:xfrm>
            <a:off x="609600" y="1943100"/>
            <a:ext cx="2834640" cy="469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AF3DEF-723C-E734-7FDC-1B3AF9D58DE3}"/>
              </a:ext>
            </a:extLst>
          </p:cNvPr>
          <p:cNvSpPr txBox="1"/>
          <p:nvPr/>
        </p:nvSpPr>
        <p:spPr>
          <a:xfrm>
            <a:off x="673100" y="2006600"/>
            <a:ext cx="270764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1. Introduction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DE148D-392E-60FA-F731-4CBE166AF894}"/>
              </a:ext>
            </a:extLst>
          </p:cNvPr>
          <p:cNvSpPr/>
          <p:nvPr/>
        </p:nvSpPr>
        <p:spPr>
          <a:xfrm>
            <a:off x="3444240" y="1943100"/>
            <a:ext cx="8138160" cy="469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93DA22-AF52-8253-75C9-91AB2BACFBC7}"/>
              </a:ext>
            </a:extLst>
          </p:cNvPr>
          <p:cNvSpPr txBox="1"/>
          <p:nvPr/>
        </p:nvSpPr>
        <p:spPr>
          <a:xfrm>
            <a:off x="3507740" y="2006600"/>
            <a:ext cx="801116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050">
                <a:solidFill>
                  <a:srgbClr val="4A4E50"/>
                </a:solidFill>
                <a:latin typeface="Proxima Nova Rg"/>
              </a:rPr>
              <a:t>Question, comparison, revised estimates with intervals, model range, scope limits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79D581-F17D-9950-B301-E9853B7B7447}"/>
              </a:ext>
            </a:extLst>
          </p:cNvPr>
          <p:cNvSpPr/>
          <p:nvPr/>
        </p:nvSpPr>
        <p:spPr>
          <a:xfrm>
            <a:off x="609600" y="2413000"/>
            <a:ext cx="2834640" cy="469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0C0832-C3EE-B10A-7BD8-9098CF2D4C07}"/>
              </a:ext>
            </a:extLst>
          </p:cNvPr>
          <p:cNvSpPr txBox="1"/>
          <p:nvPr/>
        </p:nvSpPr>
        <p:spPr>
          <a:xfrm>
            <a:off x="673100" y="2476500"/>
            <a:ext cx="270764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 b="1">
                <a:solidFill>
                  <a:srgbClr val="4A4E50"/>
                </a:solidFill>
                <a:latin typeface="Proxima Nova Rg"/>
              </a:rPr>
              <a:t>2. Institutional setting and timeline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DF443C-3A7F-B5D2-1512-98EF44E2D113}"/>
              </a:ext>
            </a:extLst>
          </p:cNvPr>
          <p:cNvSpPr/>
          <p:nvPr/>
        </p:nvSpPr>
        <p:spPr>
          <a:xfrm>
            <a:off x="3444240" y="2413000"/>
            <a:ext cx="8138160" cy="469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C4CEB4-3011-6563-32B0-6FB0FBB64460}"/>
              </a:ext>
            </a:extLst>
          </p:cNvPr>
          <p:cNvSpPr txBox="1"/>
          <p:nvPr/>
        </p:nvSpPr>
        <p:spPr>
          <a:xfrm>
            <a:off x="3507740" y="2476500"/>
            <a:ext cx="801116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Eligibility, bundle, JobKeeper, obligations, announcement/payment dates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E1DF20-A6E6-D6AC-8A34-C2D39B24A20C}"/>
              </a:ext>
            </a:extLst>
          </p:cNvPr>
          <p:cNvSpPr/>
          <p:nvPr/>
        </p:nvSpPr>
        <p:spPr>
          <a:xfrm>
            <a:off x="609600" y="2882900"/>
            <a:ext cx="2834640" cy="469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268980-D236-6635-E5D7-2E8E1598DFC1}"/>
              </a:ext>
            </a:extLst>
          </p:cNvPr>
          <p:cNvSpPr txBox="1"/>
          <p:nvPr/>
        </p:nvSpPr>
        <p:spPr>
          <a:xfrm>
            <a:off x="673100" y="2946400"/>
            <a:ext cx="270764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 b="1">
                <a:solidFill>
                  <a:srgbClr val="4A4E50"/>
                </a:solidFill>
                <a:latin typeface="Proxima Nova Rg"/>
              </a:rPr>
              <a:t>3. Data and cohort construction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C6A353-253B-1E55-F12C-6D1F37ADE5A9}"/>
              </a:ext>
            </a:extLst>
          </p:cNvPr>
          <p:cNvSpPr/>
          <p:nvPr/>
        </p:nvSpPr>
        <p:spPr>
          <a:xfrm>
            <a:off x="3444240" y="2882900"/>
            <a:ext cx="8138160" cy="469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B9C6EB-1CAB-318A-1898-C0452574106A}"/>
              </a:ext>
            </a:extLst>
          </p:cNvPr>
          <p:cNvSpPr txBox="1"/>
          <p:nvPr/>
        </p:nvSpPr>
        <p:spPr>
          <a:xfrm>
            <a:off x="3507740" y="2946400"/>
            <a:ext cx="801116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Pre-policy universe, linkage, weekly states, risk sets, balance and coverage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F38ADF-1524-F26F-A438-9EAF1C757977}"/>
              </a:ext>
            </a:extLst>
          </p:cNvPr>
          <p:cNvSpPr/>
          <p:nvPr/>
        </p:nvSpPr>
        <p:spPr>
          <a:xfrm>
            <a:off x="609600" y="3352800"/>
            <a:ext cx="2834640" cy="469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D2998C-54EF-C40B-F998-5C2F439D8B6A}"/>
              </a:ext>
            </a:extLst>
          </p:cNvPr>
          <p:cNvSpPr txBox="1"/>
          <p:nvPr/>
        </p:nvSpPr>
        <p:spPr>
          <a:xfrm>
            <a:off x="673100" y="3416300"/>
            <a:ext cx="270764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 b="1">
                <a:solidFill>
                  <a:srgbClr val="4A4E50"/>
                </a:solidFill>
                <a:latin typeface="Proxima Nova Rg"/>
              </a:rPr>
              <a:t>4. Empirical strategy and inference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23FB2A-2BE3-A3B5-C60F-523E644EC2CB}"/>
              </a:ext>
            </a:extLst>
          </p:cNvPr>
          <p:cNvSpPr/>
          <p:nvPr/>
        </p:nvSpPr>
        <p:spPr>
          <a:xfrm>
            <a:off x="3444240" y="3352800"/>
            <a:ext cx="8138160" cy="469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E32841-F5CD-8D3B-1503-5E790232C4DF}"/>
              </a:ext>
            </a:extLst>
          </p:cNvPr>
          <p:cNvSpPr txBox="1"/>
          <p:nvPr/>
        </p:nvSpPr>
        <p:spPr>
          <a:xfrm>
            <a:off x="3507740" y="3416300"/>
            <a:ext cx="801116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Estimand, person-week hazards, time-series uncertainty, HonestDiD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4A8FB3-4B13-8654-86C5-FD222AD742F6}"/>
              </a:ext>
            </a:extLst>
          </p:cNvPr>
          <p:cNvSpPr/>
          <p:nvPr/>
        </p:nvSpPr>
        <p:spPr>
          <a:xfrm>
            <a:off x="609600" y="3822700"/>
            <a:ext cx="2834640" cy="469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74A27F-3CAC-E8A1-F7D0-8FE5AAC157F0}"/>
              </a:ext>
            </a:extLst>
          </p:cNvPr>
          <p:cNvSpPr txBox="1"/>
          <p:nvPr/>
        </p:nvSpPr>
        <p:spPr>
          <a:xfrm>
            <a:off x="673100" y="3886200"/>
            <a:ext cx="270764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5. Effects on transitions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EC02A1-369F-2463-B651-06B8871ABC04}"/>
              </a:ext>
            </a:extLst>
          </p:cNvPr>
          <p:cNvSpPr/>
          <p:nvPr/>
        </p:nvSpPr>
        <p:spPr>
          <a:xfrm>
            <a:off x="3444240" y="3822700"/>
            <a:ext cx="8138160" cy="469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15D04C-60AA-A501-4FE7-DDA65B4CF000}"/>
              </a:ext>
            </a:extLst>
          </p:cNvPr>
          <p:cNvSpPr txBox="1"/>
          <p:nvPr/>
        </p:nvSpPr>
        <p:spPr>
          <a:xfrm>
            <a:off x="3507740" y="3886200"/>
            <a:ext cx="801116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Job finding and recorded payroll exits; dynamics and magnitudes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ED5054-043A-B927-8F96-92C6CE5A1B5E}"/>
              </a:ext>
            </a:extLst>
          </p:cNvPr>
          <p:cNvSpPr/>
          <p:nvPr/>
        </p:nvSpPr>
        <p:spPr>
          <a:xfrm>
            <a:off x="609600" y="4292600"/>
            <a:ext cx="2834640" cy="469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8CD919-6676-A360-EE35-6B5991168025}"/>
              </a:ext>
            </a:extLst>
          </p:cNvPr>
          <p:cNvSpPr txBox="1"/>
          <p:nvPr/>
        </p:nvSpPr>
        <p:spPr>
          <a:xfrm>
            <a:off x="673100" y="4356100"/>
            <a:ext cx="270764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6. Mechanisms and robustness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CCF300-85FE-C837-5DA7-BE6EEBC050A1}"/>
              </a:ext>
            </a:extLst>
          </p:cNvPr>
          <p:cNvSpPr/>
          <p:nvPr/>
        </p:nvSpPr>
        <p:spPr>
          <a:xfrm>
            <a:off x="3444240" y="4292600"/>
            <a:ext cx="8138160" cy="469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505804-0F5A-53AD-52C9-37AB67948BF4}"/>
              </a:ext>
            </a:extLst>
          </p:cNvPr>
          <p:cNvSpPr txBox="1"/>
          <p:nvPr/>
        </p:nvSpPr>
        <p:spPr>
          <a:xfrm>
            <a:off x="3507740" y="4356100"/>
            <a:ext cx="801116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Policy interactions, replacement rates, earnings, placebos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DA06E07-6C41-FB96-3554-ACFC058AD3B5}"/>
              </a:ext>
            </a:extLst>
          </p:cNvPr>
          <p:cNvSpPr/>
          <p:nvPr/>
        </p:nvSpPr>
        <p:spPr>
          <a:xfrm>
            <a:off x="609600" y="4762500"/>
            <a:ext cx="2834640" cy="469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710167-CA26-6A68-8A45-2403A29E376B}"/>
              </a:ext>
            </a:extLst>
          </p:cNvPr>
          <p:cNvSpPr txBox="1"/>
          <p:nvPr/>
        </p:nvSpPr>
        <p:spPr>
          <a:xfrm>
            <a:off x="673100" y="4826000"/>
            <a:ext cx="270764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7. Dynamic interpretation model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0C3346-7AC6-1119-49F2-7425D0FC8FE0}"/>
              </a:ext>
            </a:extLst>
          </p:cNvPr>
          <p:cNvSpPr/>
          <p:nvPr/>
        </p:nvSpPr>
        <p:spPr>
          <a:xfrm>
            <a:off x="3444240" y="4762500"/>
            <a:ext cx="8138160" cy="469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0892C6-D2DE-4FBB-CF08-2872C065C2E3}"/>
              </a:ext>
            </a:extLst>
          </p:cNvPr>
          <p:cNvSpPr txBox="1"/>
          <p:nvPr/>
        </p:nvSpPr>
        <p:spPr>
          <a:xfrm>
            <a:off x="3507740" y="4826000"/>
            <a:ext cx="801116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050">
                <a:solidFill>
                  <a:srgbClr val="4A4E50"/>
                </a:solidFill>
                <a:latin typeface="Proxima Nova Rg"/>
              </a:rPr>
              <a:t>Model 15 rewritten, partial identification and interaction decomposition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4E6B45D-089F-C71D-5A76-B8F50D6649D9}"/>
              </a:ext>
            </a:extLst>
          </p:cNvPr>
          <p:cNvSpPr/>
          <p:nvPr/>
        </p:nvSpPr>
        <p:spPr>
          <a:xfrm>
            <a:off x="609600" y="5232400"/>
            <a:ext cx="2834640" cy="469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738641-15C4-7AB3-4E0B-00002B0CC1A1}"/>
              </a:ext>
            </a:extLst>
          </p:cNvPr>
          <p:cNvSpPr txBox="1"/>
          <p:nvPr/>
        </p:nvSpPr>
        <p:spPr>
          <a:xfrm>
            <a:off x="673100" y="5295900"/>
            <a:ext cx="270764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8. Conclusion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F38836-F703-90FA-8A7B-DF2E61F3C6B3}"/>
              </a:ext>
            </a:extLst>
          </p:cNvPr>
          <p:cNvSpPr/>
          <p:nvPr/>
        </p:nvSpPr>
        <p:spPr>
          <a:xfrm>
            <a:off x="3444240" y="5232400"/>
            <a:ext cx="8138160" cy="469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7E2154-319C-D471-FB7E-CD6B0CD624DD}"/>
              </a:ext>
            </a:extLst>
          </p:cNvPr>
          <p:cNvSpPr txBox="1"/>
          <p:nvPr/>
        </p:nvSpPr>
        <p:spPr>
          <a:xfrm>
            <a:off x="3507740" y="5295900"/>
            <a:ext cx="801116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One broad lesson, uncertainty and explicit limits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8510D34-DDA5-8307-E054-77B94AFEBE21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C7B3D2-A77C-7280-F8F2-58F7D141B19C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Rename the «RDD» material as controlled interrupted time-series / event-time robustness; time is not locally random at the pandemic cut-off.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9403689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2B6CA4-E051-1BAE-74AF-0453ACD67C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3F4835-9121-E9D0-B3C2-9F23DB38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743BF-BC41-A9B9-0463-6DEF75CF4F56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C0CCE-B57D-825B-61EC-96C41F87AB3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221650-47B4-3991-09BC-9E69F25443D7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14C99-6355-9143-90B7-64BC5049699D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23F7A2-9425-8E21-7F4C-32D8A727CA41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81F08-5AD4-F755-21AF-0FB367BCB534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5DFF5E-E2B3-4982-97C3-3BAFF6A23D77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1D80B3-B120-AEE9-DCBE-CDDFFEE3E782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7F6A0D-4F80-EFB0-6499-22ECD32C841E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8BE950-BDB4-6ADD-5B73-DDD74C15D9FA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Paper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7436E9-39BB-CA6F-943A-D3DA5B003FC5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2600" b="1">
                <a:solidFill>
                  <a:srgbClr val="000000"/>
                </a:solidFill>
                <a:latin typeface="Proxima Nova Rg"/>
              </a:rPr>
              <a:t>Results-writing discipline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247BF1-24FB-6CB5-CD91-A9298366B0CF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263F48-1ED6-828E-7092-B253853A90EB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0A0BAD-A121-F051-9B64-4443C5A32C31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Use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7EACF3-96FA-E751-48DF-BDF8FC467146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645C23-B183-0A53-F6BD-99C0FBFF9000}"/>
              </a:ext>
            </a:extLst>
          </p:cNvPr>
          <p:cNvSpPr txBox="1"/>
          <p:nvPr/>
        </p:nvSpPr>
        <p:spPr>
          <a:xfrm>
            <a:off x="774700" y="2108200"/>
            <a:ext cx="5003800" cy="19210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Percentage points first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Baseline rate and named denominator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Confidence interval in prose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«Estimated» / «consistent with»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Recorded payroll-employment exit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Policy exposure / JobSeeker expansion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Fitted versus held-out model moments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1674E1-60DE-D6C1-3C42-768DAE868E31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B52006-1AFB-F6AA-3F89-9E7E534FC083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Avoid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E19AB0-918B-D0F4-5D94-F12CAF7995AA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4E6196-69F7-7FC2-96C6-D294B9F851CE}"/>
              </a:ext>
            </a:extLst>
          </p:cNvPr>
          <p:cNvSpPr txBox="1"/>
          <p:nvPr/>
        </p:nvSpPr>
        <p:spPr>
          <a:xfrm>
            <a:off x="6413500" y="2108200"/>
            <a:ext cx="5003800" cy="19210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Significance stars as evidence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Non-significance = zero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Comparing subgroup significance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«Identical conditions»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Voluntary separation without exit reason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Supplement-only causal label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Health or welfare labels not identified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95EC6B-F987-BA35-7C8C-83F6F68F0AA8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D15C76-DD8C-E8E7-9082-35836CFBFED3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A careful vocabulary will strengthen rather than weaken the paper: it tells referees the authors understand the designʼs exact reach.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3027738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8D423-9C72-295C-CE98-AAA8E7CB3E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0CBF57-48AE-A2BD-7609-381D97E6B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824730-4DD8-54F2-5367-2300777D6C67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654EE-1E9B-F174-2893-D88143F5C5A6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49D314-7536-C0CC-AB90-F73D5E78C247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568DA-4F8F-140C-5272-AF80B405E0D9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6C3AC9-D5E6-FDCC-BDC6-0D1E3A949DB9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B21C8-E3D7-3C5D-E895-EFD202590F67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02CE6-ECE5-1A6E-90A8-F35CAB9F270B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0ADF1E-8267-909C-227D-6685CEBD2985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708B8E-76E2-1A39-0A74-D3A73F1B8189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C28CF1-D381-911D-1CAF-2F1D3412FA11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Paper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47BD02-99BE-AF0A-54D3-C64A1683D9D6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Execution sequence and submission gates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7D464F-9673-AD71-4159-2047297357BF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23C64-8A85-4759-F0D3-ADD6D68D6F1F}"/>
              </a:ext>
            </a:extLst>
          </p:cNvPr>
          <p:cNvSpPr/>
          <p:nvPr/>
        </p:nvSpPr>
        <p:spPr>
          <a:xfrm>
            <a:off x="609600" y="1473200"/>
            <a:ext cx="1952786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7B96AC-EC3B-A8C4-50F8-9839A7767EA5}"/>
              </a:ext>
            </a:extLst>
          </p:cNvPr>
          <p:cNvSpPr txBox="1"/>
          <p:nvPr/>
        </p:nvSpPr>
        <p:spPr>
          <a:xfrm>
            <a:off x="673100" y="1549400"/>
            <a:ext cx="1825786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Gate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7B2B5E-779A-F3CE-D564-BA8194FF15E2}"/>
              </a:ext>
            </a:extLst>
          </p:cNvPr>
          <p:cNvSpPr/>
          <p:nvPr/>
        </p:nvSpPr>
        <p:spPr>
          <a:xfrm>
            <a:off x="2562386" y="1473200"/>
            <a:ext cx="3161655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3D5075-35DE-BDFB-B0C9-B2B11DD4026F}"/>
              </a:ext>
            </a:extLst>
          </p:cNvPr>
          <p:cNvSpPr txBox="1"/>
          <p:nvPr/>
        </p:nvSpPr>
        <p:spPr>
          <a:xfrm>
            <a:off x="2625886" y="1549400"/>
            <a:ext cx="3034654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Work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41F884-0B73-269A-F2BF-F31483B60024}"/>
              </a:ext>
            </a:extLst>
          </p:cNvPr>
          <p:cNvSpPr/>
          <p:nvPr/>
        </p:nvSpPr>
        <p:spPr>
          <a:xfrm>
            <a:off x="5724041" y="1473200"/>
            <a:ext cx="3161654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76A998-13FC-6754-206A-5492D0365CC1}"/>
              </a:ext>
            </a:extLst>
          </p:cNvPr>
          <p:cNvSpPr txBox="1"/>
          <p:nvPr/>
        </p:nvSpPr>
        <p:spPr>
          <a:xfrm>
            <a:off x="5787541" y="1549400"/>
            <a:ext cx="3034654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Pass condition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55D4D7-55E0-D4D4-C43F-9EAFE89BB764}"/>
              </a:ext>
            </a:extLst>
          </p:cNvPr>
          <p:cNvSpPr/>
          <p:nvPr/>
        </p:nvSpPr>
        <p:spPr>
          <a:xfrm>
            <a:off x="8885695" y="1473200"/>
            <a:ext cx="2696705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F2DEFC-2756-F229-BDDD-C872D4E4FA98}"/>
              </a:ext>
            </a:extLst>
          </p:cNvPr>
          <p:cNvSpPr txBox="1"/>
          <p:nvPr/>
        </p:nvSpPr>
        <p:spPr>
          <a:xfrm>
            <a:off x="8949195" y="1549400"/>
            <a:ext cx="2569705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If it fails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D88747-AABA-5897-DA5F-5CF1CE8C7021}"/>
              </a:ext>
            </a:extLst>
          </p:cNvPr>
          <p:cNvSpPr/>
          <p:nvPr/>
        </p:nvSpPr>
        <p:spPr>
          <a:xfrm>
            <a:off x="609600" y="2171700"/>
            <a:ext cx="1952786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1E2EF1-E86A-0FCD-CD42-F85E678E3EC3}"/>
              </a:ext>
            </a:extLst>
          </p:cNvPr>
          <p:cNvSpPr txBox="1"/>
          <p:nvPr/>
        </p:nvSpPr>
        <p:spPr>
          <a:xfrm>
            <a:off x="673100" y="2235200"/>
            <a:ext cx="1825786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G1 Cohort/risk sets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F0D1C9-3853-17B6-7AAF-5CEA1D4BA59F}"/>
              </a:ext>
            </a:extLst>
          </p:cNvPr>
          <p:cNvSpPr/>
          <p:nvPr/>
        </p:nvSpPr>
        <p:spPr>
          <a:xfrm>
            <a:off x="2562386" y="2171700"/>
            <a:ext cx="316165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6B0AB3-49E1-AF39-F951-BA4D5AAD4471}"/>
              </a:ext>
            </a:extLst>
          </p:cNvPr>
          <p:cNvSpPr txBox="1"/>
          <p:nvPr/>
        </p:nvSpPr>
        <p:spPr>
          <a:xfrm>
            <a:off x="2625886" y="2235200"/>
            <a:ext cx="3034654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Rebuild without future receipt or non-employment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22F44B-BE68-271B-A349-FE9F6F10BCA6}"/>
              </a:ext>
            </a:extLst>
          </p:cNvPr>
          <p:cNvSpPr/>
          <p:nvPr/>
        </p:nvSpPr>
        <p:spPr>
          <a:xfrm>
            <a:off x="5724041" y="2171700"/>
            <a:ext cx="3161654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F7BE9B-6DB9-4E3A-FE3D-86736418F566}"/>
              </a:ext>
            </a:extLst>
          </p:cNvPr>
          <p:cNvSpPr txBox="1"/>
          <p:nvPr/>
        </p:nvSpPr>
        <p:spPr>
          <a:xfrm>
            <a:off x="5787541" y="2235200"/>
            <a:ext cx="30346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Effects remain economically meaningful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8611EC-8D91-6131-AA75-FE57E677A661}"/>
              </a:ext>
            </a:extLst>
          </p:cNvPr>
          <p:cNvSpPr/>
          <p:nvPr/>
        </p:nvSpPr>
        <p:spPr>
          <a:xfrm>
            <a:off x="8885695" y="2171700"/>
            <a:ext cx="269670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00CBD8-436D-856C-DAB3-E7AF1FD1118D}"/>
              </a:ext>
            </a:extLst>
          </p:cNvPr>
          <p:cNvSpPr txBox="1"/>
          <p:nvPr/>
        </p:nvSpPr>
        <p:spPr>
          <a:xfrm>
            <a:off x="8949195" y="2235200"/>
            <a:ext cx="256970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Reframe as descriptive or redesign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85A255-F054-4B92-3647-863F0AEF2D81}"/>
              </a:ext>
            </a:extLst>
          </p:cNvPr>
          <p:cNvSpPr/>
          <p:nvPr/>
        </p:nvSpPr>
        <p:spPr>
          <a:xfrm>
            <a:off x="609600" y="2870200"/>
            <a:ext cx="1952786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7C4005-8A84-70CE-5246-B084D6021319}"/>
              </a:ext>
            </a:extLst>
          </p:cNvPr>
          <p:cNvSpPr txBox="1"/>
          <p:nvPr/>
        </p:nvSpPr>
        <p:spPr>
          <a:xfrm>
            <a:off x="673100" y="2933700"/>
            <a:ext cx="1825786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G2 Inference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32542F-DADB-5BAB-69AE-E42060FE628B}"/>
              </a:ext>
            </a:extLst>
          </p:cNvPr>
          <p:cNvSpPr/>
          <p:nvPr/>
        </p:nvSpPr>
        <p:spPr>
          <a:xfrm>
            <a:off x="2562386" y="2870200"/>
            <a:ext cx="3161655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6453E5-4FDF-6303-0A88-745C5E1DC385}"/>
              </a:ext>
            </a:extLst>
          </p:cNvPr>
          <p:cNvSpPr txBox="1"/>
          <p:nvPr/>
        </p:nvSpPr>
        <p:spPr>
          <a:xfrm>
            <a:off x="2625886" y="2933700"/>
            <a:ext cx="30346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One-policy serial-correlation package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C44272-4DFD-8E74-C912-7FBA02AA4907}"/>
              </a:ext>
            </a:extLst>
          </p:cNvPr>
          <p:cNvSpPr/>
          <p:nvPr/>
        </p:nvSpPr>
        <p:spPr>
          <a:xfrm>
            <a:off x="5724041" y="2870200"/>
            <a:ext cx="3161654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DF6E24-799D-1C4D-D78D-E28654B7478A}"/>
              </a:ext>
            </a:extLst>
          </p:cNvPr>
          <p:cNvSpPr txBox="1"/>
          <p:nvPr/>
        </p:nvSpPr>
        <p:spPr>
          <a:xfrm>
            <a:off x="5787541" y="2933700"/>
            <a:ext cx="30346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Intervals/placebos still support central claim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503E65-D4E3-0367-E6ED-36045FFE85C0}"/>
              </a:ext>
            </a:extLst>
          </p:cNvPr>
          <p:cNvSpPr/>
          <p:nvPr/>
        </p:nvSpPr>
        <p:spPr>
          <a:xfrm>
            <a:off x="8885695" y="2870200"/>
            <a:ext cx="2696705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53243E-1095-B131-0000-1CE95FB957AC}"/>
              </a:ext>
            </a:extLst>
          </p:cNvPr>
          <p:cNvSpPr txBox="1"/>
          <p:nvPr/>
        </p:nvSpPr>
        <p:spPr>
          <a:xfrm>
            <a:off x="8949195" y="2933700"/>
            <a:ext cx="2569705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Do not present conventional 5% causality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2B2D86-A569-F477-863E-6ADA614D382B}"/>
              </a:ext>
            </a:extLst>
          </p:cNvPr>
          <p:cNvSpPr/>
          <p:nvPr/>
        </p:nvSpPr>
        <p:spPr>
          <a:xfrm>
            <a:off x="609600" y="3568700"/>
            <a:ext cx="1952786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C31A72-51BF-358F-4E11-5B251DA9AD8C}"/>
              </a:ext>
            </a:extLst>
          </p:cNvPr>
          <p:cNvSpPr txBox="1"/>
          <p:nvPr/>
        </p:nvSpPr>
        <p:spPr>
          <a:xfrm>
            <a:off x="673100" y="3632200"/>
            <a:ext cx="1825786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G3 Policy isolation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42A940-5773-5B62-B8B3-C6F8A62F0EF6}"/>
              </a:ext>
            </a:extLst>
          </p:cNvPr>
          <p:cNvSpPr/>
          <p:nvPr/>
        </p:nvSpPr>
        <p:spPr>
          <a:xfrm>
            <a:off x="2562386" y="3568700"/>
            <a:ext cx="316165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748C05-013E-A8A5-D547-F729256BFCC3}"/>
              </a:ext>
            </a:extLst>
          </p:cNvPr>
          <p:cNvSpPr txBox="1"/>
          <p:nvPr/>
        </p:nvSpPr>
        <p:spPr>
          <a:xfrm>
            <a:off x="2625886" y="3632200"/>
            <a:ext cx="30346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JobKeeper + policy bundle tests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9EC883-2779-F3DA-A7D8-D37B13F05D9D}"/>
              </a:ext>
            </a:extLst>
          </p:cNvPr>
          <p:cNvSpPr/>
          <p:nvPr/>
        </p:nvSpPr>
        <p:spPr>
          <a:xfrm>
            <a:off x="5724041" y="3568700"/>
            <a:ext cx="3161654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2FF8B5-D0CB-F900-2A97-A9C6EEEB097A}"/>
              </a:ext>
            </a:extLst>
          </p:cNvPr>
          <p:cNvSpPr txBox="1"/>
          <p:nvPr/>
        </p:nvSpPr>
        <p:spPr>
          <a:xfrm>
            <a:off x="5787541" y="3632200"/>
            <a:ext cx="3034654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Stable estimates under credible exposure controls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5A6FB7-BF33-FF49-AA16-B2C39F39A6F8}"/>
              </a:ext>
            </a:extLst>
          </p:cNvPr>
          <p:cNvSpPr/>
          <p:nvPr/>
        </p:nvSpPr>
        <p:spPr>
          <a:xfrm>
            <a:off x="8885695" y="3568700"/>
            <a:ext cx="269670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FE1C14-56E1-65E6-DEF0-99AC68D7CCBE}"/>
              </a:ext>
            </a:extLst>
          </p:cNvPr>
          <p:cNvSpPr txBox="1"/>
          <p:nvPr/>
        </p:nvSpPr>
        <p:spPr>
          <a:xfrm>
            <a:off x="8949195" y="3632200"/>
            <a:ext cx="256970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Label bundle; narrow exit claim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D57D202-F435-54B2-6C23-AD136381E9B2}"/>
              </a:ext>
            </a:extLst>
          </p:cNvPr>
          <p:cNvSpPr/>
          <p:nvPr/>
        </p:nvSpPr>
        <p:spPr>
          <a:xfrm>
            <a:off x="609600" y="4267200"/>
            <a:ext cx="1952786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DC06E0-E5E1-8B1C-7452-999FDB85DFA0}"/>
              </a:ext>
            </a:extLst>
          </p:cNvPr>
          <p:cNvSpPr txBox="1"/>
          <p:nvPr/>
        </p:nvSpPr>
        <p:spPr>
          <a:xfrm>
            <a:off x="673100" y="4330700"/>
            <a:ext cx="1825786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G4 Model discipline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E65536-FC76-B9F7-6419-DCA89484F4A5}"/>
              </a:ext>
            </a:extLst>
          </p:cNvPr>
          <p:cNvSpPr/>
          <p:nvPr/>
        </p:nvSpPr>
        <p:spPr>
          <a:xfrm>
            <a:off x="2562386" y="4267200"/>
            <a:ext cx="3161655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1524B6-A01D-6471-6E41-BD0A61334198}"/>
              </a:ext>
            </a:extLst>
          </p:cNvPr>
          <p:cNvSpPr txBox="1"/>
          <p:nvPr/>
        </p:nvSpPr>
        <p:spPr>
          <a:xfrm>
            <a:off x="2625886" y="4330700"/>
            <a:ext cx="3034654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Recalibrate revised moments; admissible set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664F790-8C46-AC4E-F812-3AB0A33C6918}"/>
              </a:ext>
            </a:extLst>
          </p:cNvPr>
          <p:cNvSpPr/>
          <p:nvPr/>
        </p:nvSpPr>
        <p:spPr>
          <a:xfrm>
            <a:off x="5724041" y="4267200"/>
            <a:ext cx="3161654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B9CA2D-D2F7-292B-DE92-6456CD797E7E}"/>
              </a:ext>
            </a:extLst>
          </p:cNvPr>
          <p:cNvSpPr txBox="1"/>
          <p:nvPr/>
        </p:nvSpPr>
        <p:spPr>
          <a:xfrm>
            <a:off x="5787541" y="4330700"/>
            <a:ext cx="3034654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Qualitative mechanism survives near-fitting set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7958028-3393-1DFF-EAB2-E330C3CE9E2D}"/>
              </a:ext>
            </a:extLst>
          </p:cNvPr>
          <p:cNvSpPr/>
          <p:nvPr/>
        </p:nvSpPr>
        <p:spPr>
          <a:xfrm>
            <a:off x="8885695" y="4267200"/>
            <a:ext cx="2696705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B152C8-E12E-EFB8-81B8-54E6D4632CB0}"/>
              </a:ext>
            </a:extLst>
          </p:cNvPr>
          <p:cNvSpPr txBox="1"/>
          <p:nvPr/>
        </p:nvSpPr>
        <p:spPr>
          <a:xfrm>
            <a:off x="8949195" y="4330700"/>
            <a:ext cx="256970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Use model only illustratively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E289C5B-3588-1583-5DEB-1F1BDC7EFC4C}"/>
              </a:ext>
            </a:extLst>
          </p:cNvPr>
          <p:cNvSpPr/>
          <p:nvPr/>
        </p:nvSpPr>
        <p:spPr>
          <a:xfrm>
            <a:off x="609600" y="4965700"/>
            <a:ext cx="1952786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B855DC-6A67-CCCB-80EB-93233B58D143}"/>
              </a:ext>
            </a:extLst>
          </p:cNvPr>
          <p:cNvSpPr txBox="1"/>
          <p:nvPr/>
        </p:nvSpPr>
        <p:spPr>
          <a:xfrm>
            <a:off x="673100" y="5029200"/>
            <a:ext cx="1825786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G5 Rewrite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2B88C57-51E8-BFDE-0638-3B2FDBA50793}"/>
              </a:ext>
            </a:extLst>
          </p:cNvPr>
          <p:cNvSpPr/>
          <p:nvPr/>
        </p:nvSpPr>
        <p:spPr>
          <a:xfrm>
            <a:off x="2562386" y="4965700"/>
            <a:ext cx="316165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EC1CCF-1D4E-14E8-40F2-3AB7F9832CA9}"/>
              </a:ext>
            </a:extLst>
          </p:cNvPr>
          <p:cNvSpPr txBox="1"/>
          <p:nvPr/>
        </p:nvSpPr>
        <p:spPr>
          <a:xfrm>
            <a:off x="2625886" y="5029200"/>
            <a:ext cx="303465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New outline, consistent claims and numbers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569E71-8B5A-74B5-173F-A7914D960336}"/>
              </a:ext>
            </a:extLst>
          </p:cNvPr>
          <p:cNvSpPr/>
          <p:nvPr/>
        </p:nvSpPr>
        <p:spPr>
          <a:xfrm>
            <a:off x="5724041" y="4965700"/>
            <a:ext cx="3161654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50377A-791D-F8C7-2408-8DD0FB342442}"/>
              </a:ext>
            </a:extLst>
          </p:cNvPr>
          <p:cNvSpPr txBox="1"/>
          <p:nvPr/>
        </p:nvSpPr>
        <p:spPr>
          <a:xfrm>
            <a:off x="5787541" y="5029200"/>
            <a:ext cx="3034654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Internal referee can state contribution in two sentences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72BD72D-22BC-D54E-EBD4-1B3B5F498F61}"/>
              </a:ext>
            </a:extLst>
          </p:cNvPr>
          <p:cNvSpPr/>
          <p:nvPr/>
        </p:nvSpPr>
        <p:spPr>
          <a:xfrm>
            <a:off x="8885695" y="4965700"/>
            <a:ext cx="269670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5D02D8-D1BB-15E0-92CB-4C628270666A}"/>
              </a:ext>
            </a:extLst>
          </p:cNvPr>
          <p:cNvSpPr txBox="1"/>
          <p:nvPr/>
        </p:nvSpPr>
        <p:spPr>
          <a:xfrm>
            <a:off x="8949195" y="5029200"/>
            <a:ext cx="256970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Delay submission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ECE3DCF-46A4-2681-2DA3-6B61F372BAB3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38BF19-03BC-132E-7BE4-2D95E9DEA8E5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Do not begin final prose polish until G1–G3 are passed; otherwise every headline number and structural target may move.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9086184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DA8E0D-6658-95F3-1201-6558B2EDB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C03562-F775-1950-F9EF-7351F952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96408A-0FC5-EF2B-3803-83BD07C00F6F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15384-DD2B-1CC1-FBCF-2113B3BECB56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57F212-8C46-2595-2B4A-F1689144DEA2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12C8B-1121-9E60-2D49-F84B5642F426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4D6C94-63D6-CABD-B8D5-AF75DD9054DD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F390D-2E81-D3D0-E70C-7DDFDFE030C7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DFB93-3A66-3A1C-F5E1-5C89EED036CE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B241C-DF36-D7A8-201C-FB9B24A70B98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7B09CB-FEF1-74C6-4DF6-3349F94922FB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632A7E-9CD5-70DD-C0DD-20266111895B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Paper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96E079-D58A-5FAB-32E5-F37F413DB9C7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Likely seminar and referee questions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B1B867-7F37-7A6D-5BC1-1132CD80A964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8901B3-72C9-93B5-42FC-3D45414E3CF9}"/>
              </a:ext>
            </a:extLst>
          </p:cNvPr>
          <p:cNvSpPr txBox="1"/>
          <p:nvPr/>
        </p:nvSpPr>
        <p:spPr>
          <a:xfrm>
            <a:off x="736600" y="1422400"/>
            <a:ext cx="10668000" cy="269561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Why should Australian and New Zealand citizens have parallel counterfactual paths during a border closure and public-health shock?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How can treatment be future JobSeeker receipt if receipt depends on the labour-market outcome?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Why does the employment-exit sample condition on eventually becoming non-employed?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What is the effective number of policy shocks, and why are the standard errors valid?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How do JobKeeper, eligibility waivers and mutual obligations map into the treatment?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Does a missing STP payment represent unemployment, zero hours or reporting cadence?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Why do high-income bins show the largest JFR response under a flat supplement?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Which model moments are truly held out and what survives across near-fitting specifications?</a:t>
            </a:r>
            <a:endParaRPr lang="en-NZ" sz="16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F621FF-C484-3EE9-FAEB-F44048B44B6D}"/>
              </a:ext>
            </a:extLst>
          </p:cNvPr>
          <p:cNvSpPr/>
          <p:nvPr/>
        </p:nvSpPr>
        <p:spPr>
          <a:xfrm>
            <a:off x="698500" y="5435600"/>
            <a:ext cx="10668000" cy="736600"/>
          </a:xfrm>
          <a:prstGeom prst="round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1779CA-3B1A-8B1B-77A1-AB18A601FC92}"/>
              </a:ext>
            </a:extLst>
          </p:cNvPr>
          <p:cNvSpPr txBox="1"/>
          <p:nvPr/>
        </p:nvSpPr>
        <p:spPr>
          <a:xfrm>
            <a:off x="876300" y="55372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E86F3D"/>
                </a:solidFill>
                <a:latin typeface="Proxima Nova Rg"/>
              </a:rPr>
              <a:t>A strong paper answers these questions in the design and exhibit choices—before the referee report.</a:t>
            </a:r>
            <a:endParaRPr lang="en-NZ" sz="1550" b="1" dirty="0">
              <a:solidFill>
                <a:srgbClr val="E86F3D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613032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04DF2E-9593-8F49-DCDD-176426097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9C6DF1-C4C2-EC7B-C37C-3BF404A6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7D73D8-525A-7CD7-8DA2-71C85A85D02E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298BF-59D7-E124-7C81-48C4CE3C1F48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Question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2E8F7A-FDB3-4124-327A-623EDF135686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A1269-8B85-FCD8-A433-85513EEEFBAF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Current design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6EE4AA-1B02-03A6-9C0E-83E930AA30EC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2B32C-8548-282F-A8FB-FC11A12BB189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Threats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4CFE2F-D2DE-BB2B-47A5-21062E49917A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DFC43-AC97-D5C8-7B67-72558D555B13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Re-estimation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0D472F-7D5A-6CDF-3945-0C9AB044FA9A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32FD87-0CB3-E6AA-ED9B-01E4C2C37685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Paper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DCD7A7-7DFC-F099-14C3-D8B26C9C48E2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2600" b="1">
                <a:solidFill>
                  <a:srgbClr val="000000"/>
                </a:solidFill>
                <a:latin typeface="Proxima Nova Rg"/>
              </a:rPr>
              <a:t>Take-home messages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C05624-D792-D3A3-5A85-5AFEB51AEE02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381F99-E1AF-2238-57B0-6AFB5F11E317}"/>
              </a:ext>
            </a:extLst>
          </p:cNvPr>
          <p:cNvSpPr/>
          <p:nvPr/>
        </p:nvSpPr>
        <p:spPr>
          <a:xfrm>
            <a:off x="571500" y="1587500"/>
            <a:ext cx="33782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F86B83-E1EC-50E2-9866-95F2CD69B48F}"/>
              </a:ext>
            </a:extLst>
          </p:cNvPr>
          <p:cNvSpPr txBox="1"/>
          <p:nvPr/>
        </p:nvSpPr>
        <p:spPr>
          <a:xfrm>
            <a:off x="6985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Keep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2C83E6-0C65-E673-313A-A8EA77DC1527}"/>
              </a:ext>
            </a:extLst>
          </p:cNvPr>
          <p:cNvSpPr/>
          <p:nvPr/>
        </p:nvSpPr>
        <p:spPr>
          <a:xfrm>
            <a:off x="5715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45FB04-3E85-F5DD-9D35-BF497B11EB69}"/>
              </a:ext>
            </a:extLst>
          </p:cNvPr>
          <p:cNvSpPr txBox="1"/>
          <p:nvPr/>
        </p:nvSpPr>
        <p:spPr>
          <a:xfrm>
            <a:off x="7366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The citizenship-based institutional comparison, linked weekly administrative data and focus on employment transitions.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006C88-F7AD-BCC5-DE61-FA2F585C64BF}"/>
              </a:ext>
            </a:extLst>
          </p:cNvPr>
          <p:cNvSpPr/>
          <p:nvPr/>
        </p:nvSpPr>
        <p:spPr>
          <a:xfrm>
            <a:off x="4432300" y="1587500"/>
            <a:ext cx="33782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297D6-74DD-48DF-F7C3-F0BE96DCF4E8}"/>
              </a:ext>
            </a:extLst>
          </p:cNvPr>
          <p:cNvSpPr txBox="1"/>
          <p:nvPr/>
        </p:nvSpPr>
        <p:spPr>
          <a:xfrm>
            <a:off x="45593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Rebuild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440557-8F41-3488-7E32-83A995D13233}"/>
              </a:ext>
            </a:extLst>
          </p:cNvPr>
          <p:cNvSpPr/>
          <p:nvPr/>
        </p:nvSpPr>
        <p:spPr>
          <a:xfrm>
            <a:off x="4432300" y="2120900"/>
            <a:ext cx="3378200" cy="28956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F899C6-4F53-DEF6-AAC9-FE6DA8BC2358}"/>
              </a:ext>
            </a:extLst>
          </p:cNvPr>
          <p:cNvSpPr txBox="1"/>
          <p:nvPr/>
        </p:nvSpPr>
        <p:spPr>
          <a:xfrm>
            <a:off x="4597400" y="2273300"/>
            <a:ext cx="3048000" cy="116698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Treatment assignment, cohort/risk sets, person-week estimation, long pre-trends, one-shock inference, JobKeeper exposure and actual replacement rates.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C8A39D-994B-A92A-9940-7B9CA5C41995}"/>
              </a:ext>
            </a:extLst>
          </p:cNvPr>
          <p:cNvSpPr/>
          <p:nvPr/>
        </p:nvSpPr>
        <p:spPr>
          <a:xfrm>
            <a:off x="8293100" y="1587500"/>
            <a:ext cx="3378200" cy="533400"/>
          </a:xfrm>
          <a:prstGeom prst="rect">
            <a:avLst/>
          </a:prstGeom>
          <a:solidFill>
            <a:srgbClr val="4A4E50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10BFC8-C058-46E3-880C-C57EF717FC34}"/>
              </a:ext>
            </a:extLst>
          </p:cNvPr>
          <p:cNvSpPr txBox="1"/>
          <p:nvPr/>
        </p:nvSpPr>
        <p:spPr>
          <a:xfrm>
            <a:off x="84201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Reframe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39207E-AF2C-3597-629F-FB86AAC5FCE0}"/>
              </a:ext>
            </a:extLst>
          </p:cNvPr>
          <p:cNvSpPr/>
          <p:nvPr/>
        </p:nvSpPr>
        <p:spPr>
          <a:xfrm>
            <a:off x="82931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0FE9FE-05BF-065B-FC51-971B239B4834}"/>
              </a:ext>
            </a:extLst>
          </p:cNvPr>
          <p:cNvSpPr txBox="1"/>
          <p:nvPr/>
        </p:nvSpPr>
        <p:spPr>
          <a:xfrm>
            <a:off x="84582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Emergency income support and employment transitions under weak demand—not a clean supplement-only welfare verdict.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9BB1B95-7E85-6E5D-3B1A-5250D97D7660}"/>
              </a:ext>
            </a:extLst>
          </p:cNvPr>
          <p:cNvSpPr/>
          <p:nvPr/>
        </p:nvSpPr>
        <p:spPr>
          <a:xfrm>
            <a:off x="698500" y="5397500"/>
            <a:ext cx="10668000" cy="7874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A585E5-27BA-4EF8-177A-8B423F1050EF}"/>
              </a:ext>
            </a:extLst>
          </p:cNvPr>
          <p:cNvSpPr txBox="1"/>
          <p:nvPr/>
        </p:nvSpPr>
        <p:spPr>
          <a:xfrm>
            <a:off x="876300" y="5499100"/>
            <a:ext cx="10312400" cy="4360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50" b="1">
                <a:solidFill>
                  <a:srgbClr val="004F54"/>
                </a:solidFill>
                <a:latin typeface="Proxima Nova Rg"/>
              </a:rPr>
              <a:t>If the redesigned results remain stable, this can become a compelling labour/public economics paper. The next marginal hour belongs in cohort and inference code, not extra robustness prose.</a:t>
            </a:r>
            <a:endParaRPr lang="en-NZ" sz="12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677512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4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JRKMSIZCicbhc4bAXGX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61 slide master">
  <a:themeElements>
    <a:clrScheme name="e61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F54"/>
      </a:accent1>
      <a:accent2>
        <a:srgbClr val="008080"/>
      </a:accent2>
      <a:accent3>
        <a:srgbClr val="33A7AB"/>
      </a:accent3>
      <a:accent4>
        <a:srgbClr val="FFA557"/>
      </a:accent4>
      <a:accent5>
        <a:srgbClr val="F88379"/>
      </a:accent5>
      <a:accent6>
        <a:srgbClr val="B40000"/>
      </a:accent6>
      <a:hlink>
        <a:srgbClr val="0563C1"/>
      </a:hlink>
      <a:folHlink>
        <a:srgbClr val="954F72"/>
      </a:folHlink>
    </a:clrScheme>
    <a:fontScheme name="Custom 2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61 general template.potx" id="{90061909-20C7-47C0-9BA3-1FCA4037CBDA}" vid="{47FE1831-D1E7-41D2-8A16-5B5B5DBA35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025935-85eb-43e8-ab32-734675053e7f" xsi:nil="true"/>
    <lcf76f155ced4ddcb4097134ff3c332f xmlns="aa802c90-64f7-4260-a678-c5c09559402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A1619F266734FBC2B48FB95398739" ma:contentTypeVersion="19" ma:contentTypeDescription="Create a new document." ma:contentTypeScope="" ma:versionID="a36d063c8eb047894120791759bbc902">
  <xsd:schema xmlns:xsd="http://www.w3.org/2001/XMLSchema" xmlns:xs="http://www.w3.org/2001/XMLSchema" xmlns:p="http://schemas.microsoft.com/office/2006/metadata/properties" xmlns:ns2="aa802c90-64f7-4260-a678-c5c09559402a" xmlns:ns3="d4025935-85eb-43e8-ab32-734675053e7f" targetNamespace="http://schemas.microsoft.com/office/2006/metadata/properties" ma:root="true" ma:fieldsID="c6f7ca54d7100feba0c176cc38564367" ns2:_="" ns3:_="">
    <xsd:import namespace="aa802c90-64f7-4260-a678-c5c09559402a"/>
    <xsd:import namespace="d4025935-85eb-43e8-ab32-734675053e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02c90-64f7-4260-a678-c5c0955940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bce0e04-9c7f-4626-8cb4-29f8b9ace2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25935-85eb-43e8-ab32-734675053e7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d7d9116-efc1-484d-8b57-8af332a5bfd6}" ma:internalName="TaxCatchAll" ma:showField="CatchAllData" ma:web="d4025935-85eb-43e8-ab32-734675053e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9E81E1-445C-4E91-8E35-C5BD736A3B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36B762-179B-48EA-90B2-E74079BA15DE}">
  <ds:schemaRefs>
    <ds:schemaRef ds:uri="d4025935-85eb-43e8-ab32-734675053e7f"/>
    <ds:schemaRef ds:uri="aa802c90-64f7-4260-a678-c5c09559402a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7AB7FB4-6D47-4EC6-BF49-66E893D4B5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802c90-64f7-4260-a678-c5c09559402a"/>
    <ds:schemaRef ds:uri="d4025935-85eb-43e8-ab32-734675053e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e61 template</Template>
  <TotalTime>0</TotalTime>
  <Words>4342</Words>
  <Application>Microsoft Office PowerPoint</Application>
  <PresentationFormat>Widescreen</PresentationFormat>
  <Paragraphs>799</Paragraphs>
  <Slides>45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Graphik</vt:lpstr>
      <vt:lpstr>GT Sectra Fine</vt:lpstr>
      <vt:lpstr>Proxima Nova Rg</vt:lpstr>
      <vt:lpstr>System Font</vt:lpstr>
      <vt:lpstr>e61 slide master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</dc:creator>
  <cp:lastModifiedBy>Matt</cp:lastModifiedBy>
  <cp:revision>1</cp:revision>
  <dcterms:created xsi:type="dcterms:W3CDTF">2026-08-05T22:14:01Z</dcterms:created>
  <dcterms:modified xsi:type="dcterms:W3CDTF">2026-08-05T22:14:33Z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0x010100E38A1619F266734FBC2B48FB95398739</vt:lpwstr>
  </property>
  <property fmtid="{D5CDD505-2E9C-101B-9397-08002B2CF9AE}" pid="3" name="MediaServiceImageTags">
    <vt:lpwstr/>
  </property>
</Properties>
</file>