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BAD583D-414C-8D2B-DA03-8F81A2352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F4955A-2927-2A7F-F09E-0AAD319A9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8EA512-8EB5-AB46-84BC-685DB8D24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6F816F-35B6-5CB3-2A98-D0D07ED58821}"/>
              </a:ext>
            </a:extLst>
          </p:cNvPr>
          <p:cNvSpPr txBox="1"/>
          <p:nvPr/>
        </p:nvSpPr>
        <p:spPr>
          <a:xfrm>
            <a:off x="787400" y="1371600"/>
            <a:ext cx="8763000" cy="189795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4000" b="1">
                <a:solidFill>
                  <a:srgbClr val="FFFFFF"/>
                </a:solidFill>
                <a:latin typeface="Proxima Nova Rg"/>
              </a:rPr>
              <a:t>Structural interpretation of emergency unemployment assistance</a:t>
            </a:r>
            <a:endParaRPr lang="en-NZ" sz="40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88796-0499-BC27-A98B-6A130F0C9800}"/>
              </a:ext>
            </a:extLst>
          </p:cNvPr>
          <p:cNvSpPr txBox="1"/>
          <p:nvPr/>
        </p:nvSpPr>
        <p:spPr>
          <a:xfrm>
            <a:off x="825500" y="3365500"/>
            <a:ext cx="8255000" cy="6976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>
                <a:solidFill>
                  <a:srgbClr val="FFFFFF"/>
                </a:solidFill>
                <a:latin typeface="GT Sectra Fine"/>
              </a:rPr>
              <a:t>Model 15: mechanisms, calibration, weaknesses and a submission-ready research agenda</a:t>
            </a:r>
            <a:endParaRPr lang="en-NZ" sz="2100" dirty="0">
              <a:solidFill>
                <a:srgbClr val="FFFFFF"/>
              </a:solidFill>
              <a:latin typeface="GT Sectra Fi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AE544-6DB5-AFA4-6FF6-A4B25DCDE779}"/>
              </a:ext>
            </a:extLst>
          </p:cNvPr>
          <p:cNvSpPr txBox="1"/>
          <p:nvPr/>
        </p:nvSpPr>
        <p:spPr>
          <a:xfrm>
            <a:off x="825500" y="5461000"/>
            <a:ext cx="825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FFFFFF"/>
                </a:solidFill>
                <a:latin typeface="Proxima Nova Rg"/>
              </a:rPr>
              <a:t>Labour economics teaching deck | Based on manuscript v10 and structural model 15 | August 2026</a:t>
            </a:r>
            <a:endParaRPr lang="en-NZ" sz="1200" dirty="0">
              <a:solidFill>
                <a:srgbClr val="FFFFF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4F2C79-CD49-5469-1416-DC5D10B09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7487A2-0976-EA97-5B33-84702349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35CA7-5D5C-CF25-3F86-14AF7BA429C4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B2CCB-F132-5462-295D-3324412A77AF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5513BB-7123-823C-88E5-B985AE6A9AA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929F3-ACAE-3E56-1510-4CA9F82F6B2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8643E7-A33B-65AB-03E3-292A40A03B86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5A27F-7C01-3BD5-9B7B-B6BB9224CA7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1A47B-4476-B3D9-0172-65BB98DBFEC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BDB41-E380-C498-AD91-662B9A73D36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62CC2-A34B-6BD3-2116-A0257D22D77E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7CA1D-F376-B2DD-A25A-6975CF9C2E37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9F03C-6C36-2BA2-8466-60D646704870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What this deck is designed to teach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591B51-91C2-F7C0-A182-1968A135296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491B8-5E57-430D-8533-DD181C539E7E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CD39C3-408D-7499-0065-8201BF4BC9DD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Read the mechanism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8DB9A-86A8-CE2B-EEF4-91ED20301520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7EF54B-1182-CD58-873C-D66997000C65}"/>
              </a:ext>
            </a:extLst>
          </p:cNvPr>
          <p:cNvSpPr txBox="1"/>
          <p:nvPr/>
        </p:nvSpPr>
        <p:spPr>
          <a:xfrm>
            <a:off x="736600" y="2273300"/>
            <a:ext cx="30480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Translate benefits, work wedges and matching conditions into search, acceptance and employment exits.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AE9044-7CC7-CB93-6C74-C338763451BE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10B009-A9B4-8415-CB63-DE17EDE519AC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Interrogate identification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F95641-B5FF-6D1A-A703-F76F6AE35421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2C19A-7012-BBD8-3F22-044A8AA07DB8}"/>
              </a:ext>
            </a:extLst>
          </p:cNvPr>
          <p:cNvSpPr txBox="1"/>
          <p:nvPr/>
        </p:nvSpPr>
        <p:spPr>
          <a:xfrm>
            <a:off x="45974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See which moments discipline which parameters—and why near-equivalent fits do not identify a unique mechanism.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B10815-ED3E-5589-8F57-AD669F30B9CB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0D246B-DB4F-7240-66BA-3D13A070B9BE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Use the model honestly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A6E15E-222B-6DB4-79B6-CC02C7066F0B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1589B3-3463-B87A-2CB2-F6FB31F7FE4B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Separate a useful quantitative interpretation exercise from welfare analysis or a fully structural equilibrium model.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126B5B-F22A-A8D6-2B8E-99D39A3E2692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B1E780-801C-83E1-D569-FC4D643C404F}"/>
              </a:ext>
            </a:extLst>
          </p:cNvPr>
          <p:cNvSpPr txBox="1"/>
          <p:nvPr/>
        </p:nvSpPr>
        <p:spPr>
          <a:xfrm>
            <a:off x="876300" y="54991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goal is not to defend every current modelling choice; it is to show what can be learned now and what must change before journal submission.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49359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E41BF4-6CB5-B172-D872-AA122575C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111B4F-D70F-B78A-1782-D505BD58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63284-4021-E96A-3C6B-3B292D45307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BDE17-1884-D332-0997-10FAD0B7857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9C820-B0AF-466D-AF05-A0B66757AB7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091A4-A40C-A649-834E-C5F7B7C0698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11C66-7A20-6460-D1D7-AAD6E1565F3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1ED54-95EC-FF5F-CCCC-5CBD8F0447DB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B6EED-A941-52F2-5B36-1090D4F066FF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4BB32-260C-5345-7F57-70D7CE3D39A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29E45-893D-BB92-77F4-8CFD30D4E650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9FE3D-E4BA-BC97-E5EC-BD7355404A1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1A188-54DA-3C99-455C-F643C1756F9E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Bottom line on model 15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3BC065-EFDC-6525-55D5-02F0C95CD36F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2F58D0-A656-0DC4-140B-BF2E1AD0F040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E2C9E-C235-0326-B3B1-2C1BEFD89CC1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Real advance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6B9E2-6664-398E-DEB9-165C57F33E68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F31F5-7E17-1859-B29D-1FEAAA7BE697}"/>
              </a:ext>
            </a:extLst>
          </p:cNvPr>
          <p:cNvSpPr txBox="1"/>
          <p:nvPr/>
        </p:nvSpPr>
        <p:spPr>
          <a:xfrm>
            <a:off x="736600" y="2273300"/>
            <a:ext cx="3048000" cy="116698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Model 15 gives bounded, surplus-sensitive exit probabilities; shares a common surplus index across finding and exits; and genuinely holds out Australian post JFR.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37892F-DF94-2771-BAC9-CE711264C038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3118B3-6D04-CDC1-40EA-1FB887EB2A53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Main empirical message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2B2C6B-BDF2-A2F2-F6C3-F9109C6D19A8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33D0D1-8E3B-E908-3035-39C5EF853A2E}"/>
              </a:ext>
            </a:extLst>
          </p:cNvPr>
          <p:cNvSpPr txBox="1"/>
          <p:nvPr/>
        </p:nvSpPr>
        <p:spPr>
          <a:xfrm>
            <a:off x="4597400" y="2273300"/>
            <a:ext cx="3048000" cy="116698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 the benchmark, the benefit-only job-finding DiD is −1.50 pp versus −1.31 pp in the full environment. For exits, nonlinear interaction is central.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219F70-9583-8F2A-3891-C553347EB9E5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D47029-AA9F-FE1F-0A50-8D39093E5260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Binding limitation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24FD50-CEF3-26F8-F404-6318D5575ABE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126446-79EE-1BA5-7143-94B6B7037857}"/>
              </a:ext>
            </a:extLst>
          </p:cNvPr>
          <p:cNvSpPr txBox="1"/>
          <p:nvPr/>
        </p:nvSpPr>
        <p:spPr>
          <a:xfrm>
            <a:off x="8458200" y="2273300"/>
            <a:ext cx="3048000" cy="139012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selected benchmark is weakly identified. Near-fitting parameterisations imply held-out errors from roughly −2.84 to +0.48 pp and work wedges from 5% to 41% of wages.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B3C9C4-46DE-76E7-945C-761EA892C0C9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089533-5293-FB64-10CC-0891E2C436EC}"/>
              </a:ext>
            </a:extLst>
          </p:cNvPr>
          <p:cNvSpPr txBox="1"/>
          <p:nvPr/>
        </p:nvSpPr>
        <p:spPr>
          <a:xfrm>
            <a:off x="876300" y="54991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Treat the current model as a partially identified interpretation model. Do not present its point decomposition as uniquely estimated.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79730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45863-A25D-1C9A-C667-F0BE9DA69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A19441-2F58-353C-321D-3D78E889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49667-A39A-E044-5116-AA2939BA4C19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85753-A65B-F6D1-8680-1595A4E02B77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58E97-3860-5B77-ABC8-084A610E0B5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0C95F-92F8-D417-7F4C-8B6BDEAE362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4495F2-7697-F64E-3080-9D2C0F8275C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A53E1-336D-2C7D-7CA7-7D4C57D7C19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D96424-4755-BD84-F038-F9CA629DB3F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9978A-6F69-4BD5-A2B6-1856113753C8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A4270-4C02-7AAE-DCCE-9BD12E65D5FB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1BBA4-0B1B-BCB5-25D4-51515BA52B84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9BA75-D672-D8C3-AB2C-44B57AC6BE45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Roadmap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0307B-3F7B-ACC0-1C02-C17F4996226A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FA8445-F7BF-EC39-3959-81361A0E1537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D320A-9504-E97D-AE47-79DCC1FCFAC0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Part I — Learn the current model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E8B2BC-8D14-4561-E802-D022A030A16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6ADC9-4533-56BB-A837-6E6C2D1B8549}"/>
              </a:ext>
            </a:extLst>
          </p:cNvPr>
          <p:cNvSpPr txBox="1"/>
          <p:nvPr/>
        </p:nvSpPr>
        <p:spPr>
          <a:xfrm>
            <a:off x="7747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1. Empirical moments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2. Worker problem and search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3. Acceptance and exit hazards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4. Firms, matching and dynamics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5. Calibration mapping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640D52-5E67-4839-FF4D-73B5E2583D37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58383D-86CC-36CA-D8F8-2A35EFDCC58B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 b="1">
                <a:solidFill>
                  <a:srgbClr val="FFFFFF"/>
                </a:solidFill>
                <a:latin typeface="Proxima Nova Rg"/>
              </a:rPr>
              <a:t>Part II — Decide what to keep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0CDB4B-D245-7186-F2DC-7DBBC93870BF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3DC5F3-6693-9E96-0A36-8FF6CDC8CBE8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6. Benchmark results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7. Identification audit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8. Internal-consistency audit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9. Minimal submission-ready model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10. Ambitious extensions and paper write-up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419CF8-B06D-21DD-B4A2-E870C823CC21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5F1C18-2907-B452-E1C8-D64663ED9571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Slides deliberately alternate equations, intuition, diagnostics and recommended decisions.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91907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9727E0-8CF2-78C8-D157-9D4C12127B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9CFC8-4289-2129-BD72-CFEEB301DEA3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01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40C59-74D9-6F5C-F670-D3FAE78D2668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What must the model explain?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96DF1-6F6C-4DEF-88A0-BF59FA25E65F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Start from transition moments; ask which mechanisms can rationalise them.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20328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3DAB7-5D53-828A-8ED0-D7A9C462A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720332-D8ED-4327-6CCF-AF48F04A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82561-6815-1E19-18D8-ACD134C9DEFB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976E2-399E-C5CD-5CCB-25E69A577B7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25837-ED03-C90A-6348-C6A2CA6F2C34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47A94-F636-39AA-106A-8088CA42B13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BAEF0-83F2-35DC-972F-E42CE551215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02954-238C-1E32-4641-66552C33032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49FE5-6E6D-6E82-20C0-F13D13C57E6E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D1D-6C70-1A9B-D56A-58ABFCC33BF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7536B-34FC-8EBF-34F6-A5CD507DA4C9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B3794-C30C-BA70-D2EE-7829A9C1877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C11F78-57AA-0C90-1889-C50AFC12A836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draft supplies four transition cells—and two DiD contrasts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91D1E-71D9-65F0-6317-A3F6B33B4A57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6AD585-6536-06B1-757E-673C7E5469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333500"/>
            <a:ext cx="10541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03AA7D-3131-26FB-469E-08076776211F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These numbers are provisional until the empirical risk sets and inference are rebuilt.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646648-D8B3-371B-B04E-5B68A7BA8DEF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Source: manuscript Tables 3–4 and model-15 Targets().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16054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E403F-9EBC-9AE9-9AE0-AEE2FD375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E3F76B-D522-453F-CB48-A5D2CCC8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34EC0-A3E1-303A-A094-8E791F188C33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40A45-3C0B-3CDE-4056-CFE1B71D454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6BBD2D-BD56-171C-7DD2-5A03F9B681BD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ED097-9C2D-6673-E1B8-3FD1CF1B793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4854A6-99F1-6475-4602-C1B1967ECD2B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36230-0B41-7399-E132-183A804C9035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23CCA-26B2-EDEE-262D-BD8ED636BAA5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4857A-0786-4F0D-E87A-89BEEC81751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082A0-6679-4668-10BD-B23828FB97F4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A2D730-8C4B-FAF7-ED80-F870F5411B8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63823-6C57-3479-8128-725CCE4FDBB4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Why add structure to a credible reduced-form design?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0F6BA7-E12A-90F6-E09B-3288F8F6DB3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30F97-9247-9466-DF8E-477629CDC690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D38F8-1BCB-A11C-8B12-A76574B50F57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Reduced form can estimate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468D36-C870-9573-C33A-A24969302073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2FB68-91C2-07A8-F6D5-321992A7EBAB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The change in Australian-minus-NZ job finding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The change in Australian-minus-NZ payroll exits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Heterogeneity by predicted policy exposure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Dynamic responses around announcements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1FB90E-19BD-58A0-BAF8-D5AF1EC73D9B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5A31A6-9631-7632-75BD-5C2FE4FB3D49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Structure can organise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9FED30-76EE-3371-161D-22844FB39D2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65B2AB-CAFB-5AC7-1D50-40A7A7818ABB}"/>
              </a:ext>
            </a:extLst>
          </p:cNvPr>
          <p:cNvSpPr txBox="1"/>
          <p:nvPr/>
        </p:nvSpPr>
        <p:spPr>
          <a:xfrm>
            <a:off x="64135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Benefits versus common job-opportunity shocks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Search versus acceptance margins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Complementarity in match continuation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• Counterfactual changes outside the observed episode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672A6A5-89D0-8CAE-DD88-5F64484FA41D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6CA678-9B16-27A9-5312-BC917F9F1ADF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Structure does not repair a selected empirical sample. Revised target moments must come first.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30054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10BEC-80E9-BFF4-7996-77345547D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6E3D0A-DDFF-940C-D975-7B7E3DF8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658CD-287E-8EBB-01C6-86B03266FA24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501E0-5E68-C34D-99A0-1FE6E63BC6DB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Motivation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50CB8F-60B1-CF0F-705B-E0537F6F7964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D3A87-3F77-9D4C-EF9B-DA42A1E51E9C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63CC7-B71B-BA7E-1203-2570F0098F7F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BBD26-6D17-4608-8D89-A7F5B09DA37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1F2F7D-84D5-CDDB-07E4-5CE2DCE8C72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CE5D41-72CE-00A9-DD92-54136C97976E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6FD6CD-8F4A-9E6B-6692-DA6A18B85F27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20C90-FF55-3587-292D-9938F158AB4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7A648-F117-E329-9C7B-059B7C57D25E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What changed from the manuscript model to version 15?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479CDD-429E-E597-78AB-4E2CD9832EC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F4D8B9-147D-3B74-99E3-94883B9E6C1D}"/>
              </a:ext>
            </a:extLst>
          </p:cNvPr>
          <p:cNvSpPr/>
          <p:nvPr/>
        </p:nvSpPr>
        <p:spPr>
          <a:xfrm>
            <a:off x="609600" y="1473200"/>
            <a:ext cx="2130641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1194C3-089E-2469-F313-96DAE3FA4F82}"/>
              </a:ext>
            </a:extLst>
          </p:cNvPr>
          <p:cNvSpPr txBox="1"/>
          <p:nvPr/>
        </p:nvSpPr>
        <p:spPr>
          <a:xfrm>
            <a:off x="673100" y="1549400"/>
            <a:ext cx="200364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Dimension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36948F-141C-384C-EAA8-CECE97C95AB3}"/>
              </a:ext>
            </a:extLst>
          </p:cNvPr>
          <p:cNvSpPr/>
          <p:nvPr/>
        </p:nvSpPr>
        <p:spPr>
          <a:xfrm>
            <a:off x="2740241" y="1473200"/>
            <a:ext cx="2663300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3A2F5-A89B-B28C-F75B-CA7A48EB200B}"/>
              </a:ext>
            </a:extLst>
          </p:cNvPr>
          <p:cNvSpPr txBox="1"/>
          <p:nvPr/>
        </p:nvSpPr>
        <p:spPr>
          <a:xfrm>
            <a:off x="2803741" y="1549400"/>
            <a:ext cx="253630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Manuscript / earlier model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C9B274-37CA-31B3-E86F-C79AC684FEB6}"/>
              </a:ext>
            </a:extLst>
          </p:cNvPr>
          <p:cNvSpPr/>
          <p:nvPr/>
        </p:nvSpPr>
        <p:spPr>
          <a:xfrm>
            <a:off x="5403542" y="1473200"/>
            <a:ext cx="2876365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405AFC-4267-E7B2-F8EF-CA6158BD1656}"/>
              </a:ext>
            </a:extLst>
          </p:cNvPr>
          <p:cNvSpPr txBox="1"/>
          <p:nvPr/>
        </p:nvSpPr>
        <p:spPr>
          <a:xfrm>
            <a:off x="5467042" y="1549400"/>
            <a:ext cx="2749365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Model 15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83DDC3-9E07-9DA3-3B1B-01602BE70E06}"/>
              </a:ext>
            </a:extLst>
          </p:cNvPr>
          <p:cNvSpPr/>
          <p:nvPr/>
        </p:nvSpPr>
        <p:spPr>
          <a:xfrm>
            <a:off x="8279907" y="1473200"/>
            <a:ext cx="3302493" cy="6985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E2826-F83F-49D9-4B37-FAAD129E5FE7}"/>
              </a:ext>
            </a:extLst>
          </p:cNvPr>
          <p:cNvSpPr txBox="1"/>
          <p:nvPr/>
        </p:nvSpPr>
        <p:spPr>
          <a:xfrm>
            <a:off x="8343407" y="1549400"/>
            <a:ext cx="3175493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Implication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79AEB-78E3-6675-04D9-8898E95B73C9}"/>
              </a:ext>
            </a:extLst>
          </p:cNvPr>
          <p:cNvSpPr/>
          <p:nvPr/>
        </p:nvSpPr>
        <p:spPr>
          <a:xfrm>
            <a:off x="609600" y="2171700"/>
            <a:ext cx="2130641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6B6218-4E03-168B-1331-308CB502A6DD}"/>
              </a:ext>
            </a:extLst>
          </p:cNvPr>
          <p:cNvSpPr txBox="1"/>
          <p:nvPr/>
        </p:nvSpPr>
        <p:spPr>
          <a:xfrm>
            <a:off x="673100" y="2235200"/>
            <a:ext cx="200364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Employment exits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560766-7424-8067-40A8-9FB1CE3EE697}"/>
              </a:ext>
            </a:extLst>
          </p:cNvPr>
          <p:cNvSpPr/>
          <p:nvPr/>
        </p:nvSpPr>
        <p:spPr>
          <a:xfrm>
            <a:off x="2740241" y="2171700"/>
            <a:ext cx="2663300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CB4002-B803-4A8D-60C3-61ECFD29050C}"/>
              </a:ext>
            </a:extLst>
          </p:cNvPr>
          <p:cNvSpPr txBox="1"/>
          <p:nvPr/>
        </p:nvSpPr>
        <p:spPr>
          <a:xfrm>
            <a:off x="2803741" y="2235200"/>
            <a:ext cx="2536301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Largely exogenous or additively shifted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6A4F29-01AE-120E-A882-03F7F2CAE70F}"/>
              </a:ext>
            </a:extLst>
          </p:cNvPr>
          <p:cNvSpPr/>
          <p:nvPr/>
        </p:nvSpPr>
        <p:spPr>
          <a:xfrm>
            <a:off x="5403542" y="2171700"/>
            <a:ext cx="287636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E8821-B70B-1D35-F485-A3B87B687F13}"/>
              </a:ext>
            </a:extLst>
          </p:cNvPr>
          <p:cNvSpPr txBox="1"/>
          <p:nvPr/>
        </p:nvSpPr>
        <p:spPr>
          <a:xfrm>
            <a:off x="5467042" y="2235200"/>
            <a:ext cx="2749365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Smooth, bounded hazard of net flow surplus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7FA5F5-9DB3-301C-2410-A32EFC6849D0}"/>
              </a:ext>
            </a:extLst>
          </p:cNvPr>
          <p:cNvSpPr/>
          <p:nvPr/>
        </p:nvSpPr>
        <p:spPr>
          <a:xfrm>
            <a:off x="8279907" y="2171700"/>
            <a:ext cx="330249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413AF-25BF-9E1E-E3C7-D11882EE3D93}"/>
              </a:ext>
            </a:extLst>
          </p:cNvPr>
          <p:cNvSpPr txBox="1"/>
          <p:nvPr/>
        </p:nvSpPr>
        <p:spPr>
          <a:xfrm>
            <a:off x="8343407" y="2235200"/>
            <a:ext cx="317549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Benefits and work wedges interact nonlinearly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1ED052-605E-7F5C-0F2B-F64C32085AEB}"/>
              </a:ext>
            </a:extLst>
          </p:cNvPr>
          <p:cNvSpPr/>
          <p:nvPr/>
        </p:nvSpPr>
        <p:spPr>
          <a:xfrm>
            <a:off x="609600" y="2870200"/>
            <a:ext cx="2130641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1006C7-73D4-4A5A-9196-3BB5943E19A0}"/>
              </a:ext>
            </a:extLst>
          </p:cNvPr>
          <p:cNvSpPr txBox="1"/>
          <p:nvPr/>
        </p:nvSpPr>
        <p:spPr>
          <a:xfrm>
            <a:off x="673100" y="2933700"/>
            <a:ext cx="200364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Post calibration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D87D1B-7E20-0E86-A8AC-1F304FB2F195}"/>
              </a:ext>
            </a:extLst>
          </p:cNvPr>
          <p:cNvSpPr/>
          <p:nvPr/>
        </p:nvSpPr>
        <p:spPr>
          <a:xfrm>
            <a:off x="2740241" y="2870200"/>
            <a:ext cx="2663300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0C40BB-F949-7184-E7B0-2FF64EBBF9DA}"/>
              </a:ext>
            </a:extLst>
          </p:cNvPr>
          <p:cNvSpPr txBox="1"/>
          <p:nvPr/>
        </p:nvSpPr>
        <p:spPr>
          <a:xfrm>
            <a:off x="2803741" y="2933700"/>
            <a:ext cx="253630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Fits both groupsʼ post JFRs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047019-2221-5AAD-F5E1-A40A9F0E0F42}"/>
              </a:ext>
            </a:extLst>
          </p:cNvPr>
          <p:cNvSpPr/>
          <p:nvPr/>
        </p:nvSpPr>
        <p:spPr>
          <a:xfrm>
            <a:off x="5403542" y="2870200"/>
            <a:ext cx="287636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78B1C3-65EC-9AD2-EB28-FD1259C5EE68}"/>
              </a:ext>
            </a:extLst>
          </p:cNvPr>
          <p:cNvSpPr txBox="1"/>
          <p:nvPr/>
        </p:nvSpPr>
        <p:spPr>
          <a:xfrm>
            <a:off x="5467042" y="2933700"/>
            <a:ext cx="2749365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NZ post JFR fitted; AU post JFR held out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1FA5AD-9B41-4620-45A5-F4BCFDCB59F6}"/>
              </a:ext>
            </a:extLst>
          </p:cNvPr>
          <p:cNvSpPr/>
          <p:nvPr/>
        </p:nvSpPr>
        <p:spPr>
          <a:xfrm>
            <a:off x="8279907" y="2870200"/>
            <a:ext cx="3302493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F8B0B2-C27B-1BCE-D999-9CD1C960E794}"/>
              </a:ext>
            </a:extLst>
          </p:cNvPr>
          <p:cNvSpPr txBox="1"/>
          <p:nvPr/>
        </p:nvSpPr>
        <p:spPr>
          <a:xfrm>
            <a:off x="8343407" y="2933700"/>
            <a:ext cx="317549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Creates a genuine validation target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C0F075-2307-DF98-5D29-206B45AF22ED}"/>
              </a:ext>
            </a:extLst>
          </p:cNvPr>
          <p:cNvSpPr/>
          <p:nvPr/>
        </p:nvSpPr>
        <p:spPr>
          <a:xfrm>
            <a:off x="609600" y="3568700"/>
            <a:ext cx="2130641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0A7E59-2A57-170A-AC8E-2F1A1B6B0C72}"/>
              </a:ext>
            </a:extLst>
          </p:cNvPr>
          <p:cNvSpPr txBox="1"/>
          <p:nvPr/>
        </p:nvSpPr>
        <p:spPr>
          <a:xfrm>
            <a:off x="673100" y="3632200"/>
            <a:ext cx="200364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Search costs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D2F962-4291-0D18-8BB0-71AF53767F94}"/>
              </a:ext>
            </a:extLst>
          </p:cNvPr>
          <p:cNvSpPr/>
          <p:nvPr/>
        </p:nvSpPr>
        <p:spPr>
          <a:xfrm>
            <a:off x="2740241" y="3568700"/>
            <a:ext cx="2663300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352900-8811-468A-AAB4-1890F09E332E}"/>
              </a:ext>
            </a:extLst>
          </p:cNvPr>
          <p:cNvSpPr txBox="1"/>
          <p:nvPr/>
        </p:nvSpPr>
        <p:spPr>
          <a:xfrm>
            <a:off x="2803741" y="3632200"/>
            <a:ext cx="253630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May vary pre/post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635CA3-02AD-1327-3830-F2093642E639}"/>
              </a:ext>
            </a:extLst>
          </p:cNvPr>
          <p:cNvSpPr/>
          <p:nvPr/>
        </p:nvSpPr>
        <p:spPr>
          <a:xfrm>
            <a:off x="5403542" y="3568700"/>
            <a:ext cx="287636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0C2529-0FDD-642B-E8D5-63B9165F013F}"/>
              </a:ext>
            </a:extLst>
          </p:cNvPr>
          <p:cNvSpPr txBox="1"/>
          <p:nvPr/>
        </p:nvSpPr>
        <p:spPr>
          <a:xfrm>
            <a:off x="5467042" y="3632200"/>
            <a:ext cx="27493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Restricted model holds κ fixed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1D2C57-044B-5114-AA61-8DBFE7833FB2}"/>
              </a:ext>
            </a:extLst>
          </p:cNvPr>
          <p:cNvSpPr/>
          <p:nvPr/>
        </p:nvSpPr>
        <p:spPr>
          <a:xfrm>
            <a:off x="8279907" y="3568700"/>
            <a:ext cx="330249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FB336B-443B-B7A6-D566-A38F628120ED}"/>
              </a:ext>
            </a:extLst>
          </p:cNvPr>
          <p:cNvSpPr txBox="1"/>
          <p:nvPr/>
        </p:nvSpPr>
        <p:spPr>
          <a:xfrm>
            <a:off x="8343407" y="3632200"/>
            <a:ext cx="317549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Common post shock is channelled through μ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32A0F8-7C2B-C5A8-92B9-51CB4E6CF63C}"/>
              </a:ext>
            </a:extLst>
          </p:cNvPr>
          <p:cNvSpPr/>
          <p:nvPr/>
        </p:nvSpPr>
        <p:spPr>
          <a:xfrm>
            <a:off x="609600" y="4267200"/>
            <a:ext cx="2130641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511930-7ED2-6855-276B-0ECCFE24CB5E}"/>
              </a:ext>
            </a:extLst>
          </p:cNvPr>
          <p:cNvSpPr txBox="1"/>
          <p:nvPr/>
        </p:nvSpPr>
        <p:spPr>
          <a:xfrm>
            <a:off x="673100" y="4330700"/>
            <a:ext cx="200364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Decomposition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F0AF94-EC9A-B289-6809-CC55A43C3D52}"/>
              </a:ext>
            </a:extLst>
          </p:cNvPr>
          <p:cNvSpPr/>
          <p:nvPr/>
        </p:nvSpPr>
        <p:spPr>
          <a:xfrm>
            <a:off x="2740241" y="4267200"/>
            <a:ext cx="2663300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754E6B-2D57-52E9-542F-860E673CCE8F}"/>
              </a:ext>
            </a:extLst>
          </p:cNvPr>
          <p:cNvSpPr txBox="1"/>
          <p:nvPr/>
        </p:nvSpPr>
        <p:spPr>
          <a:xfrm>
            <a:off x="2803741" y="4330700"/>
            <a:ext cx="253630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Narrative «health versus benefits»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54F9BF-0ED6-46C2-37B9-899CB65E9434}"/>
              </a:ext>
            </a:extLst>
          </p:cNvPr>
          <p:cNvSpPr/>
          <p:nvPr/>
        </p:nvSpPr>
        <p:spPr>
          <a:xfrm>
            <a:off x="5403542" y="4267200"/>
            <a:ext cx="2876365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6B6889-6C55-FB5F-46E7-F16DECC6EDC2}"/>
              </a:ext>
            </a:extLst>
          </p:cNvPr>
          <p:cNvSpPr txBox="1"/>
          <p:nvPr/>
        </p:nvSpPr>
        <p:spPr>
          <a:xfrm>
            <a:off x="5467042" y="4330700"/>
            <a:ext cx="27493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Four scenario environments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4088BC7-36D3-BCBE-C1C8-F17B9350AF99}"/>
              </a:ext>
            </a:extLst>
          </p:cNvPr>
          <p:cNvSpPr/>
          <p:nvPr/>
        </p:nvSpPr>
        <p:spPr>
          <a:xfrm>
            <a:off x="8279907" y="4267200"/>
            <a:ext cx="3302493" cy="698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F5AE4B-C6E5-C2D5-0872-708EA53D8499}"/>
              </a:ext>
            </a:extLst>
          </p:cNvPr>
          <p:cNvSpPr txBox="1"/>
          <p:nvPr/>
        </p:nvSpPr>
        <p:spPr>
          <a:xfrm>
            <a:off x="8343407" y="4330700"/>
            <a:ext cx="317549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Scenarios are not additive contributions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4AE320-4E7F-B0AA-844B-4788712E62E5}"/>
              </a:ext>
            </a:extLst>
          </p:cNvPr>
          <p:cNvSpPr/>
          <p:nvPr/>
        </p:nvSpPr>
        <p:spPr>
          <a:xfrm>
            <a:off x="609600" y="4965700"/>
            <a:ext cx="2130641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285F8E-56D4-D82A-582D-B80E06D0E6B9}"/>
              </a:ext>
            </a:extLst>
          </p:cNvPr>
          <p:cNvSpPr txBox="1"/>
          <p:nvPr/>
        </p:nvSpPr>
        <p:spPr>
          <a:xfrm>
            <a:off x="673100" y="5029200"/>
            <a:ext cx="200364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Exit language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9B67B9-D090-5B6A-966B-36419B4F9B21}"/>
              </a:ext>
            </a:extLst>
          </p:cNvPr>
          <p:cNvSpPr/>
          <p:nvPr/>
        </p:nvSpPr>
        <p:spPr>
          <a:xfrm>
            <a:off x="2740241" y="4965700"/>
            <a:ext cx="2663300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717687-B7EB-55F4-6E3D-43C18203855B}"/>
              </a:ext>
            </a:extLst>
          </p:cNvPr>
          <p:cNvSpPr txBox="1"/>
          <p:nvPr/>
        </p:nvSpPr>
        <p:spPr>
          <a:xfrm>
            <a:off x="2803741" y="5029200"/>
            <a:ext cx="253630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Match-quality interpretation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6BCA96-6F73-549C-A5C3-F562E4C00F03}"/>
              </a:ext>
            </a:extLst>
          </p:cNvPr>
          <p:cNvSpPr/>
          <p:nvPr/>
        </p:nvSpPr>
        <p:spPr>
          <a:xfrm>
            <a:off x="5403542" y="4965700"/>
            <a:ext cx="2876365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01C3DF-42AD-2341-DB30-356198FDEDBF}"/>
              </a:ext>
            </a:extLst>
          </p:cNvPr>
          <p:cNvSpPr txBox="1"/>
          <p:nvPr/>
        </p:nvSpPr>
        <p:spPr>
          <a:xfrm>
            <a:off x="5467042" y="5029200"/>
            <a:ext cx="2749365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Static group-level logistic hazard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08D6E0-656C-5209-A693-53FAD7E240E3}"/>
              </a:ext>
            </a:extLst>
          </p:cNvPr>
          <p:cNvSpPr/>
          <p:nvPr/>
        </p:nvSpPr>
        <p:spPr>
          <a:xfrm>
            <a:off x="8279907" y="4965700"/>
            <a:ext cx="3302493" cy="6985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AB3FE4-C596-51CA-06B0-F7DB1CBB05C4}"/>
              </a:ext>
            </a:extLst>
          </p:cNvPr>
          <p:cNvSpPr txBox="1"/>
          <p:nvPr/>
        </p:nvSpPr>
        <p:spPr>
          <a:xfrm>
            <a:off x="8343407" y="5029200"/>
            <a:ext cx="3175493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Must be described as reduced-form unless quality state is implemented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1E72873-35BA-D222-6EDE-3C8E0FB2CFDE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DEF10A-654D-3615-40EC-DF626F5764F8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paperʼs current structural section and abstract must be rewritten from model 15 outputs—not patched line by line.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5A8A77-7E17-2AD4-05F1-111CF2AAA0E1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Source: manuscript section 7; 15_structural_separation_model.jl.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830039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1C1C32-90D3-EE05-5757-CB5C46DD1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A2DCA-D213-BD6A-5335-2AB0224CCDC5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02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97588-8483-F652-67E9-3AAC7D71E47D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60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FCC46-6DB1-8166-F8D9-4D318C1267E5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Two types, two states, a common market, and a surplus-sensitive exit hazard.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132233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AC007F-1D03-40C5-2B79-6BE421DEC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5025D1-A7E4-5A8F-038F-0F66BE02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7CF80C-F827-6ED2-8F19-FB84E88AD3E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06DDE-8FE0-8632-3417-1733785F571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76621-D3CE-7D00-6EA6-8D1853C3D49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0AE42-A932-50BC-C034-A509A11F100A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1ABA3E-A887-80FD-C5C9-E72A43D7F62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80D59-84C8-1DEF-B6B9-375AC579B89B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D0B448-631A-8CA3-63BC-D1A1B5A52BE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A3A6E-0461-1672-03BD-6C5D0D96DD31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07EB9-8BEB-A232-4C8D-95510C75EA8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70AEC-CD9F-B1D9-96E0-4E8BFA65CDBF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E316FB-BF0E-3A4A-A871-C448DA9E7F03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model has two worker types and two labour-market states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4992AC-8E6D-A700-E3A4-9434B1779186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8AA630-65FD-B787-72FD-A4413420E816}"/>
              </a:ext>
            </a:extLst>
          </p:cNvPr>
          <p:cNvSpPr/>
          <p:nvPr/>
        </p:nvSpPr>
        <p:spPr>
          <a:xfrm>
            <a:off x="698500" y="2032000"/>
            <a:ext cx="2984500" cy="18415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F2591-4C86-F163-C975-E3A9AF06B02F}"/>
              </a:ext>
            </a:extLst>
          </p:cNvPr>
          <p:cNvSpPr txBox="1"/>
          <p:nvPr/>
        </p:nvSpPr>
        <p:spPr>
          <a:xfrm>
            <a:off x="825500" y="2146300"/>
            <a:ext cx="273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Non-employed: Uⱼ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8D599-517E-7B4B-6C7A-EAB5A9FBA6F6}"/>
              </a:ext>
            </a:extLst>
          </p:cNvPr>
          <p:cNvSpPr txBox="1"/>
          <p:nvPr/>
        </p:nvSpPr>
        <p:spPr>
          <a:xfrm>
            <a:off x="825500" y="2489200"/>
            <a:ext cx="2730500" cy="68480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Outside option bⱼ + ℓ</a:t>
            </a:r>
          </a:p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Choose search sⱼ</a:t>
            </a:r>
          </a:p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Receive/accept offers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7DFEAE-DFD2-B04F-FDC0-D59B652C73CF}"/>
              </a:ext>
            </a:extLst>
          </p:cNvPr>
          <p:cNvSpPr/>
          <p:nvPr/>
        </p:nvSpPr>
        <p:spPr>
          <a:xfrm>
            <a:off x="8445500" y="2032000"/>
            <a:ext cx="2984500" cy="18415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879660-AE61-ACDC-AD4B-372287E3A69A}"/>
              </a:ext>
            </a:extLst>
          </p:cNvPr>
          <p:cNvSpPr txBox="1"/>
          <p:nvPr/>
        </p:nvSpPr>
        <p:spPr>
          <a:xfrm>
            <a:off x="8572500" y="2146300"/>
            <a:ext cx="273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Employed: Wⱼ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E8F23A-AC04-9793-FFBA-2D3ED6B7FE19}"/>
              </a:ext>
            </a:extLst>
          </p:cNvPr>
          <p:cNvSpPr txBox="1"/>
          <p:nvPr/>
        </p:nvSpPr>
        <p:spPr>
          <a:xfrm>
            <a:off x="8572500" y="2489200"/>
            <a:ext cx="2730500" cy="68480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Receive wage w − hⱼ</a:t>
            </a:r>
          </a:p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Continue or exit</a:t>
            </a:r>
          </a:p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Match surplus governs hazard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4F8DB1-45DC-2A0E-8017-4CA654E62317}"/>
              </a:ext>
            </a:extLst>
          </p:cNvPr>
          <p:cNvCxnSpPr/>
          <p:nvPr/>
        </p:nvCxnSpPr>
        <p:spPr>
          <a:xfrm>
            <a:off x="3746500" y="2667000"/>
            <a:ext cx="4572000" cy="0"/>
          </a:xfrm>
          <a:prstGeom prst="line">
            <a:avLst/>
          </a:prstGeom>
          <a:ln w="25400">
            <a:solidFill>
              <a:srgbClr val="004F54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F32E338-CF9F-89D6-7188-50766D3B1456}"/>
              </a:ext>
            </a:extLst>
          </p:cNvPr>
          <p:cNvSpPr txBox="1"/>
          <p:nvPr/>
        </p:nvSpPr>
        <p:spPr>
          <a:xfrm>
            <a:off x="4762500" y="2120900"/>
            <a:ext cx="2603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Cambria Math" panose="02040503050406030204" pitchFamily="18" charset="0"/>
              </a:rPr>
              <a:t>find: fⱼ = aⱼ[1−exp(−csⱼ)]</a:t>
            </a:r>
            <a:endParaRPr lang="en-NZ" sz="1400" b="1" dirty="0">
              <a:solidFill>
                <a:srgbClr val="004F54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19338B-A70E-70A3-6439-484ECBE962DB}"/>
              </a:ext>
            </a:extLst>
          </p:cNvPr>
          <p:cNvCxnSpPr/>
          <p:nvPr/>
        </p:nvCxnSpPr>
        <p:spPr>
          <a:xfrm flipH="1">
            <a:off x="3746500" y="3429000"/>
            <a:ext cx="4572000" cy="0"/>
          </a:xfrm>
          <a:prstGeom prst="line">
            <a:avLst/>
          </a:prstGeom>
          <a:ln w="25400">
            <a:solidFill>
              <a:srgbClr val="E86F3D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D7776F-4BD9-BEA1-BD8A-5566F143A60F}"/>
              </a:ext>
            </a:extLst>
          </p:cNvPr>
          <p:cNvSpPr txBox="1"/>
          <p:nvPr/>
        </p:nvSpPr>
        <p:spPr>
          <a:xfrm>
            <a:off x="4724400" y="3517900"/>
            <a:ext cx="27305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E86F3D"/>
                </a:solidFill>
                <a:latin typeface="Cambria Math" panose="02040503050406030204" pitchFamily="18" charset="0"/>
              </a:rPr>
              <a:t>exit: </a:t>
            </a:r>
            <a:r>
              <a:rPr lang="el-GR" sz="1400" b="1">
                <a:solidFill>
                  <a:srgbClr val="E86F3D"/>
                </a:solidFill>
                <a:latin typeface="Cambria Math" panose="02040503050406030204" pitchFamily="18" charset="0"/>
              </a:rPr>
              <a:t>δ</a:t>
            </a:r>
            <a:r>
              <a:rPr lang="en-NZ" sz="1400" b="1">
                <a:solidFill>
                  <a:srgbClr val="E86F3D"/>
                </a:solidFill>
                <a:latin typeface="Cambria Math" panose="02040503050406030204" pitchFamily="18" charset="0"/>
              </a:rPr>
              <a:t>ⱼ = </a:t>
            </a:r>
            <a:r>
              <a:rPr lang="el-GR" sz="1400" b="1">
                <a:solidFill>
                  <a:srgbClr val="E86F3D"/>
                </a:solidFill>
                <a:latin typeface="Cambria Math" panose="02040503050406030204" pitchFamily="18" charset="0"/>
              </a:rPr>
              <a:t>δ₀ + ξ + </a:t>
            </a:r>
            <a:r>
              <a:rPr lang="en-NZ" sz="1400" b="1">
                <a:solidFill>
                  <a:srgbClr val="E86F3D"/>
                </a:solidFill>
                <a:latin typeface="Cambria Math" panose="02040503050406030204" pitchFamily="18" charset="0"/>
              </a:rPr>
              <a:t>A</a:t>
            </a:r>
            <a:r>
              <a:rPr lang="el-GR" sz="1400" b="1">
                <a:solidFill>
                  <a:srgbClr val="E86F3D"/>
                </a:solidFill>
                <a:latin typeface="Cambria Math" panose="02040503050406030204" pitchFamily="18" charset="0"/>
              </a:rPr>
              <a:t>Λ(·)</a:t>
            </a:r>
            <a:endParaRPr lang="en-NZ" sz="1400" b="1" dirty="0">
              <a:solidFill>
                <a:srgbClr val="E86F3D"/>
              </a:solidFill>
              <a:latin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DFA2F4-D6F8-30E7-FD17-0A28AF9E724C}"/>
              </a:ext>
            </a:extLst>
          </p:cNvPr>
          <p:cNvSpPr txBox="1"/>
          <p:nvPr/>
        </p:nvSpPr>
        <p:spPr>
          <a:xfrm>
            <a:off x="2413000" y="4343400"/>
            <a:ext cx="7366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700">
                <a:solidFill>
                  <a:srgbClr val="4A4E50"/>
                </a:solidFill>
                <a:latin typeface="Proxima Nova Rg"/>
              </a:rPr>
              <a:t>j ∈ {R, N}: R is benefit-eligible / Australian; N is ineligible / New Zealand comparison.</a:t>
            </a:r>
            <a:endParaRPr lang="en-NZ" sz="17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97D1AC-841F-59AD-5FBC-B77D06BE4F76}"/>
              </a:ext>
            </a:extLst>
          </p:cNvPr>
          <p:cNvSpPr/>
          <p:nvPr/>
        </p:nvSpPr>
        <p:spPr>
          <a:xfrm>
            <a:off x="1143000" y="5334000"/>
            <a:ext cx="9906000" cy="8001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761E44-5FDF-EB3E-041C-821EC1E3077E}"/>
              </a:ext>
            </a:extLst>
          </p:cNvPr>
          <p:cNvSpPr txBox="1"/>
          <p:nvPr/>
        </p:nvSpPr>
        <p:spPr>
          <a:xfrm>
            <a:off x="1320800" y="5435600"/>
            <a:ext cx="9550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This is a partial-equilibrium interpretation model. The two types share job opportunities, but their outside options and residual work wedges differ.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77388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D81FEB-D18D-A258-7B85-6745F9CDF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3B3445-6B6D-DD8F-D382-57F174D3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A2A46-8CF2-A80C-F2E4-AF3A480B656C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1040B-4F60-B45E-4779-56A4DC58AE16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C777D-A36E-C439-3B5A-86F14DAEC5C9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9B6B1-06D2-9DB9-202B-904580929DE9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4AD94-9A8C-863B-4DDD-DEF5D9EC018D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7E07E-8AF4-B907-8522-EE7202B9EC3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8B1D0F-9607-C80C-F4DB-0C8661F695A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0C4F1-C96D-C2EC-39B4-5856BE4D4616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598E6-437B-DF27-8368-0F7CA431053C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A2801-7344-D84C-6E5D-6EF867A87E4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FCE64-3745-089D-4CD6-07D593822836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Flow payoffs create the net work-surplus index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6163BE-E145-E64D-FB66-76EF36B859C5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0F6D05-9016-F6C7-DE13-FD4BEE5F3951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C4829-2F63-C19A-5912-362EEFF37566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Eligible / Australian type R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8FBAD-B4FF-83F4-D429-4D4133E2565A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11ABC6-23F9-3C72-B114-A73E99E2833A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Outside: bᴿ + ℓ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Work: w − hᴿ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Flow surplus: zᴿ = w − hᴿ − bᴿ − ℓ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The supplement raises bᴿ and lowers zᴿ.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86AAF5-339B-C582-EC52-812725EF6649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A56533-518A-75F0-81E7-9D79831E3AC6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Ineligible / NZ type 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65CA2F-F85C-B6CD-5BBB-390F2EE00CE6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E04D51-0F61-DB28-F31A-E59A71D92909}"/>
              </a:ext>
            </a:extLst>
          </p:cNvPr>
          <p:cNvSpPr txBox="1"/>
          <p:nvPr/>
        </p:nvSpPr>
        <p:spPr>
          <a:xfrm>
            <a:off x="64135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Outside: bᴺ + ℓ, with bᴺ = 0 in code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Work: w − hᴺ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Flow surplus: zᴺ = w − hᴺ − bᴺ − ℓ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Normalisation sets hᴺ = 0 post-shock.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6A3092-4D2C-BE4F-AF96-806F80658244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2B728D-1483-0AAC-AF90-0FC11C30945E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 code labels h as «health»; empirically it is a residual differential net work-surplus wedge that may absorb composition, policy interactions and measurement.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46068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0DAF49-1E35-44BB-DD22-026C088E0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B7847A-BAC1-3D5D-A2D9-2831C22A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06D45-FAB5-99C8-59E9-E1D683D93C8C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EA9A9-EC1C-4D94-DA50-C75508571F9D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E032B-EE18-6B37-842E-0CBE2812596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50CD6-C775-0A06-A0BF-F09430894FC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3EB6DC-E786-D761-F3EC-5BD090D7E10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76F8D9-E47A-DA28-E41F-8237B1A235B6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CABD97-D2A9-0825-2ED9-3C4F6E843416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B06E9-4925-B080-3AD0-98B2399B7D3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C3C27-AF9B-8DCE-DD2B-4D4DE3AE4F1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A02FF-98BE-3DA4-70AA-9EFF7D4DE152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CBA2D-8967-BF79-5E5B-D1BB4AB9A6E7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A job is found only if an offer arrives and is accepted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9BC62-443F-E719-7780-4B8ACB819C88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8D47DB-4B3C-FB80-C2C4-04BD8097168C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CCA65-6559-803F-7838-8C91710FA4F1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Offer arrival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CC975E-7096-1318-6C14-54B4386EF554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57D251-2D1E-D6E1-2029-85FDDB0302AA}"/>
              </a:ext>
            </a:extLst>
          </p:cNvPr>
          <p:cNvSpPr txBox="1"/>
          <p:nvPr/>
        </p:nvSpPr>
        <p:spPr>
          <a:xfrm>
            <a:off x="774700" y="2108200"/>
            <a:ext cx="5003800" cy="12695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o(s,c) = 1 − exp(−cs)</a:t>
            </a:r>
          </a:p>
          <a:p>
            <a:pPr>
              <a:spcAft>
                <a:spcPts val="400"/>
              </a:spcAft>
            </a:pPr>
            <a:endParaRPr lang="en-US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 is the contact probability from the matching block; s is chosen search effort. The exponential form keeps offers in [0,1].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CA1169-13A7-E58F-9EBF-E7C682FD5F36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A97AC9-7192-B28C-A86F-C81EB95A680D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Acceptance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978427-4F64-7C9D-8903-6282D2645A2C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AEEBFB-E5E5-9430-A456-5F29CBF7E7FC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a(z) = Λ[(z − z̄)/σₐ]</a:t>
            </a:r>
          </a:p>
          <a:p>
            <a:pPr>
              <a:spcAft>
                <a:spcPts val="400"/>
              </a:spcAft>
            </a:pPr>
            <a:endParaRPr lang="en-US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Job-finding probability: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 = a(z) × o(s,c).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Threshold z̄ and dispersion σₐ are fixed, not estimated.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08C984F-AD19-7992-92D0-D612B552E04A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65500-E2D4-0E85-876C-2415A8FC933F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Observed job finding is a product of search, contacts and acceptance. Aggregate transition rates cannot separately identify all three.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549764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7D6347-9609-AE6A-2EF0-FDC5D54A9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DAFC30-706D-E2AD-D91F-6274F633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C4F20-A918-9E16-3D14-09A20AC49DB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29302-2149-E807-966F-3B318099C3A2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B7F40-A1F7-511F-F2EE-73765F91C7D5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C5214-53F1-82B4-AE34-378216058740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B4785-134A-A612-8A12-EA0908C6815B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76026-0B82-3D22-5DBB-4357B5BCCF4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0E339-E061-6385-7EA9-8F21AD7E449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723F-0E55-8FCB-FB69-39F63D00BD3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68B13B-CAE4-CC87-782B-0EC93FF8FF58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A0C05-7827-E636-80FE-3272571B22F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4D302-B773-A456-64C2-07E0AB495D10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Search effort solves a dynamic marginal-cost condition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B48FD2-E4A8-B79F-5507-D4D1AA76C383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B2BAA6-FFA6-FEB5-2A50-BF65B571C577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9A446E-F338-2056-9EF7-43DB008EF70D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First-order condition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CE583A-7E88-894C-0BAE-245C7E78CE4F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20931-412F-63DD-31E6-34770B8E14D1}"/>
              </a:ext>
            </a:extLst>
          </p:cNvPr>
          <p:cNvSpPr txBox="1"/>
          <p:nvPr/>
        </p:nvSpPr>
        <p:spPr>
          <a:xfrm>
            <a:off x="774700" y="2108200"/>
            <a:ext cx="5003800" cy="10464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κ s^η = β · a · c · exp(−cs) · [W′ − U′]</a:t>
            </a:r>
          </a:p>
          <a:p>
            <a:pPr>
              <a:spcAft>
                <a:spcPts val="400"/>
              </a:spcAft>
            </a:pPr>
            <a:endParaRPr lang="en-US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Marginal cost rises with curvature η; the gain depends on acceptance, contact and next-period value surplus.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9D81B-5347-4BA6-F065-900137A8EEF9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D90BC-3D97-E5BB-347D-E873E2DC0CDD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Interpretation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8E53D2-2AC7-13F1-EFAB-3E17D541E6BB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C682D3-E3A8-4304-FCA0-81E014EBADBA}"/>
              </a:ext>
            </a:extLst>
          </p:cNvPr>
          <p:cNvSpPr txBox="1"/>
          <p:nvPr/>
        </p:nvSpPr>
        <p:spPr>
          <a:xfrm>
            <a:off x="6413500" y="2108200"/>
            <a:ext cx="50038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Higher benefits reduce W−U and acceptance; both lower the return to search. Poor matching lowers c. Anticipated policy expiry changes W′−U′ before the cash payment ends.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9A1B21E-EFC2-7F0D-592F-A63E8EA564B5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616B6B-DB97-B56A-4D56-CBA937EFA6C2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In the selected calibration η = 100. That pins s close to one, so the modelʼs «labour-supply» response is mostly an acceptance response.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488506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52D4DD-28B5-04F6-8E14-302474868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8A896D-53EF-FA9E-CD4D-FC3A43E7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018D0-33B3-D1AB-5135-3C8331482CBC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4498E-709C-69A3-7152-C00B8C2F52CF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4169D-238F-D3B5-E9FE-BDD0FF5345E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AB19B-F7D2-AA40-4C2C-57663CB64EE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613017-1DF4-2D7C-19F1-BA432B73F79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F1703-3BD6-6D09-0931-BCC0803FBD1A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F37C1-771C-741D-3AED-BACE5CD154C7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D9CE98-842D-7DE3-ABE9-8552D26D5668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BC67F-5844-0F0E-2876-866509046CF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1E04C-99E2-DD9B-7D1E-A58F787EF7CC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CAB0D-31CB-B2D8-F16F-842FCC1DDB42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Employment exits are a smooth hazard of static flow surplus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FD624-2CCF-6ECD-837A-84C3FABC35DD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E9A65-1FF2-094B-B74B-F030E602731F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4E958-A28E-62B5-23E0-0972BCE67797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Implemented equation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300673-E311-CE15-BB37-66FDACA16439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70463-619A-301A-B341-ABD184C343B8}"/>
              </a:ext>
            </a:extLst>
          </p:cNvPr>
          <p:cNvSpPr txBox="1"/>
          <p:nvPr/>
        </p:nvSpPr>
        <p:spPr>
          <a:xfrm>
            <a:off x="7747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l-GR" sz="1450">
                <a:solidFill>
                  <a:srgbClr val="4A4E50"/>
                </a:solidFill>
                <a:latin typeface="Proxima Nova Rg"/>
              </a:rPr>
              <a:t>δ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ⱼ = clamp[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δ₀ + ξ +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A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Λ((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z̄ₛ − zⱼ)/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σ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ₛ)]</a:t>
            </a:r>
          </a:p>
          <a:p>
            <a:pPr>
              <a:spcAft>
                <a:spcPts val="400"/>
              </a:spcAft>
            </a:pPr>
            <a:endParaRPr lang="en-NZ" sz="1450">
              <a:solidFill>
                <a:srgbClr val="4A4E50"/>
              </a:solidFill>
              <a:latin typeface="Proxima Nova Rg"/>
            </a:endParaRPr>
          </a:p>
          <a:p>
            <a:pPr>
              <a:spcAft>
                <a:spcPts val="400"/>
              </a:spcAft>
            </a:pPr>
            <a:r>
              <a:rPr lang="el-GR" sz="1450">
                <a:solidFill>
                  <a:srgbClr val="4A4E50"/>
                </a:solidFill>
                <a:latin typeface="Proxima Nova Rg"/>
              </a:rPr>
              <a:t>δ₀: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baseline</a:t>
            </a:r>
          </a:p>
          <a:p>
            <a:pPr>
              <a:spcAft>
                <a:spcPts val="400"/>
              </a:spcAft>
            </a:pPr>
            <a:r>
              <a:rPr lang="el-GR" sz="1450">
                <a:solidFill>
                  <a:srgbClr val="4A4E50"/>
                </a:solidFill>
                <a:latin typeface="Proxima Nova Rg"/>
              </a:rPr>
              <a:t>ξ: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common post shock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A: endogenous component amplitude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32642D-B51B-FA34-C324-05295F3A10B0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E61FAB-E746-8189-CDB8-13E9B9D0FBE7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Economic meaning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841763-4388-575D-63E8-34A7770F7B58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10AD5E-8868-8246-67B7-FE01D2942921}"/>
              </a:ext>
            </a:extLst>
          </p:cNvPr>
          <p:cNvSpPr txBox="1"/>
          <p:nvPr/>
        </p:nvSpPr>
        <p:spPr>
          <a:xfrm>
            <a:off x="6413500" y="2108200"/>
            <a:ext cx="50038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 lower zⱼ moves a group into the steep region of the hazard. Benefits and hᴿ therefore complement each other: the effect of one depends on the level of the other.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A15DCB-D5DF-C87A-5441-4E8A77AB8F9E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2A509E-7EE1-7C27-E770-B80DE21BF607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There is no explicit match-quality state or joint continuation rule. Near term: call this a smooth reduced-form employment-exit hazard.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99450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504D-B48D-E145-815F-D1B5F4320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A1F770-2A4D-6376-786B-3839DDE7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8A2CE-99E7-3C3D-AFAB-61C1D2B910B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CF296-4178-FF5E-59E8-7546F7863A5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C977F-4114-CD1B-91E9-B9AB1CDC961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7235C-9A3F-16BF-DA93-AC8F5E6524A4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C5380-C57D-65CB-4D02-0CA78E6B76ED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1C7DA-0551-9F8B-C7BF-74B87B3F986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4A0EC-5E23-B77C-7C85-0A5C52FE9353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93EB4-6A51-77AC-BEF4-6F6FAA55B7D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1132F-D404-767E-6543-D1CA273D04F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81FE8-843D-2D89-2B74-8C3685D743A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9B1FE-9427-E58F-3480-6063B27C0343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matching block turns μ into contact opportunities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BA9200-4581-4C34-22E2-5401AE8AEB1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B81A14-0EA0-ED37-F966-0A85701497F5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FFA08-6ACD-DFE4-D11E-BA5A1DBA656A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firm side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F7870-F53A-9D86-A647-FCCB174FA287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2DC63B-C612-E626-9B04-927BF59B1A55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Firm surplus = y − w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J = (y−w)/[1−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β(1−δ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firm)]</a:t>
            </a:r>
          </a:p>
          <a:p>
            <a:pPr>
              <a:spcAft>
                <a:spcPts val="400"/>
              </a:spcAft>
            </a:pPr>
            <a:r>
              <a:rPr lang="el-GR" sz="1450">
                <a:solidFill>
                  <a:srgbClr val="4A4E50"/>
                </a:solidFill>
                <a:latin typeface="Proxima Nova Rg"/>
              </a:rPr>
              <a:t>θ = [β μ 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J / vacancy cost]^(1/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α)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c =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μ θ^(1−α)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4EFA68-036E-0913-EC8E-2D920943B091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758D6-27D3-07D5-2426-044C27ED4C69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Internal inconsistency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12314D-F76C-6438-0962-0749E194CD5D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7DC766-2B7D-3174-F0AB-43F66BE7EF5B}"/>
              </a:ext>
            </a:extLst>
          </p:cNvPr>
          <p:cNvSpPr txBox="1"/>
          <p:nvPr/>
        </p:nvSpPr>
        <p:spPr>
          <a:xfrm>
            <a:off x="6413500" y="2108200"/>
            <a:ext cx="50038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Firm continuation uses δfirm = 1% weekly, while worker-side exits are about 4.8%–9.3%. Policy-induced exits do not reduce J or feed back into vacancy creation.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458E21-4AE2-D2D2-2457-04135E970227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558C85-59D5-00C9-DB92-1BFE09B7DBF2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Choose: integrate the same exit hazard into firm value, or treat c/μ as an exogenous opportunity process and drop free-entry language.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5122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9BF44-442E-DC94-00A7-032CBC899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E1F372-E6C8-A81B-919E-A6A3EDA6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48F6C-276A-5DDA-4D8A-EC687DF0380F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047F7-FAC0-E33B-4D58-A7CFFB0EA319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8F743-E467-FBBB-A9F4-53A873AF2205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E13AF-BEFD-EC6C-C0A0-C69E58FAA09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C05E8-2EF8-E12B-894B-B553C5CEC69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1CA85-9AF1-165D-6917-BFA8FE7DF70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F70879-D508-939B-FF7B-89D31F8A9D02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5ECA03-E815-BEE2-8ADF-30120DD8DF8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8AC7B-BD10-C206-39D8-9FCCCF16ED5F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174D6-EE07-09A5-8E7E-E580C5C1FE13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D63F8-1B28-BCBD-E0DC-F260809CFDA8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Bellman equations make the shock dynamic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88D17-D117-F707-3E3D-4F0C198CC487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A4A93-1D9F-2CF3-F2BE-72AA24E33D9F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30022-3823-A43B-CDD0-0D427B25FC69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Employed value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049CC-137A-8010-46E4-A1C1B7557755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8493D8-6219-B3C3-80F1-ED7573CFCAF9}"/>
              </a:ext>
            </a:extLst>
          </p:cNvPr>
          <p:cNvSpPr txBox="1"/>
          <p:nvPr/>
        </p:nvSpPr>
        <p:spPr>
          <a:xfrm>
            <a:off x="774700" y="2108200"/>
            <a:ext cx="50038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Wⱼ,t = (w − hⱼ,t)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β[(1−δ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ⱼ,t)Wⱼ,t+1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δ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ⱼ,t Uⱼ,t+1]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ABE33-0E80-D8DC-1870-95D1A77F3094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46A69-CB8A-8096-1087-D34919B2AF46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Non-employed value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577A34-4F50-68F2-1C80-264F02F2E774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C0DFB4-C711-9B23-2C87-E69D6B80C7E6}"/>
              </a:ext>
            </a:extLst>
          </p:cNvPr>
          <p:cNvSpPr txBox="1"/>
          <p:nvPr/>
        </p:nvSpPr>
        <p:spPr>
          <a:xfrm>
            <a:off x="6413500" y="2108200"/>
            <a:ext cx="50038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Uⱼ,t = (bⱼ,t + ℓ) − C(sⱼ,t) + </a:t>
            </a:r>
            <a:r>
              <a:rPr lang="el-GR" sz="1450">
                <a:solidFill>
                  <a:srgbClr val="4A4E50"/>
                </a:solidFill>
                <a:latin typeface="Proxima Nova Rg"/>
              </a:rPr>
              <a:t>β[</a:t>
            </a:r>
            <a:r>
              <a:rPr lang="en-NZ" sz="1450">
                <a:solidFill>
                  <a:srgbClr val="4A4E50"/>
                </a:solidFill>
                <a:latin typeface="Proxima Nova Rg"/>
              </a:rPr>
              <a:t>fⱼ,t Wⱼ,t+1 + (1−fⱼ,t)Uⱼ,t+1]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B1CA3-47CF-FF23-D2C2-503A922C9ECF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791D49-8750-E476-4FF6-C7F81A1DEC44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Backward induction solves values and search over the announced shock horizon; forward simulation averages weeks 12–36.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892788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E99D8B-B31E-E727-A00E-AF8A0E487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DD564-3403-5FBA-EF16-CC1FC92A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D433E7-0D3D-60AA-FE9B-A37DA98ADF4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76CF9-2F68-D661-3B1A-DB2AEEA34F0D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DB4FD-732D-E936-256B-472A1089B37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7DDEC-A03E-3F56-B2DA-28FB4709BE9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Model anatomy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18676-15C0-0816-E9A7-630AB1FA7F26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0C801-4553-2B28-5D17-F31E374ED343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8A6DC3-14CE-43BD-273E-D3164BE7DFE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013DE-E984-265A-E6CC-DAE0398CA38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58D044-2EF5-FB00-40DE-D57B2C4A2613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2C3FA-D53C-ADC6-2033-FADB636893B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FD0CE-F2E1-3B86-28F6-3F6752E50C57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Timing assumptions are economically important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92237-24D9-128C-11DE-2CEBD08FC3BD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2168A-66C8-E13F-C74B-BDE598B1579E}"/>
              </a:ext>
            </a:extLst>
          </p:cNvPr>
          <p:cNvSpPr txBox="1"/>
          <p:nvPr/>
        </p:nvSpPr>
        <p:spPr>
          <a:xfrm>
            <a:off x="736600" y="1422400"/>
            <a:ext cx="10668000" cy="177997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Weekly model: T = 60; shock weeks 12–36 inclusive (25 weeks).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Shock is unanticipated at onset, then its end date is known with certainty.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The manuscriptʼs empirical window, announcement date and supplement payment window do not currently line up with the model averaging window.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β = 0.99 weekly implies an annual discount factor near 0.59—far below conventional calibrations.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The real policy was announced, paid, extended and tapered in stages; expectations should follow that history.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740E18-E19A-972D-E532-8F129807549C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266A1-10A6-6FCE-758D-EE6DE443D554}"/>
              </a:ext>
            </a:extLst>
          </p:cNvPr>
          <p:cNvSpPr txBox="1"/>
          <p:nvPr/>
        </p:nvSpPr>
        <p:spPr>
          <a:xfrm>
            <a:off x="876300" y="55372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E86F3D"/>
                </a:solidFill>
                <a:latin typeface="Proxima Nova Rg"/>
              </a:rPr>
              <a:t>Create a date-to-model-week table and set βweek = βannual^(1/52). Re-run every quantitative result.</a:t>
            </a:r>
            <a:endParaRPr lang="en-NZ" sz="1550" b="1" dirty="0">
              <a:solidFill>
                <a:srgbClr val="E86F3D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314802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29A7EA-6342-E3A6-7837-0BF5F526DC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B6300-9ACD-3753-C658-A049ACCFCE28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03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900B5-2A2F-60DD-4913-A317C3B53E68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Calibration and what the model says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4E8A8-585A-0AFE-8882-B687D4019F33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A close fit can coexist with severe mechanism uncertainty.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809362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B149E-4DEF-9337-4858-4819A745F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CCC4C-73CD-FC4F-B4B6-80E137D5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DFD605-5587-8E6C-0360-6B6D5037F72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8CF10-2543-A5FD-EDA1-66EF0EF1C21A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F245A-B1F3-E152-8416-068DFB3D078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FEE8D-A8F7-A4E1-6B7F-7E5485E16A8B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18E355-899E-0644-1DF2-BA7D772BC62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19E8A-9C3C-E515-6FB3-B0F693BF265D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1C9050-614C-3866-81DC-6347FD614F80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D1E37-DF7B-1A04-55FF-892D62E96229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F00BB-E072-FC77-1F85-30DD074EE80F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AD711-CAE8-8946-E898-EA8C1EF422D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4E118A-C322-CEE9-DBB0-00A8192ED751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Calibration is sequential: each empirical cell is assigned a job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3238FC-CE87-508E-07B7-BF26391C446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35E291-7EDC-14AC-2051-CD1D67F63468}"/>
              </a:ext>
            </a:extLst>
          </p:cNvPr>
          <p:cNvSpPr/>
          <p:nvPr/>
        </p:nvSpPr>
        <p:spPr>
          <a:xfrm>
            <a:off x="635000" y="1651000"/>
            <a:ext cx="3429000" cy="14986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3FAB7E-1B6F-33F4-7566-A00A7EAE60DC}"/>
              </a:ext>
            </a:extLst>
          </p:cNvPr>
          <p:cNvSpPr txBox="1"/>
          <p:nvPr/>
        </p:nvSpPr>
        <p:spPr>
          <a:xfrm>
            <a:off x="762000" y="17653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1. Pre exits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020D44-1C49-0BB6-27C7-CE0E9C18829B}"/>
              </a:ext>
            </a:extLst>
          </p:cNvPr>
          <p:cNvSpPr txBox="1"/>
          <p:nvPr/>
        </p:nvSpPr>
        <p:spPr>
          <a:xfrm>
            <a:off x="762000" y="21082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Fit baseline + amplitude of smooth exit hazard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9BF08D-4B41-D4BA-41BF-14F892D76501}"/>
              </a:ext>
            </a:extLst>
          </p:cNvPr>
          <p:cNvCxnSpPr/>
          <p:nvPr/>
        </p:nvCxnSpPr>
        <p:spPr>
          <a:xfrm>
            <a:off x="4064000" y="2400300"/>
            <a:ext cx="317500" cy="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714011-D7DA-C34C-30FF-7DB519F3350C}"/>
              </a:ext>
            </a:extLst>
          </p:cNvPr>
          <p:cNvSpPr/>
          <p:nvPr/>
        </p:nvSpPr>
        <p:spPr>
          <a:xfrm>
            <a:off x="4381500" y="1651000"/>
            <a:ext cx="3429000" cy="14986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AB30A-3316-410B-2A0B-743E2B1D7BC5}"/>
              </a:ext>
            </a:extLst>
          </p:cNvPr>
          <p:cNvSpPr txBox="1"/>
          <p:nvPr/>
        </p:nvSpPr>
        <p:spPr>
          <a:xfrm>
            <a:off x="4508500" y="17653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2. Pre JFRs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2F9825-9451-BB23-FE7D-7D965D079BAC}"/>
              </a:ext>
            </a:extLst>
          </p:cNvPr>
          <p:cNvSpPr txBox="1"/>
          <p:nvPr/>
        </p:nvSpPr>
        <p:spPr>
          <a:xfrm>
            <a:off x="4508500" y="21082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Fit matching efficiency μ and search-cost level κ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0AD254C-8B76-9FAE-441C-740A062BEE79}"/>
              </a:ext>
            </a:extLst>
          </p:cNvPr>
          <p:cNvCxnSpPr/>
          <p:nvPr/>
        </p:nvCxnSpPr>
        <p:spPr>
          <a:xfrm>
            <a:off x="7810500" y="2400300"/>
            <a:ext cx="317500" cy="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D6812A-A223-9111-BE95-B6990F6EFCF3}"/>
              </a:ext>
            </a:extLst>
          </p:cNvPr>
          <p:cNvSpPr/>
          <p:nvPr/>
        </p:nvSpPr>
        <p:spPr>
          <a:xfrm>
            <a:off x="8128000" y="1651000"/>
            <a:ext cx="3429000" cy="1498600"/>
          </a:xfrm>
          <a:prstGeom prst="round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DF3BBB-DF9B-7EAA-1AF7-94F3D0AD15F6}"/>
              </a:ext>
            </a:extLst>
          </p:cNvPr>
          <p:cNvSpPr txBox="1"/>
          <p:nvPr/>
        </p:nvSpPr>
        <p:spPr>
          <a:xfrm>
            <a:off x="8255000" y="17653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3. NZ post exit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1D360E-D850-50C9-8FF0-4CF6FCE6F978}"/>
              </a:ext>
            </a:extLst>
          </p:cNvPr>
          <p:cNvSpPr txBox="1"/>
          <p:nvPr/>
        </p:nvSpPr>
        <p:spPr>
          <a:xfrm>
            <a:off x="8255000" y="21082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Fit common background destruction shock ξ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524C937-CC9B-9BE5-E7E0-75A73BF2FCBB}"/>
              </a:ext>
            </a:extLst>
          </p:cNvPr>
          <p:cNvSpPr/>
          <p:nvPr/>
        </p:nvSpPr>
        <p:spPr>
          <a:xfrm>
            <a:off x="635000" y="3619500"/>
            <a:ext cx="3429000" cy="14986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51B3E1-B746-071F-8C36-C4507D50CEB0}"/>
              </a:ext>
            </a:extLst>
          </p:cNvPr>
          <p:cNvSpPr txBox="1"/>
          <p:nvPr/>
        </p:nvSpPr>
        <p:spPr>
          <a:xfrm>
            <a:off x="762000" y="37338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4. AU post exit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7D4DDD-E930-F7AF-B653-7510BE87C488}"/>
              </a:ext>
            </a:extLst>
          </p:cNvPr>
          <p:cNvSpPr txBox="1"/>
          <p:nvPr/>
        </p:nvSpPr>
        <p:spPr>
          <a:xfrm>
            <a:off x="762000" y="40767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Fit residual differential work-surplus wedge hᴿ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9DEAA-C8E5-D48C-C14B-C32317FCA77B}"/>
              </a:ext>
            </a:extLst>
          </p:cNvPr>
          <p:cNvCxnSpPr/>
          <p:nvPr/>
        </p:nvCxnSpPr>
        <p:spPr>
          <a:xfrm>
            <a:off x="4064000" y="4368800"/>
            <a:ext cx="317500" cy="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AD30F5F-FD8A-E449-F214-A411740C2E97}"/>
              </a:ext>
            </a:extLst>
          </p:cNvPr>
          <p:cNvSpPr/>
          <p:nvPr/>
        </p:nvSpPr>
        <p:spPr>
          <a:xfrm>
            <a:off x="4381500" y="3619500"/>
            <a:ext cx="3429000" cy="1498600"/>
          </a:xfrm>
          <a:prstGeom prst="roundRect">
            <a:avLst/>
          </a:prstGeom>
          <a:solidFill>
            <a:srgbClr val="3AA7AC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6A4D50-49A7-B1E4-A267-9B3508424980}"/>
              </a:ext>
            </a:extLst>
          </p:cNvPr>
          <p:cNvSpPr txBox="1"/>
          <p:nvPr/>
        </p:nvSpPr>
        <p:spPr>
          <a:xfrm>
            <a:off x="4508500" y="37338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5. NZ post JFR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0B5B69-3200-2F5C-1C08-A813562E1348}"/>
              </a:ext>
            </a:extLst>
          </p:cNvPr>
          <p:cNvSpPr txBox="1"/>
          <p:nvPr/>
        </p:nvSpPr>
        <p:spPr>
          <a:xfrm>
            <a:off x="4508500" y="40767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Fit post matching efficiency μ; hold κ fixed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8E33833-46FF-A87F-843F-519248B5AE5A}"/>
              </a:ext>
            </a:extLst>
          </p:cNvPr>
          <p:cNvCxnSpPr/>
          <p:nvPr/>
        </p:nvCxnSpPr>
        <p:spPr>
          <a:xfrm>
            <a:off x="7810500" y="4368800"/>
            <a:ext cx="317500" cy="0"/>
          </a:xfrm>
          <a:prstGeom prst="line">
            <a:avLst/>
          </a:prstGeom>
          <a:ln w="19050">
            <a:solidFill>
              <a:srgbClr val="4A4E50"/>
            </a:solidFill>
            <a:prstDash val="solid"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71F9876-9C1A-530C-F5AF-D1A7CAAFEC30}"/>
              </a:ext>
            </a:extLst>
          </p:cNvPr>
          <p:cNvSpPr/>
          <p:nvPr/>
        </p:nvSpPr>
        <p:spPr>
          <a:xfrm>
            <a:off x="8128000" y="3619500"/>
            <a:ext cx="3429000" cy="1498600"/>
          </a:xfrm>
          <a:prstGeom prst="round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DC759D-936B-BBFF-0AE9-98FF4C5041FB}"/>
              </a:ext>
            </a:extLst>
          </p:cNvPr>
          <p:cNvSpPr txBox="1"/>
          <p:nvPr/>
        </p:nvSpPr>
        <p:spPr>
          <a:xfrm>
            <a:off x="8255000" y="37338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1400" b="1">
                <a:solidFill>
                  <a:srgbClr val="FFFFFF"/>
                </a:solidFill>
                <a:latin typeface="Proxima Nova Rg"/>
              </a:rPr>
              <a:t>6. AU post JFR</a:t>
            </a:r>
            <a:endParaRPr lang="en-NZ" sz="14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1269B2-14F9-7AAE-5D4C-B9BE7B0396DB}"/>
              </a:ext>
            </a:extLst>
          </p:cNvPr>
          <p:cNvSpPr txBox="1"/>
          <p:nvPr/>
        </p:nvSpPr>
        <p:spPr>
          <a:xfrm>
            <a:off x="8255000" y="4076700"/>
            <a:ext cx="3175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150">
                <a:solidFill>
                  <a:srgbClr val="FFFFFF"/>
                </a:solidFill>
                <a:latin typeface="Proxima Nova Rg"/>
              </a:rPr>
              <a:t>Held out as a prediction in the restricted model</a:t>
            </a:r>
            <a:endParaRPr lang="en-NZ" sz="1150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914CD08-423E-B9D7-19E2-CC0A9022D64B}"/>
              </a:ext>
            </a:extLst>
          </p:cNvPr>
          <p:cNvSpPr/>
          <p:nvPr/>
        </p:nvSpPr>
        <p:spPr>
          <a:xfrm>
            <a:off x="1397000" y="5562600"/>
            <a:ext cx="9398000" cy="6350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4BB950-BA97-6D49-61C7-0ADBF01FF926}"/>
              </a:ext>
            </a:extLst>
          </p:cNvPr>
          <p:cNvSpPr txBox="1"/>
          <p:nvPr/>
        </p:nvSpPr>
        <p:spPr>
          <a:xfrm>
            <a:off x="1574800" y="5664200"/>
            <a:ext cx="904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E86F3D"/>
                </a:solidFill>
                <a:latin typeface="Proxima Nova Rg"/>
              </a:rPr>
              <a:t>Teaching point: «held out» is useful only if specification choices were not tuned after seeing the held-out result.</a:t>
            </a:r>
            <a:endParaRPr lang="en-NZ" sz="1400" b="1" dirty="0">
              <a:solidFill>
                <a:srgbClr val="E86F3D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225154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CF3B9-D4DF-0B82-2F5C-86BFAABFF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0B41EB-DB0A-2579-F8D4-953859FF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F582A-8B4B-9F0F-38C6-8DDA3AA3CB3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F4EEF-213C-1378-97C8-ACC79FB892C4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C6349-C954-474A-6086-E58723D36A25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F805F-474F-C60F-A09C-CA4A87BE0B93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F6B0C9-D3A8-AA1A-06AC-358901446916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F9783-9E29-048A-D54D-EFF66EF59B0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1CF76-7E1D-8BC0-5EA2-3FB92B61A284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78784-DFA2-E0B2-CF11-C116E89F7B2D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987955-EB69-BFDB-DDC1-C4C1ECC66C1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31463-6688-D5C0-D6BA-C609EE43DA62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9D7A9-CEA2-CB54-CFAE-682286C73932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Core fixed and calibrated quantities in the benchmark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EB1E9-F9F5-6485-8DB0-F6CC0E07C24C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9DF57-0833-FBFE-FFBE-7A90619B4D75}"/>
              </a:ext>
            </a:extLst>
          </p:cNvPr>
          <p:cNvSpPr/>
          <p:nvPr/>
        </p:nvSpPr>
        <p:spPr>
          <a:xfrm>
            <a:off x="609600" y="1473200"/>
            <a:ext cx="2563738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F8D03-2C0D-0713-D024-8C652C3DE7FE}"/>
              </a:ext>
            </a:extLst>
          </p:cNvPr>
          <p:cNvSpPr txBox="1"/>
          <p:nvPr/>
        </p:nvSpPr>
        <p:spPr>
          <a:xfrm>
            <a:off x="673100" y="1549400"/>
            <a:ext cx="2436738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Object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2093DA-50FD-DB38-5A9A-5C07A88A7E19}"/>
              </a:ext>
            </a:extLst>
          </p:cNvPr>
          <p:cNvSpPr/>
          <p:nvPr/>
        </p:nvSpPr>
        <p:spPr>
          <a:xfrm>
            <a:off x="3173338" y="1473200"/>
            <a:ext cx="1743343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D6B1EF-4A46-B38B-2A6B-1CFCFDA2F23C}"/>
              </a:ext>
            </a:extLst>
          </p:cNvPr>
          <p:cNvSpPr txBox="1"/>
          <p:nvPr/>
        </p:nvSpPr>
        <p:spPr>
          <a:xfrm>
            <a:off x="3236838" y="1549400"/>
            <a:ext cx="1616342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Benchmark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92EAB-605B-C489-FDBF-4E85E71494C1}"/>
              </a:ext>
            </a:extLst>
          </p:cNvPr>
          <p:cNvSpPr/>
          <p:nvPr/>
        </p:nvSpPr>
        <p:spPr>
          <a:xfrm>
            <a:off x="4916681" y="1473200"/>
            <a:ext cx="2358638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4CED6C-C356-129B-EF72-119937E6635C}"/>
              </a:ext>
            </a:extLst>
          </p:cNvPr>
          <p:cNvSpPr txBox="1"/>
          <p:nvPr/>
        </p:nvSpPr>
        <p:spPr>
          <a:xfrm>
            <a:off x="4980181" y="1549400"/>
            <a:ext cx="2231639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How set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10BAFA-C840-CD4C-84DD-759D87C27E1C}"/>
              </a:ext>
            </a:extLst>
          </p:cNvPr>
          <p:cNvSpPr/>
          <p:nvPr/>
        </p:nvSpPr>
        <p:spPr>
          <a:xfrm>
            <a:off x="7275319" y="1473200"/>
            <a:ext cx="4307081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F20818-38A2-530E-3C46-38989AE5F74A}"/>
              </a:ext>
            </a:extLst>
          </p:cNvPr>
          <p:cNvSpPr txBox="1"/>
          <p:nvPr/>
        </p:nvSpPr>
        <p:spPr>
          <a:xfrm>
            <a:off x="7338819" y="1549400"/>
            <a:ext cx="4180081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Interpretation / concern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695368-5877-D763-CC15-7D31542A881F}"/>
              </a:ext>
            </a:extLst>
          </p:cNvPr>
          <p:cNvSpPr/>
          <p:nvPr/>
        </p:nvSpPr>
        <p:spPr>
          <a:xfrm>
            <a:off x="609600" y="1993900"/>
            <a:ext cx="25637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A435E0-C05D-D0F2-4640-3E6D211CCB1D}"/>
              </a:ext>
            </a:extLst>
          </p:cNvPr>
          <p:cNvSpPr txBox="1"/>
          <p:nvPr/>
        </p:nvSpPr>
        <p:spPr>
          <a:xfrm>
            <a:off x="673100" y="20574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Weekly </a:t>
            </a:r>
            <a:r>
              <a:rPr lang="el-GR" sz="1200" b="1">
                <a:solidFill>
                  <a:srgbClr val="4A4E50"/>
                </a:solidFill>
                <a:latin typeface="Proxima Nova Rg"/>
              </a:rPr>
              <a:t>β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ABC700-A4F6-3BFC-8646-88D9A8A19E49}"/>
              </a:ext>
            </a:extLst>
          </p:cNvPr>
          <p:cNvSpPr/>
          <p:nvPr/>
        </p:nvSpPr>
        <p:spPr>
          <a:xfrm>
            <a:off x="3173338" y="1993900"/>
            <a:ext cx="1743343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D68728-044C-7BBC-392B-9F4B6FDE1472}"/>
              </a:ext>
            </a:extLst>
          </p:cNvPr>
          <p:cNvSpPr txBox="1"/>
          <p:nvPr/>
        </p:nvSpPr>
        <p:spPr>
          <a:xfrm>
            <a:off x="3236838" y="20574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0.99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5AE78F-7100-006B-C36F-DE793F99DFF6}"/>
              </a:ext>
            </a:extLst>
          </p:cNvPr>
          <p:cNvSpPr/>
          <p:nvPr/>
        </p:nvSpPr>
        <p:spPr>
          <a:xfrm>
            <a:off x="4916681" y="1993900"/>
            <a:ext cx="23586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86A54C-8497-728F-84E4-19A8827EA774}"/>
              </a:ext>
            </a:extLst>
          </p:cNvPr>
          <p:cNvSpPr txBox="1"/>
          <p:nvPr/>
        </p:nvSpPr>
        <p:spPr>
          <a:xfrm>
            <a:off x="4980181" y="20574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Fixed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73956F-54F1-C7A9-A4E8-936B8AF8A287}"/>
              </a:ext>
            </a:extLst>
          </p:cNvPr>
          <p:cNvSpPr/>
          <p:nvPr/>
        </p:nvSpPr>
        <p:spPr>
          <a:xfrm>
            <a:off x="7275319" y="1993900"/>
            <a:ext cx="430708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7DE1AC-0CC0-80F8-2E72-FAC5D67DA2F9}"/>
              </a:ext>
            </a:extLst>
          </p:cNvPr>
          <p:cNvSpPr txBox="1"/>
          <p:nvPr/>
        </p:nvSpPr>
        <p:spPr>
          <a:xfrm>
            <a:off x="7338819" y="20574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Implies implausibly low annual discounting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64A05C-1C33-CC20-EEB1-8EEBC8C3D445}"/>
              </a:ext>
            </a:extLst>
          </p:cNvPr>
          <p:cNvSpPr/>
          <p:nvPr/>
        </p:nvSpPr>
        <p:spPr>
          <a:xfrm>
            <a:off x="609600" y="2514600"/>
            <a:ext cx="25637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903CCA-B7A6-34EA-8588-156BE3E1D57F}"/>
              </a:ext>
            </a:extLst>
          </p:cNvPr>
          <p:cNvSpPr txBox="1"/>
          <p:nvPr/>
        </p:nvSpPr>
        <p:spPr>
          <a:xfrm>
            <a:off x="673100" y="25781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Wage / output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CD5D9F-8C4C-A602-C4F7-7C613B402F35}"/>
              </a:ext>
            </a:extLst>
          </p:cNvPr>
          <p:cNvSpPr/>
          <p:nvPr/>
        </p:nvSpPr>
        <p:spPr>
          <a:xfrm>
            <a:off x="3173338" y="2514600"/>
            <a:ext cx="1743343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0125F6-4669-85DF-B600-AF6884CFB716}"/>
              </a:ext>
            </a:extLst>
          </p:cNvPr>
          <p:cNvSpPr txBox="1"/>
          <p:nvPr/>
        </p:nvSpPr>
        <p:spPr>
          <a:xfrm>
            <a:off x="3236838" y="25781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0.55 / 1.00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C3381F-92DC-242D-E5A8-CAC2192D4DC7}"/>
              </a:ext>
            </a:extLst>
          </p:cNvPr>
          <p:cNvSpPr/>
          <p:nvPr/>
        </p:nvSpPr>
        <p:spPr>
          <a:xfrm>
            <a:off x="4916681" y="2514600"/>
            <a:ext cx="23586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A85835-9CA1-D9A4-1862-7972D80A3085}"/>
              </a:ext>
            </a:extLst>
          </p:cNvPr>
          <p:cNvSpPr txBox="1"/>
          <p:nvPr/>
        </p:nvSpPr>
        <p:spPr>
          <a:xfrm>
            <a:off x="4980181" y="25781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Fixed normalisation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E37DE7-F2AF-C581-C5B1-E3C924C359C1}"/>
              </a:ext>
            </a:extLst>
          </p:cNvPr>
          <p:cNvSpPr/>
          <p:nvPr/>
        </p:nvSpPr>
        <p:spPr>
          <a:xfrm>
            <a:off x="7275319" y="2514600"/>
            <a:ext cx="430708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5CBBE0-993F-C9BF-277C-AB320B63CD87}"/>
              </a:ext>
            </a:extLst>
          </p:cNvPr>
          <p:cNvSpPr txBox="1"/>
          <p:nvPr/>
        </p:nvSpPr>
        <p:spPr>
          <a:xfrm>
            <a:off x="7338819" y="25781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No wage bargaining or wage distribution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A76492-2F25-50F3-9FF6-CCD3A6517882}"/>
              </a:ext>
            </a:extLst>
          </p:cNvPr>
          <p:cNvSpPr/>
          <p:nvPr/>
        </p:nvSpPr>
        <p:spPr>
          <a:xfrm>
            <a:off x="609600" y="3035300"/>
            <a:ext cx="25637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16EBB5-E661-69AF-9989-888D6A14A7D3}"/>
              </a:ext>
            </a:extLst>
          </p:cNvPr>
          <p:cNvSpPr txBox="1"/>
          <p:nvPr/>
        </p:nvSpPr>
        <p:spPr>
          <a:xfrm>
            <a:off x="673100" y="30988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Benefit RR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82659D-84F0-0B82-6007-8706CFA87C51}"/>
              </a:ext>
            </a:extLst>
          </p:cNvPr>
          <p:cNvSpPr/>
          <p:nvPr/>
        </p:nvSpPr>
        <p:spPr>
          <a:xfrm>
            <a:off x="3173338" y="3035300"/>
            <a:ext cx="1743343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6C1336-CEF6-EAA0-CA27-687EBF786CB9}"/>
              </a:ext>
            </a:extLst>
          </p:cNvPr>
          <p:cNvSpPr txBox="1"/>
          <p:nvPr/>
        </p:nvSpPr>
        <p:spPr>
          <a:xfrm>
            <a:off x="3236838" y="30988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0.28 → 0.56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54BC9A-BCEF-89E8-0C77-16F87B380EAB}"/>
              </a:ext>
            </a:extLst>
          </p:cNvPr>
          <p:cNvSpPr/>
          <p:nvPr/>
        </p:nvSpPr>
        <p:spPr>
          <a:xfrm>
            <a:off x="4916681" y="3035300"/>
            <a:ext cx="23586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F80C47-2C35-99A4-5C73-916B7A9CE942}"/>
              </a:ext>
            </a:extLst>
          </p:cNvPr>
          <p:cNvSpPr txBox="1"/>
          <p:nvPr/>
        </p:nvSpPr>
        <p:spPr>
          <a:xfrm>
            <a:off x="4980181" y="30988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Stylised doubling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EBBF06-427E-1E94-5539-04CA83FBDC08}"/>
              </a:ext>
            </a:extLst>
          </p:cNvPr>
          <p:cNvSpPr/>
          <p:nvPr/>
        </p:nvSpPr>
        <p:spPr>
          <a:xfrm>
            <a:off x="7275319" y="3035300"/>
            <a:ext cx="430708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4FDF9F-C9DB-7A1D-0D1A-A1775F71F852}"/>
              </a:ext>
            </a:extLst>
          </p:cNvPr>
          <p:cNvSpPr txBox="1"/>
          <p:nvPr/>
        </p:nvSpPr>
        <p:spPr>
          <a:xfrm>
            <a:off x="7338819" y="30988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Actual policy is a flat $550/fortnight plus means tests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D16A38-C332-AA1B-8641-C3CE06D1037B}"/>
              </a:ext>
            </a:extLst>
          </p:cNvPr>
          <p:cNvSpPr/>
          <p:nvPr/>
        </p:nvSpPr>
        <p:spPr>
          <a:xfrm>
            <a:off x="609600" y="3556000"/>
            <a:ext cx="25637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D2B37B-7C51-3B62-A785-ABAF85AF21B9}"/>
              </a:ext>
            </a:extLst>
          </p:cNvPr>
          <p:cNvSpPr txBox="1"/>
          <p:nvPr/>
        </p:nvSpPr>
        <p:spPr>
          <a:xfrm>
            <a:off x="673100" y="36195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Search curvature </a:t>
            </a:r>
            <a:r>
              <a:rPr lang="el-GR" sz="1200" b="1">
                <a:solidFill>
                  <a:srgbClr val="4A4E50"/>
                </a:solidFill>
                <a:latin typeface="Proxima Nova Rg"/>
              </a:rPr>
              <a:t>η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FA02B0-AB62-5A49-2B48-C7C06BE38AF5}"/>
              </a:ext>
            </a:extLst>
          </p:cNvPr>
          <p:cNvSpPr/>
          <p:nvPr/>
        </p:nvSpPr>
        <p:spPr>
          <a:xfrm>
            <a:off x="3173338" y="3556000"/>
            <a:ext cx="1743343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E6F9E4-01DA-4B27-ABB4-53FD8C25DA8A}"/>
              </a:ext>
            </a:extLst>
          </p:cNvPr>
          <p:cNvSpPr txBox="1"/>
          <p:nvPr/>
        </p:nvSpPr>
        <p:spPr>
          <a:xfrm>
            <a:off x="3236838" y="36195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100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7A8815-3A97-612D-16BC-C4481288CB0C}"/>
              </a:ext>
            </a:extLst>
          </p:cNvPr>
          <p:cNvSpPr/>
          <p:nvPr/>
        </p:nvSpPr>
        <p:spPr>
          <a:xfrm>
            <a:off x="4916681" y="3556000"/>
            <a:ext cx="23586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791F74-84CF-08ED-FC52-A4EBA5CECF45}"/>
              </a:ext>
            </a:extLst>
          </p:cNvPr>
          <p:cNvSpPr txBox="1"/>
          <p:nvPr/>
        </p:nvSpPr>
        <p:spPr>
          <a:xfrm>
            <a:off x="4980181" y="36195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Selected from restricted grid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E53E37C-51E1-7990-421B-54EBB756EA2B}"/>
              </a:ext>
            </a:extLst>
          </p:cNvPr>
          <p:cNvSpPr/>
          <p:nvPr/>
        </p:nvSpPr>
        <p:spPr>
          <a:xfrm>
            <a:off x="7275319" y="3556000"/>
            <a:ext cx="430708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ECC652-684B-03FB-4D50-FC5632C2C316}"/>
              </a:ext>
            </a:extLst>
          </p:cNvPr>
          <p:cNvSpPr txBox="1"/>
          <p:nvPr/>
        </p:nvSpPr>
        <p:spPr>
          <a:xfrm>
            <a:off x="7338819" y="36195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Pins search close to one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309219-82E1-0BC4-62C5-6664491D05B0}"/>
              </a:ext>
            </a:extLst>
          </p:cNvPr>
          <p:cNvSpPr/>
          <p:nvPr/>
        </p:nvSpPr>
        <p:spPr>
          <a:xfrm>
            <a:off x="609600" y="4076700"/>
            <a:ext cx="25637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22108F-3653-AEFD-1C1B-7D0CC8DA6148}"/>
              </a:ext>
            </a:extLst>
          </p:cNvPr>
          <p:cNvSpPr txBox="1"/>
          <p:nvPr/>
        </p:nvSpPr>
        <p:spPr>
          <a:xfrm>
            <a:off x="673100" y="41402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Exit threshold / dispersion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BE3501-2BE3-9705-9458-3449EA83AEEB}"/>
              </a:ext>
            </a:extLst>
          </p:cNvPr>
          <p:cNvSpPr/>
          <p:nvPr/>
        </p:nvSpPr>
        <p:spPr>
          <a:xfrm>
            <a:off x="3173338" y="4076700"/>
            <a:ext cx="1743343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4EFCA9-4CA4-9882-B934-40281853B3A1}"/>
              </a:ext>
            </a:extLst>
          </p:cNvPr>
          <p:cNvSpPr txBox="1"/>
          <p:nvPr/>
        </p:nvSpPr>
        <p:spPr>
          <a:xfrm>
            <a:off x="3236838" y="41402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0.10 / 0.04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D02BA3-8B3E-DFE8-0064-9DF31C16DF77}"/>
              </a:ext>
            </a:extLst>
          </p:cNvPr>
          <p:cNvSpPr/>
          <p:nvPr/>
        </p:nvSpPr>
        <p:spPr>
          <a:xfrm>
            <a:off x="4916681" y="4076700"/>
            <a:ext cx="23586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DA0B4A-90A8-7622-9B4B-AE879C089EAA}"/>
              </a:ext>
            </a:extLst>
          </p:cNvPr>
          <p:cNvSpPr txBox="1"/>
          <p:nvPr/>
        </p:nvSpPr>
        <p:spPr>
          <a:xfrm>
            <a:off x="4980181" y="41402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Selected from grid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83AA35-F9A8-D652-68B3-E4C5CA27937B}"/>
              </a:ext>
            </a:extLst>
          </p:cNvPr>
          <p:cNvSpPr/>
          <p:nvPr/>
        </p:nvSpPr>
        <p:spPr>
          <a:xfrm>
            <a:off x="7275319" y="4076700"/>
            <a:ext cx="430708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769C29-F38C-DBE9-BB8B-1C4E0E7349BF}"/>
              </a:ext>
            </a:extLst>
          </p:cNvPr>
          <p:cNvSpPr txBox="1"/>
          <p:nvPr/>
        </p:nvSpPr>
        <p:spPr>
          <a:xfrm>
            <a:off x="7338819" y="41402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Many near-ties have radically different predictions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52EE99-DA5C-3C52-92AC-67F80B369BFB}"/>
              </a:ext>
            </a:extLst>
          </p:cNvPr>
          <p:cNvSpPr/>
          <p:nvPr/>
        </p:nvSpPr>
        <p:spPr>
          <a:xfrm>
            <a:off x="609600" y="4597400"/>
            <a:ext cx="25637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8C949DA-8F00-51B9-A9C6-A9BB1C3CCE2A}"/>
              </a:ext>
            </a:extLst>
          </p:cNvPr>
          <p:cNvSpPr txBox="1"/>
          <p:nvPr/>
        </p:nvSpPr>
        <p:spPr>
          <a:xfrm>
            <a:off x="673100" y="46609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l-GR" sz="1200" b="1">
                <a:solidFill>
                  <a:srgbClr val="4A4E50"/>
                </a:solidFill>
                <a:latin typeface="Proxima Nova Rg"/>
              </a:rPr>
              <a:t>μ </a:t>
            </a:r>
            <a:r>
              <a:rPr lang="en-NZ" sz="1200" b="1">
                <a:solidFill>
                  <a:srgbClr val="4A4E50"/>
                </a:solidFill>
                <a:latin typeface="Proxima Nova Rg"/>
              </a:rPr>
              <a:t>pre / post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59C1410-4F33-6A46-9EC9-3339EE607EC9}"/>
              </a:ext>
            </a:extLst>
          </p:cNvPr>
          <p:cNvSpPr/>
          <p:nvPr/>
        </p:nvSpPr>
        <p:spPr>
          <a:xfrm>
            <a:off x="3173338" y="4597400"/>
            <a:ext cx="1743343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698806-97DE-FDF5-32F7-B4E4D27E5F78}"/>
              </a:ext>
            </a:extLst>
          </p:cNvPr>
          <p:cNvSpPr txBox="1"/>
          <p:nvPr/>
        </p:nvSpPr>
        <p:spPr>
          <a:xfrm>
            <a:off x="3236838" y="46609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0.0739 / 0.0677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C41A11-98BF-8B91-E68D-5D5655882387}"/>
              </a:ext>
            </a:extLst>
          </p:cNvPr>
          <p:cNvSpPr/>
          <p:nvPr/>
        </p:nvSpPr>
        <p:spPr>
          <a:xfrm>
            <a:off x="4916681" y="4597400"/>
            <a:ext cx="2358638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E31AF0-292E-1748-4289-D5AEB62D296E}"/>
              </a:ext>
            </a:extLst>
          </p:cNvPr>
          <p:cNvSpPr txBox="1"/>
          <p:nvPr/>
        </p:nvSpPr>
        <p:spPr>
          <a:xfrm>
            <a:off x="4980181" y="46609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Fit JFR moments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35B6F8B-7EDA-3634-6955-698550B59B43}"/>
              </a:ext>
            </a:extLst>
          </p:cNvPr>
          <p:cNvSpPr/>
          <p:nvPr/>
        </p:nvSpPr>
        <p:spPr>
          <a:xfrm>
            <a:off x="7275319" y="4597400"/>
            <a:ext cx="4307081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82BEBA-E393-D0D4-03C1-1719F9294EF6}"/>
              </a:ext>
            </a:extLst>
          </p:cNvPr>
          <p:cNvSpPr txBox="1"/>
          <p:nvPr/>
        </p:nvSpPr>
        <p:spPr>
          <a:xfrm>
            <a:off x="7338819" y="46609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Post μ fitted to NZ JFR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849B8F3-A1D5-C069-A808-C088B65EF415}"/>
              </a:ext>
            </a:extLst>
          </p:cNvPr>
          <p:cNvSpPr/>
          <p:nvPr/>
        </p:nvSpPr>
        <p:spPr>
          <a:xfrm>
            <a:off x="609600" y="5118100"/>
            <a:ext cx="25637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10B374-C656-1CF5-E72E-7B7315212618}"/>
              </a:ext>
            </a:extLst>
          </p:cNvPr>
          <p:cNvSpPr txBox="1"/>
          <p:nvPr/>
        </p:nvSpPr>
        <p:spPr>
          <a:xfrm>
            <a:off x="673100" y="5181600"/>
            <a:ext cx="2436738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Differential wedge hᴿ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EF8B4A-C185-CB33-DD1A-F4BE0664A99A}"/>
              </a:ext>
            </a:extLst>
          </p:cNvPr>
          <p:cNvSpPr/>
          <p:nvPr/>
        </p:nvSpPr>
        <p:spPr>
          <a:xfrm>
            <a:off x="3173338" y="5118100"/>
            <a:ext cx="1743343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54DFD6-88EA-9E52-7D5B-D5E70824589A}"/>
              </a:ext>
            </a:extLst>
          </p:cNvPr>
          <p:cNvSpPr txBox="1"/>
          <p:nvPr/>
        </p:nvSpPr>
        <p:spPr>
          <a:xfrm>
            <a:off x="3236838" y="5181600"/>
            <a:ext cx="1616342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0.0368 = 6.69% wage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850AA6C-433A-057F-25F4-87F940A39ACF}"/>
              </a:ext>
            </a:extLst>
          </p:cNvPr>
          <p:cNvSpPr/>
          <p:nvPr/>
        </p:nvSpPr>
        <p:spPr>
          <a:xfrm>
            <a:off x="4916681" y="5118100"/>
            <a:ext cx="2358638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E36812-2484-D69D-93D4-CAF143748EBD}"/>
              </a:ext>
            </a:extLst>
          </p:cNvPr>
          <p:cNvSpPr txBox="1"/>
          <p:nvPr/>
        </p:nvSpPr>
        <p:spPr>
          <a:xfrm>
            <a:off x="4980181" y="5181600"/>
            <a:ext cx="2231639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Fit AU post exits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E2A8B51-F886-F1A6-B49F-F35EE4B217BE}"/>
              </a:ext>
            </a:extLst>
          </p:cNvPr>
          <p:cNvSpPr/>
          <p:nvPr/>
        </p:nvSpPr>
        <p:spPr>
          <a:xfrm>
            <a:off x="7275319" y="5118100"/>
            <a:ext cx="4307081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F9B993-E2CB-CCB7-F05A-85D104ADEBF1}"/>
              </a:ext>
            </a:extLst>
          </p:cNvPr>
          <p:cNvSpPr txBox="1"/>
          <p:nvPr/>
        </p:nvSpPr>
        <p:spPr>
          <a:xfrm>
            <a:off x="7338819" y="5181600"/>
            <a:ext cx="4180081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Residual wedge, not identified health disutility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69FCF09-0914-A42C-F6BE-7502E1BB9ED7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4CC6E1-1E51-26CE-5223-8337D5D2E9B9}"/>
              </a:ext>
            </a:extLst>
          </p:cNvPr>
          <p:cNvSpPr txBox="1"/>
          <p:nvPr/>
        </p:nvSpPr>
        <p:spPr>
          <a:xfrm>
            <a:off x="876300" y="55880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A manuscript calibration table should label every item fixed, externally calibrated, fitted or held out.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71C96C-8607-D8D6-4B15-D1065E2D1B5F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Source: 15_structural_separation_summary.csv and model code.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13815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23497-C8F4-03E3-6F3A-5EA9E4D1F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BA6A77-A8CA-F252-B8A1-9E18CD6D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2DE8D-4BFB-F28B-F186-A184C52EB5B9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8F0B5-48D7-6B8B-4CA6-510DA5259C0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5DE43-3FA4-D7FB-0083-80730F24467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E9F71-CF15-1E6F-21A9-4D1A2E65E0D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E76D4-ECD6-5BE2-F089-6CDA9848692B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0F05E-B1FF-F243-84A6-39F95E87B5A9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5A0FEC-27F7-B3C4-A0FF-E17168E3FE7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FB144-5E19-F17D-62FB-A2FD2C0E9F5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1273CF-C59C-9296-F3DF-9EE18344771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9E96B-6926-9FA4-D614-3B718925BFAC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AFA96-F18E-AFC5-9F54-DC6D57820F96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Benchmark fit: the held-out error is visible but modest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5A58C5-99C4-62AB-42C7-DED954AF118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5F248D-D12E-CE62-8634-9F46E563BC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397000"/>
            <a:ext cx="10795000" cy="4508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2DC1F5-F046-F3AC-552D-918B7B034D5A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The fit bars are not standard errors; targets are treated as exact in the current code.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0D761-AB1A-931F-A3F2-E05D22A4F7AE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Source: model-15 summary CSV.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80660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787FE-4460-3493-3678-4C239DCA4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8EDDF5-0FCD-5E3C-4BE9-0E1D12A5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6353A-C02B-6B32-EC5C-ADAE9E899FC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A5C8-5876-6A48-624F-A9A04A815E2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D0802-B605-ECE6-0467-882363402285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0C7907-EEC6-21A0-26B3-10B2128BD85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F8FC3-243C-9AD5-66DF-8A2817CA55F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8123C-4BF6-50E9-E56F-04BC4A557CEB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03A45-FD36-79FB-56A0-0E22DF0C227B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60DC3-CFF9-C31D-C4FE-7675F566E3B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5295F9-63FE-0F8E-4D2B-A4438218918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FAC04-DE37-BB77-6C50-110333418D63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739F7-ED49-CDD5-6531-9BC2A04C436F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Scenario results: benefit effects and pandemic wedges interact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69F9C5-8418-7EAA-7B47-CA2BB9455B4A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59128A-2A43-A3A3-43BB-552AD46EC6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371600"/>
            <a:ext cx="10795000" cy="4572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86A208-880F-678D-0B92-90F3AEAE2E59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Do not divide standalone bars by the full bar and call the result a «share».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E76FF-1EE5-2676-1E65-AB04075BF135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Source: model-15 decomposition CSV.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49754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D9CD2-C3A6-E580-B398-7E3D0CF02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26424-02D9-8751-8702-45EE8A91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9D5D8-AE1A-6904-E39B-B9ABC21B7D05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9B636-F1EE-8B69-4BD6-3990DEEEE307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86F89-E5C8-7D5C-20A4-C7A8ACA3DCC1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17B71-E650-4302-AD80-26F81D9BBAB3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13897-1450-E5BB-4A00-9BB8DEC251B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22F62-B04D-8AB7-639D-607366CF7C2A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7A4D1-9B87-D74E-79B9-EFD04AF47CD7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B50C1-CCCC-A910-D45C-177444946B75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07C471-A840-33ED-8DCE-A669EC54C6FD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DDA2D-4909-831D-C529-32BC370684B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6711A-5DE9-9860-87E9-20ADF2B43584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model reverses the manuscriptʼs current job-finding headline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24E3E2-58A2-2FAC-A725-A341AE8778E6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DFB6A-47E0-B089-BDAA-2F0AC13B8CDE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E5213-F86E-24BF-7B2D-CBE5CF3116D2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What the manuscript says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4F411A-DB67-89EE-D2B3-A471BDA7FF48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E2B3F1-D5FF-E447-2338-331D0C5ABA6E}"/>
              </a:ext>
            </a:extLst>
          </p:cNvPr>
          <p:cNvSpPr txBox="1"/>
          <p:nvPr/>
        </p:nvSpPr>
        <p:spPr>
          <a:xfrm>
            <a:off x="774700" y="2108200"/>
            <a:ext cx="5003800" cy="72071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Most of the labour response came from pandemic work disutility rather than benefit generosity; benefit effects were smaller in normal conditions.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DB1683-57C1-2335-B35F-A55E67C0E99D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67952E-3EFF-4078-17D7-EF8E81DA7EB7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What model 15 says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24419A-908E-6819-D9F1-0863A9B4395A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CB358-7781-110D-54D6-5563C0D4AAD4}"/>
              </a:ext>
            </a:extLst>
          </p:cNvPr>
          <p:cNvSpPr txBox="1"/>
          <p:nvPr/>
        </p:nvSpPr>
        <p:spPr>
          <a:xfrm>
            <a:off x="64135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Benefit-only job-finding DiD: −1.50 pp.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Full model DiD: −1.31 pp.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Common COVID only: +0.24 pp.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Differential wedge only: −0.05 pp.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658A62-0738-7BEA-09EB-49AF306F7DB4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088F36-0226-6E1D-9030-F5CB70FE33F7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For job finding, the benefit channel is at least as large in the no-COVID counterfactual as in the full benchmark. Rewrite abstract, introduction and conclusion.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350189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3908D4-BA02-0FE5-788F-04BDF63F9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A4145B-EB1C-098D-68BD-B9672909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F8D54-16B5-714B-B856-4D4C27515F0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8F1FE-F005-7B9C-66E8-09A4913523D4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E1FC7-4C93-38C8-BC1F-C282D3F6381B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E83B7-4153-0FB3-BAF1-D8C9756D57FC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20367-4622-A594-242A-2069BAFF836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CE87E-09B6-D21C-F00E-C72BD00EB6B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C3585-DFFD-E9F6-67DE-BFDECAE538BB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53996-734F-1CE0-596B-E8E0AA1A2289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D258B-367F-7251-13D0-B882E3FFA912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F015C-F000-ECC3-FCBF-87E5AC2A5590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7F301-2CF5-844A-A978-965197F7B271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For exits, complementarity—not «health versus benefits»—is the result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A8601-8550-FA10-0140-B6F12A6378E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09C6D3-8C6C-0A1A-340A-7A7DFC836865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6B1C5-5821-8845-EB97-2FFD7201EDE1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Standalone DiD effects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2489F1-B854-60F9-EAE3-405EF84A8915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A0704C-D571-0941-978B-E2E6BAFD9880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 only: +1.688 pp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Common COVID only: ≈0.000 pp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Differential wedge only: +0.061 pp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Sum: +1.749 pp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7A70E-6741-0F75-7429-BAB6F36D5919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BD0EE2-9F73-A368-303E-3BD90463321F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Full environment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9DC5E5-700D-456E-2933-FD8691743BE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9026C-91B6-0C31-B99B-F2DE7528E7C1}"/>
              </a:ext>
            </a:extLst>
          </p:cNvPr>
          <p:cNvSpPr txBox="1"/>
          <p:nvPr/>
        </p:nvSpPr>
        <p:spPr>
          <a:xfrm>
            <a:off x="6413500" y="2108200"/>
            <a:ext cx="5003800" cy="10464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Full exit DiD: +3.720 pp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Residual interaction: 3.720 − 1.749 = +1.971 pp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interaction exceeds every standalone wedge other than benefits.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117E090-382C-F336-97A5-FBDB297A7887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CF3703-9029-CE8F-8106-ED07D3CA46E6}"/>
              </a:ext>
            </a:extLst>
          </p:cNvPr>
          <p:cNvSpPr txBox="1"/>
          <p:nvPr/>
        </p:nvSpPr>
        <p:spPr>
          <a:xfrm>
            <a:off x="876300" y="55753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Compute all 2³ counterfactual combinations and report a Shapley or explicit interaction decomposition.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968756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A9FDF-BFDA-E380-1C7E-3036DC8F1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188471-D333-95B5-8267-1DD4CE74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13397-6BDC-DABD-BBD1-209FAC5DF30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ACBEA-AD97-83E6-D84C-4C186223B201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9E245-E8E8-89E3-73A3-376D469A4604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EB8B5-7285-2CFA-2819-C6E6154ED7C7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383E0-87CB-7BD4-15F1-42EF4A74FA3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02032-5F60-5E54-B19F-62529A318E3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7DFB62-67FC-64CB-F03B-BCDB658A16D4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7B7A9-2DF5-32F8-FF90-F3A77A628C7C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5F0D7F-7E6C-0325-F9E8-E766FF77794B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719DF-A64A-C5CD-1B12-054449C02D2D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2B294-2F74-01C8-AB93-754F7BB06C01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benchmarkʼs job-finding mechanism is mainly acceptance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934FAE-01E4-65DA-5152-B973940496A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5213F19-97E1-2746-D1BC-AB015AF698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397000"/>
            <a:ext cx="10795000" cy="4508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B181B6-7D7B-79BB-B0FE-D26D9D059C3A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This mechanism is imposed partly by η = 100 and fixed acceptance parameters; it is not directly validated by applications or offer data.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173EE-4BBF-7043-7109-D4E4B0EAAF43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750">
                <a:solidFill>
                  <a:srgbClr val="A6A6A6"/>
                </a:solidFill>
                <a:latin typeface="Proxima Nova Rg"/>
              </a:rPr>
              <a:t>Source: model-15 scenario CSV.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47237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16F0FC-65C7-F468-B0F1-AE178D32D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CD486B-9136-C96F-99C6-BFCB61E6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7D240-D5CC-9168-2355-115971C9C452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07C77-A2DA-3066-27B2-486240BA53A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87C6C-E83B-7374-69E9-60B0A2B4FC0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0518E-E3FC-8543-B4AF-656EC7D8649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ED542-FF99-3B89-F062-58CB64874A0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81815-8DA6-F07B-CB33-8336C4F22FF3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FEB32-2830-160B-E6B5-80FB2581AB25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08708-B553-7808-4B8F-A5AD3C1DA8F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BC197-9E7A-B38A-0A87-CDB8DDFED929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E7014-48AC-8337-410F-6EAE4DCA12AC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47199-B3B5-23D0-AEA4-CE2624082945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Weak identification appears in the near-fitting parameter set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CB801-8957-BEC5-F83D-5B4BF78CD96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DCB63C-6A01-5E4E-7859-7B0DFD8017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308100"/>
            <a:ext cx="7874000" cy="4851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0571A7-C691-F53C-B2B9-B56A80E66733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A single «best» grid point is selected by tiny numerical differences in a loss many specifications match almost exactly.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BBEA2-53FD-CB2B-2E91-4E213D26FE41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Source: model-15 restricted grid; plotted points have fitted loss &lt; 0.01.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953738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3B942-E652-C977-DBBD-B9D53DC5E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55A34A-DB16-A2C2-3B85-746E8EA2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9B280-F8DE-F821-1DB4-451AC8986DA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DDEE8-541B-BCF4-63FE-74ACB01A3EFA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CB382E-003A-DA9E-BEEC-0E5761BCE2B8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D904B-0F3C-BECF-F694-ADD9CC198997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01FF1-BAD2-5E22-D2CE-24D1E42EC2A2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CFC7A-454A-64F7-BABC-E7DE15E88CC1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Calibration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0E873-FEA1-804C-4777-693F1EB20538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60CED-3A7E-E13B-B267-E243D22761E8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E167F-DC61-4FD5-1193-1064B86F6AAF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39FD2-0142-4E73-310A-AD1C9532BF81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20AAC-0262-A065-3C63-7B38B441CE3D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The replacement-rate gradient file is a diagnostic—not a paper result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082F81-A33D-D90A-0F19-39F4CCA6EAAF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FB4B9C-B154-C065-3D12-7A798FF675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371600"/>
            <a:ext cx="8128000" cy="4572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EA96AE-2E53-07C5-17DB-D0FFB767D365}"/>
              </a:ext>
            </a:extLst>
          </p:cNvPr>
          <p:cNvSpPr txBox="1"/>
          <p:nvPr/>
        </p:nvSpPr>
        <p:spPr>
          <a:xfrm>
            <a:off x="889000" y="6032500"/>
            <a:ext cx="10414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Rebuild using statutory predicted entitlements and pre-displacement wages before using it as external validation.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9EE508-5044-066D-78FD-5C6A26E9EFAB}"/>
              </a:ext>
            </a:extLst>
          </p:cNvPr>
          <p:cNvSpPr txBox="1"/>
          <p:nvPr/>
        </p:nvSpPr>
        <p:spPr>
          <a:xfrm>
            <a:off x="571500" y="6451600"/>
            <a:ext cx="9652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750">
                <a:solidFill>
                  <a:srgbClr val="A6A6A6"/>
                </a:solidFill>
                <a:latin typeface="Proxima Nova Rg"/>
              </a:rPr>
              <a:t>Source: model-15 replacement-rate validation CSV; code marks rates as placeholders.</a:t>
            </a:r>
            <a:endParaRPr lang="en-NZ" sz="750" dirty="0">
              <a:solidFill>
                <a:srgbClr val="A6A6A6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371722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F68036-8B84-F283-DEAC-FAE535077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10272-38B1-FEC7-94B2-A809DE12BD37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04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078A5-C428-03B3-65C3-0A22743DE282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600" b="1">
                <a:solidFill>
                  <a:srgbClr val="FFFFFF"/>
                </a:solidFill>
                <a:latin typeface="Proxima Nova Rg"/>
              </a:rPr>
              <a:t>What is strong, what is fragile?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2F123-2AA2-829D-4A4C-3C88FD3454D2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Separate useful structure from claims the current model cannot carry.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3092240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E08AF7-365D-51FF-8D09-7D9A9DC67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219A9-9E6A-0E09-63DD-167E7BEB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C95466-D72F-19E0-875F-CFD86BA45854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99EAC-8FAE-C3BA-8582-B1CA903ABEC8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FDDC9-8F44-373B-90C7-CF3B8AB07A87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1621D-ADAA-874D-1C17-567BC562DFE8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940375-D945-CE53-632A-CAE07A761A63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906D7-2F84-D4FE-595F-0C4C142ED75D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9D20D-BFF7-6D01-216F-5E91FD868E45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8CB2A-288F-9479-0771-FF443F20D363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Assessment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9D260-E316-0488-F0F3-C75037BB6A1D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6B9C1-CD05-9D04-ECD2-61A31B5235CA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26D348-82A0-998E-78D4-3B405D3A4045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2600" b="1">
                <a:solidFill>
                  <a:srgbClr val="000000"/>
                </a:solidFill>
                <a:latin typeface="Proxima Nova Rg"/>
              </a:rPr>
              <a:t>What should be retained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5CA798-4E71-F401-B4DD-9F4C34527ABF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69939A-EB2C-E40A-8833-1ADD8392F042}"/>
              </a:ext>
            </a:extLst>
          </p:cNvPr>
          <p:cNvSpPr/>
          <p:nvPr/>
        </p:nvSpPr>
        <p:spPr>
          <a:xfrm>
            <a:off x="571500" y="1587500"/>
            <a:ext cx="33782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15E0E-DAB4-669B-BC5C-CBFB79FED0BE}"/>
              </a:ext>
            </a:extLst>
          </p:cNvPr>
          <p:cNvSpPr txBox="1"/>
          <p:nvPr/>
        </p:nvSpPr>
        <p:spPr>
          <a:xfrm>
            <a:off x="6985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Common surplus index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CFB211-FE78-9C16-E7B3-889C3B2555D6}"/>
              </a:ext>
            </a:extLst>
          </p:cNvPr>
          <p:cNvSpPr/>
          <p:nvPr/>
        </p:nvSpPr>
        <p:spPr>
          <a:xfrm>
            <a:off x="5715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EF7AC-25B9-CF19-894A-51D5490BF345}"/>
              </a:ext>
            </a:extLst>
          </p:cNvPr>
          <p:cNvSpPr txBox="1"/>
          <p:nvPr/>
        </p:nvSpPr>
        <p:spPr>
          <a:xfrm>
            <a:off x="7366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Benefits and work costs enter the same economic object, creating interpretable nonlinear responses across margins.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101E6C-6FC4-E814-D171-936F21890EBB}"/>
              </a:ext>
            </a:extLst>
          </p:cNvPr>
          <p:cNvSpPr/>
          <p:nvPr/>
        </p:nvSpPr>
        <p:spPr>
          <a:xfrm>
            <a:off x="4432300" y="1587500"/>
            <a:ext cx="33782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7DEB35-F31A-3F93-76C4-7F9FBD019650}"/>
              </a:ext>
            </a:extLst>
          </p:cNvPr>
          <p:cNvSpPr txBox="1"/>
          <p:nvPr/>
        </p:nvSpPr>
        <p:spPr>
          <a:xfrm>
            <a:off x="45593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Held-out prediction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912230-BBC5-5533-CD4A-798EE1D8414C}"/>
              </a:ext>
            </a:extLst>
          </p:cNvPr>
          <p:cNvSpPr/>
          <p:nvPr/>
        </p:nvSpPr>
        <p:spPr>
          <a:xfrm>
            <a:off x="4432300" y="2120900"/>
            <a:ext cx="3378200" cy="28956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C97C28-7E83-B364-75EA-C5EF2B733B2A}"/>
              </a:ext>
            </a:extLst>
          </p:cNvPr>
          <p:cNvSpPr txBox="1"/>
          <p:nvPr/>
        </p:nvSpPr>
        <p:spPr>
          <a:xfrm>
            <a:off x="45974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The restricted calibration reserves Australian post job finding rather than mechanically fitting every target.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9C23F7-0BEC-02C8-4B0E-FE7B6DCE2188}"/>
              </a:ext>
            </a:extLst>
          </p:cNvPr>
          <p:cNvSpPr/>
          <p:nvPr/>
        </p:nvSpPr>
        <p:spPr>
          <a:xfrm>
            <a:off x="8293100" y="1587500"/>
            <a:ext cx="33782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EBDDF-B0A9-C79E-B699-434C3A5388AA}"/>
              </a:ext>
            </a:extLst>
          </p:cNvPr>
          <p:cNvSpPr txBox="1"/>
          <p:nvPr/>
        </p:nvSpPr>
        <p:spPr>
          <a:xfrm>
            <a:off x="8420100" y="1689100"/>
            <a:ext cx="31242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Transparent outputs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F61CBE-8EED-1A34-D9FC-A2CD8092E882}"/>
              </a:ext>
            </a:extLst>
          </p:cNvPr>
          <p:cNvSpPr/>
          <p:nvPr/>
        </p:nvSpPr>
        <p:spPr>
          <a:xfrm>
            <a:off x="8293100" y="2120900"/>
            <a:ext cx="3378200" cy="28956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B83DDC-9128-7381-8622-737E92565009}"/>
              </a:ext>
            </a:extLst>
          </p:cNvPr>
          <p:cNvSpPr txBox="1"/>
          <p:nvPr/>
        </p:nvSpPr>
        <p:spPr>
          <a:xfrm>
            <a:off x="8458200" y="2273300"/>
            <a:ext cx="3048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Self-contained Julia code writes fit, scenario, grid and validation CSVs that can feed a reproducible paper pipeline.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B241541-EC69-6BB0-DCBD-C6588E6C798D}"/>
              </a:ext>
            </a:extLst>
          </p:cNvPr>
          <p:cNvSpPr/>
          <p:nvPr/>
        </p:nvSpPr>
        <p:spPr>
          <a:xfrm>
            <a:off x="698500" y="5397500"/>
            <a:ext cx="10668000" cy="7874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647E7-647E-C55F-00B5-792358A08FCD}"/>
              </a:ext>
            </a:extLst>
          </p:cNvPr>
          <p:cNvSpPr txBox="1"/>
          <p:nvPr/>
        </p:nvSpPr>
        <p:spPr>
          <a:xfrm>
            <a:off x="876300" y="54991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These are solid foundations for an interpretation model once empirical targets, time units and uncertainty are corrected.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304616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F10F45-E841-E5C9-83FD-1302B74D6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FFB141-15AB-5F34-4C81-0614F6DD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48ECE-A06B-0164-54F8-322FE4D964A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E7644-C58C-B527-C6D6-4E2ACE88B9F0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2D7C4-50A0-1C24-0401-A9182DD3348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5278B-3D7E-63E0-638E-891F32E7B502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0EC6E-AE40-FDE3-AC19-7BC9AEB9CF7F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D3204-8690-D1FD-A326-DBA1259A10AD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D7AE0-81A7-8F95-A309-D53ECD299F0D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0FEEB-9691-B199-0E00-F41B63D9FA2B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Assessment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6E5E43-40B5-9690-7B3C-60AE915DAE93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F7B77-D0CE-1F1E-DF74-EEDFC18B61D6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84CEF4-CE6A-97A1-3DEE-DF4D07DC577E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What the current aggregate moments cannot identify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3B57A-57FE-5BE3-3D36-73936FD28997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9DEC9C-889B-4704-A67F-E5007EF960A0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EDFF2F-9C2F-B6A7-C055-100AB679337C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Search-and-finding block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F9536F-C48A-11F7-29F2-9979CFF2EE26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474C8-40EC-5223-8646-9BD7EC8C8DA1}"/>
              </a:ext>
            </a:extLst>
          </p:cNvPr>
          <p:cNvSpPr txBox="1"/>
          <p:nvPr/>
        </p:nvSpPr>
        <p:spPr>
          <a:xfrm>
            <a:off x="7747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κ level and η curvature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Matching/contact efficiency μ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Offer-arrival responsiveness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Acceptance threshold and dispersion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Dynamic value surplus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11ED9B-C0F7-167D-77A3-89FE49A468B7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34DC8B-BC2D-55D3-7B9A-2AB03A7BF2D7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Exit block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947AC2-93AC-C167-9F30-B8C169B40BCC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92416-B7BA-3321-65B8-ABABB88004AB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Background firm destruction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Voluntary versus involuntary exits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Match-specific quality distribution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Worker and firm continuation values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Differential work-surplus wedge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6E9172-5E4E-1B84-5A5A-C8CE95513E92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B24080-6D01-2840-C6C8-430FBDF009D0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Add external moments or report a set of observationally admissible mechanisms. Six aggregate cells do not identify this many margins.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06608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CE313-7124-A415-DEFC-E3DAE85EC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3EDFFF-90EB-8937-26EF-E1DBC5F2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90AD03-7AE1-954C-0563-58A4A9D0A5B3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C8E0E-A192-DBC4-A8BC-EAF7A3AB3185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B1CF2-81FC-2144-666D-A54CEB61F31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3E66D-1009-1239-7377-347E5A3402FE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F1A47-7E88-93C9-C571-91ADF219B2C0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7A68C-BB3C-E81A-B704-3AD74B8EB14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32BC27-EC97-5252-B5A0-13722CCD4A06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400C4-BDA2-879F-7742-BCC0C071CBA0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Assessment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8F311-08CF-E0DA-CAA0-0E8789036546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4FE70-563D-F629-0A29-44F72AFA984E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A65D7B-9FC0-8618-CA0C-B8815518545D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The residual work wedge needs a neutral label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97824-2506-05F2-C14B-1FE767061AA5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485DD3-FD50-AE1B-9428-98D88672544E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DF7276-2C42-B98E-C0E8-DDFB433E9CF5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Current normalisation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0DBED-DCE0-434C-BC78-420A4E4E363B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079C33-8228-8066-5DA8-F2F168BC3E79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Set hᴺ = 0.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Fit common NZ exit increase with ξ.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Fit hᴿ to the remaining Australian exit increase.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Any R-specific omitted force loads into hᴿ.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836EB-5FAF-4483-1897-B7E88E20AF37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63EEA2-86E5-8C16-52A1-BC3047046011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What it may include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9DCF82-4807-D527-F1BF-66F5BBD353DD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41AD36-EC98-59D4-3A3B-5E1ED46A5E57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Health risk and caregiving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Industry/employer composition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JobKeeper interactions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 administration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Payroll reporting and sample selection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6204CC-8E43-307D-50AD-42F54F5076E0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8E6547-355C-01C0-502C-FAA37993B1C3}"/>
              </a:ext>
            </a:extLst>
          </p:cNvPr>
          <p:cNvSpPr txBox="1"/>
          <p:nvPr/>
        </p:nvSpPr>
        <p:spPr>
          <a:xfrm>
            <a:off x="876300" y="5575300"/>
            <a:ext cx="10312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Call hᴿ−hᴺ a differential net work-surplus wedge unless independent moments identify health or work disutility.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912875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E454A-D49E-1CC3-07D7-E925DB0EC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9828F-3ACE-9B42-2754-BDD1FB90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84353-2D1A-5EFD-EA8C-07D7A1D36EE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4889C-9735-5220-A4D1-F965DDB55F47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F75D88-1E3D-1DD4-6BE8-7AA6CF21AC90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C9E2C-B8E7-3D59-857C-9F64A47F324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73E227-E360-018B-4698-4491E8EBDD97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639E7-5F44-80C4-973F-93A4A154F3DE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0B4F0-2C1A-986A-6661-1DE10FE7AAF6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3C20B-A29F-59CF-7509-34D898F55637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Assessment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327CDC-EA4C-75E7-EA58-5B37ECDB0492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C85056-9D7B-3D76-47EB-B6D113E9BC91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8F8E6E-3711-5807-2FFB-D9648797FB04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The current model is not a welfare model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EF73D-EAFD-F5C5-3815-4AA30334E2D3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E34768-3455-1134-4807-182D5BC03CBD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2E90E-8809-9D05-FDB5-CDC9A8884EE6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Missing insurance side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4C1030-F632-FB72-FFE9-65098EE66519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A34CFF-7A10-451F-B1F9-B86AC7D69161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consumption or saving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risk aversion or liquidity constraints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household heterogeneity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taxes, budget or marginal cost of funds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3F5473-6C58-E8C6-4A0C-61D81A795638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E95C0B-94D3-5AEA-4C5C-0D23020A2506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Missing externalities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14EF22-B35C-BFEB-D7FA-9FF55C65BE8E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326768-2894-0A0E-C939-0E42274D6C08}"/>
              </a:ext>
            </a:extLst>
          </p:cNvPr>
          <p:cNvSpPr txBox="1"/>
          <p:nvPr/>
        </p:nvSpPr>
        <p:spPr>
          <a:xfrm>
            <a:off x="64135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epidemiological/contact externality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congestion or job-rationing externality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firm survival or vacancy externality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No value of improved match quality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ACDDB9D-6657-9FB7-FF20-FF5056913945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1632AD-3E12-E7ED-7963-EB2CDF10CF22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Valid conclusion: the paper estimates behavioural transitions and interprets channels. Invalid conclusion: the supplement had positive or negative net social welfare.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939406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BBCA8-089E-14E7-BBD6-7B70145EB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417B5B-2243-2DC0-CA1B-EE5E404A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D569A-FAE2-15E0-9564-742B688B8E36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50835-079A-E273-4018-36DAEC1E7C5E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DEE3E-DB3F-E596-000F-B59DB1BCDF0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DD04C-C7FF-6647-8F2F-2EF2D3AC8051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F29B5C-3C47-D4C4-5939-2981B5A4A47A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00076-A519-E69C-5DA8-7A7CC997937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0BF2D-7595-A095-2616-F01C6E5D2551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CE330-8DA4-E31B-D303-AC3B2D61D72E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Assessment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1471C-7B11-E879-01B6-88FA8556593C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FABAC-58B8-7639-8F47-53A1F89AE32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Roadmap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4C9A7-460E-67A3-C693-CDEB18018656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Uncertainty must pass through both empirical and structural stages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73077-569A-E4F5-D13F-71757DE02413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C22471-DB75-2E2C-B10B-7F1B2E4FDF22}"/>
              </a:ext>
            </a:extLst>
          </p:cNvPr>
          <p:cNvSpPr txBox="1"/>
          <p:nvPr/>
        </p:nvSpPr>
        <p:spPr>
          <a:xfrm>
            <a:off x="736600" y="1422400"/>
            <a:ext cx="10668000" cy="18312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Resample the person-week design using blocks and, where relevant, matched pairs.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Recompute the empirical target vector and covariance matrix in every draw.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Recalibrate the model; record failures, bound hits and optimiser status.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For each draw, retain the full economically admissible parameter set—not only one tie-broken optimum.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Report intervals combining sampling uncertainty with set/functional-form uncertainty.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Show model fit and counterfactual ranges, not only point bars.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0CBFB8-010F-6645-BB5B-42ACAB8E848B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7C1AC-20A0-6DD9-0170-A6834262104A}"/>
              </a:ext>
            </a:extLst>
          </p:cNvPr>
          <p:cNvSpPr txBox="1"/>
          <p:nvPr/>
        </p:nvSpPr>
        <p:spPr>
          <a:xfrm>
            <a:off x="876300" y="55372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E86F3D"/>
                </a:solidFill>
                <a:latin typeface="Proxima Nova Rg"/>
              </a:rPr>
              <a:t>Microdata improve measurement, but the policy still supplies one aggregate shock. Structural precision cannot exceed empirical identification.</a:t>
            </a:r>
            <a:endParaRPr lang="en-NZ" sz="1400" b="1" dirty="0">
              <a:solidFill>
                <a:srgbClr val="E86F3D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892793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86B37B-2CA6-DAFB-9464-145493D11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9945A-0FBD-0604-7DC2-C0E5CCA77008}"/>
              </a:ext>
            </a:extLst>
          </p:cNvPr>
          <p:cNvSpPr txBox="1"/>
          <p:nvPr/>
        </p:nvSpPr>
        <p:spPr>
          <a:xfrm>
            <a:off x="1397000" y="2133600"/>
            <a:ext cx="1397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400" b="1">
                <a:solidFill>
                  <a:srgbClr val="3AA7AC"/>
                </a:solidFill>
                <a:latin typeface="Proxima Nova Rg"/>
              </a:rPr>
              <a:t>05</a:t>
            </a:r>
            <a:endParaRPr lang="en-NZ" sz="3400" b="1" dirty="0">
              <a:solidFill>
                <a:srgbClr val="3AA7AC"/>
              </a:solidFill>
              <a:latin typeface="Proxima Nova R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DD928-0339-F5DF-7114-1C4B933E3418}"/>
              </a:ext>
            </a:extLst>
          </p:cNvPr>
          <p:cNvSpPr txBox="1"/>
          <p:nvPr/>
        </p:nvSpPr>
        <p:spPr>
          <a:xfrm>
            <a:off x="1397000" y="2857500"/>
            <a:ext cx="9525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3600" b="1">
                <a:solidFill>
                  <a:srgbClr val="FFFFFF"/>
                </a:solidFill>
                <a:latin typeface="Proxima Nova Rg"/>
              </a:rPr>
              <a:t>A submission-ready model roadmap</a:t>
            </a:r>
            <a:endParaRPr lang="en-NZ" sz="360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C1601-17FD-73F5-6B69-1789C9F254E9}"/>
              </a:ext>
            </a:extLst>
          </p:cNvPr>
          <p:cNvSpPr txBox="1"/>
          <p:nvPr/>
        </p:nvSpPr>
        <p:spPr>
          <a:xfrm>
            <a:off x="1422400" y="4064000"/>
            <a:ext cx="90170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FFF"/>
                </a:solidFill>
                <a:latin typeface="GT Sectra Fine"/>
              </a:rPr>
              <a:t>Make a credible minimal model first; treat richer welfare and equilibrium extensions as optional.</a:t>
            </a:r>
            <a:endParaRPr lang="en-NZ" sz="1700" dirty="0">
              <a:solidFill>
                <a:srgbClr val="FFFFFF"/>
              </a:solidFill>
              <a:latin typeface="GT Sectra Fine"/>
            </a:endParaRPr>
          </a:p>
        </p:txBody>
      </p:sp>
    </p:spTree>
    <p:extLst>
      <p:ext uri="{BB962C8B-B14F-4D97-AF65-F5344CB8AC3E}">
        <p14:creationId xmlns:p14="http://schemas.microsoft.com/office/powerpoint/2010/main" val="486247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7B572C-D31A-3EA0-0133-58969201B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CAC925-4982-5F73-F3F4-D88700BD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EDCB4-6F12-7BDD-3567-D4515A8C43AA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D5D3E-D148-06F0-BC91-F401C04CF77A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1D7DB-E83E-93B9-89CE-E9C74DE7EAB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F4B51-B04C-142A-EACD-4C596A125E0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DB180-24B6-B466-9B39-949E6C5C436C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AA158-BDD7-AC57-08AA-9AB81B413324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39DEF-A5F6-0E0D-7BB5-4D0803191CAA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D1C78-5113-3FC6-C509-093E9FFBEF84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7EBD6-3E8A-299F-98E6-A64C6EAD2B9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1FDFE-B631-D758-54A7-C3063451A179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EF276-0FA5-3A42-DDA1-A47BAA291FE3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Prioritised structural work before submission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8749DA-1C52-9B65-173E-42D35429272B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F2DA2-AFD9-C8D6-314C-FEBEEDBE7295}"/>
              </a:ext>
            </a:extLst>
          </p:cNvPr>
          <p:cNvSpPr/>
          <p:nvPr/>
        </p:nvSpPr>
        <p:spPr>
          <a:xfrm>
            <a:off x="609600" y="1473200"/>
            <a:ext cx="1358537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51E7C0-5AD5-165A-DFA6-14F86FA0F043}"/>
              </a:ext>
            </a:extLst>
          </p:cNvPr>
          <p:cNvSpPr txBox="1"/>
          <p:nvPr/>
        </p:nvSpPr>
        <p:spPr>
          <a:xfrm>
            <a:off x="673100" y="1549400"/>
            <a:ext cx="1231537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Priority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D6F6B-0341-DCDF-10BE-AA072314423C}"/>
              </a:ext>
            </a:extLst>
          </p:cNvPr>
          <p:cNvSpPr/>
          <p:nvPr/>
        </p:nvSpPr>
        <p:spPr>
          <a:xfrm>
            <a:off x="1968137" y="1473200"/>
            <a:ext cx="3135086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194F4-81E9-AE8D-22F1-1C26C3BA7D1B}"/>
              </a:ext>
            </a:extLst>
          </p:cNvPr>
          <p:cNvSpPr txBox="1"/>
          <p:nvPr/>
        </p:nvSpPr>
        <p:spPr>
          <a:xfrm>
            <a:off x="2031637" y="1549400"/>
            <a:ext cx="3008086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Action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B694C0-3E93-835F-26D7-8DA157035537}"/>
              </a:ext>
            </a:extLst>
          </p:cNvPr>
          <p:cNvSpPr/>
          <p:nvPr/>
        </p:nvSpPr>
        <p:spPr>
          <a:xfrm>
            <a:off x="5103223" y="1473200"/>
            <a:ext cx="3448595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99C0D-397E-1038-23A3-A1EA2E434CE1}"/>
              </a:ext>
            </a:extLst>
          </p:cNvPr>
          <p:cNvSpPr txBox="1"/>
          <p:nvPr/>
        </p:nvSpPr>
        <p:spPr>
          <a:xfrm>
            <a:off x="5166723" y="1549400"/>
            <a:ext cx="3321594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Why it is binding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600B10-B723-8462-FA85-5F369C4DB987}"/>
              </a:ext>
            </a:extLst>
          </p:cNvPr>
          <p:cNvSpPr/>
          <p:nvPr/>
        </p:nvSpPr>
        <p:spPr>
          <a:xfrm>
            <a:off x="8551817" y="1473200"/>
            <a:ext cx="3030583" cy="5969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6C669-9216-E9A8-A35D-189247D16D73}"/>
              </a:ext>
            </a:extLst>
          </p:cNvPr>
          <p:cNvSpPr txBox="1"/>
          <p:nvPr/>
        </p:nvSpPr>
        <p:spPr>
          <a:xfrm>
            <a:off x="8615317" y="1549400"/>
            <a:ext cx="2903583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Deliverable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E940D9-0732-5D24-F68C-11B0C05CDD6E}"/>
              </a:ext>
            </a:extLst>
          </p:cNvPr>
          <p:cNvSpPr/>
          <p:nvPr/>
        </p:nvSpPr>
        <p:spPr>
          <a:xfrm>
            <a:off x="609600" y="2070100"/>
            <a:ext cx="135853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9C814-26D0-A09B-8C7A-10B8D67C9FDB}"/>
              </a:ext>
            </a:extLst>
          </p:cNvPr>
          <p:cNvSpPr txBox="1"/>
          <p:nvPr/>
        </p:nvSpPr>
        <p:spPr>
          <a:xfrm>
            <a:off x="673100" y="21336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1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A3019-9E77-F014-2A66-ACDEA7DBCDAB}"/>
              </a:ext>
            </a:extLst>
          </p:cNvPr>
          <p:cNvSpPr/>
          <p:nvPr/>
        </p:nvSpPr>
        <p:spPr>
          <a:xfrm>
            <a:off x="1968137" y="2070100"/>
            <a:ext cx="3135086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1FBAD6-881B-3389-7D1D-A80BBBFE6651}"/>
              </a:ext>
            </a:extLst>
          </p:cNvPr>
          <p:cNvSpPr txBox="1"/>
          <p:nvPr/>
        </p:nvSpPr>
        <p:spPr>
          <a:xfrm>
            <a:off x="2031637" y="2133600"/>
            <a:ext cx="3008086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Recalibrate to redesigned person-week risk-set moments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9189A5-042B-9EDA-C22B-9CD7F2723139}"/>
              </a:ext>
            </a:extLst>
          </p:cNvPr>
          <p:cNvSpPr/>
          <p:nvPr/>
        </p:nvSpPr>
        <p:spPr>
          <a:xfrm>
            <a:off x="5103223" y="2070100"/>
            <a:ext cx="344859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52115B-0A73-D83E-83ED-AF764D0B1781}"/>
              </a:ext>
            </a:extLst>
          </p:cNvPr>
          <p:cNvSpPr txBox="1"/>
          <p:nvPr/>
        </p:nvSpPr>
        <p:spPr>
          <a:xfrm>
            <a:off x="5166723" y="2133600"/>
            <a:ext cx="3321594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Current exit targets inherit post-treatment selection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9ED55E-F746-46B5-0735-F093B92AD10F}"/>
              </a:ext>
            </a:extLst>
          </p:cNvPr>
          <p:cNvSpPr/>
          <p:nvPr/>
        </p:nvSpPr>
        <p:spPr>
          <a:xfrm>
            <a:off x="8551817" y="2070100"/>
            <a:ext cx="303058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F09C5D-C485-2A1A-C144-5285EECE63E7}"/>
              </a:ext>
            </a:extLst>
          </p:cNvPr>
          <p:cNvSpPr txBox="1"/>
          <p:nvPr/>
        </p:nvSpPr>
        <p:spPr>
          <a:xfrm>
            <a:off x="8615317" y="2133600"/>
            <a:ext cx="290358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Frozen target table + covariance matrix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B84C51-1173-D0FB-E9EE-E213FB85DD15}"/>
              </a:ext>
            </a:extLst>
          </p:cNvPr>
          <p:cNvSpPr/>
          <p:nvPr/>
        </p:nvSpPr>
        <p:spPr>
          <a:xfrm>
            <a:off x="609600" y="2667000"/>
            <a:ext cx="135853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83DF7D-4CA8-014B-4F66-698C057689BF}"/>
              </a:ext>
            </a:extLst>
          </p:cNvPr>
          <p:cNvSpPr txBox="1"/>
          <p:nvPr/>
        </p:nvSpPr>
        <p:spPr>
          <a:xfrm>
            <a:off x="673100" y="27305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2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1CEFBD-014A-39EE-18DE-93161134853F}"/>
              </a:ext>
            </a:extLst>
          </p:cNvPr>
          <p:cNvSpPr/>
          <p:nvPr/>
        </p:nvSpPr>
        <p:spPr>
          <a:xfrm>
            <a:off x="1968137" y="2667000"/>
            <a:ext cx="3135086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A60E26-9576-D8FA-2F5E-D509F44E2E7A}"/>
              </a:ext>
            </a:extLst>
          </p:cNvPr>
          <p:cNvSpPr txBox="1"/>
          <p:nvPr/>
        </p:nvSpPr>
        <p:spPr>
          <a:xfrm>
            <a:off x="2031637" y="2730500"/>
            <a:ext cx="3008086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Correct β, dates and actual benefit entitlements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92E9FD-F42E-F602-8CF3-B4A655D8B877}"/>
              </a:ext>
            </a:extLst>
          </p:cNvPr>
          <p:cNvSpPr/>
          <p:nvPr/>
        </p:nvSpPr>
        <p:spPr>
          <a:xfrm>
            <a:off x="5103223" y="2667000"/>
            <a:ext cx="344859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C90BD8-65CB-C8D4-82AC-E57392E1BBC1}"/>
              </a:ext>
            </a:extLst>
          </p:cNvPr>
          <p:cNvSpPr txBox="1"/>
          <p:nvPr/>
        </p:nvSpPr>
        <p:spPr>
          <a:xfrm>
            <a:off x="5166723" y="2730500"/>
            <a:ext cx="3321594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Current dynamics and replacement rates are not policy-consistent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A63ECA-1EAF-E723-EFBB-CB9189F5B32A}"/>
              </a:ext>
            </a:extLst>
          </p:cNvPr>
          <p:cNvSpPr/>
          <p:nvPr/>
        </p:nvSpPr>
        <p:spPr>
          <a:xfrm>
            <a:off x="8551817" y="2667000"/>
            <a:ext cx="303058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C862FD-2513-11F3-5363-B369653EF7B2}"/>
              </a:ext>
            </a:extLst>
          </p:cNvPr>
          <p:cNvSpPr txBox="1"/>
          <p:nvPr/>
        </p:nvSpPr>
        <p:spPr>
          <a:xfrm>
            <a:off x="8615317" y="2730500"/>
            <a:ext cx="290358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Date map + entitlement distribution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300D50-B93F-7E2A-E4F4-DCCEC0DB6700}"/>
              </a:ext>
            </a:extLst>
          </p:cNvPr>
          <p:cNvSpPr/>
          <p:nvPr/>
        </p:nvSpPr>
        <p:spPr>
          <a:xfrm>
            <a:off x="609600" y="3263900"/>
            <a:ext cx="135853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5AC013-9954-AE36-066D-37E7C3191355}"/>
              </a:ext>
            </a:extLst>
          </p:cNvPr>
          <p:cNvSpPr txBox="1"/>
          <p:nvPr/>
        </p:nvSpPr>
        <p:spPr>
          <a:xfrm>
            <a:off x="673100" y="33274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3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9ED792-7D7C-1F26-15A1-102B928B7673}"/>
              </a:ext>
            </a:extLst>
          </p:cNvPr>
          <p:cNvSpPr/>
          <p:nvPr/>
        </p:nvSpPr>
        <p:spPr>
          <a:xfrm>
            <a:off x="1968137" y="3263900"/>
            <a:ext cx="3135086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C066F7-603A-FDD7-0A8D-FD7EF48ABB58}"/>
              </a:ext>
            </a:extLst>
          </p:cNvPr>
          <p:cNvSpPr txBox="1"/>
          <p:nvPr/>
        </p:nvSpPr>
        <p:spPr>
          <a:xfrm>
            <a:off x="2031637" y="3327400"/>
            <a:ext cx="30080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Report an admissible parameter set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537E24-C168-B031-6E13-50AE2BF90C30}"/>
              </a:ext>
            </a:extLst>
          </p:cNvPr>
          <p:cNvSpPr/>
          <p:nvPr/>
        </p:nvSpPr>
        <p:spPr>
          <a:xfrm>
            <a:off x="5103223" y="3263900"/>
            <a:ext cx="344859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C7E402-02C7-21CA-78DE-24714148403A}"/>
              </a:ext>
            </a:extLst>
          </p:cNvPr>
          <p:cNvSpPr txBox="1"/>
          <p:nvPr/>
        </p:nvSpPr>
        <p:spPr>
          <a:xfrm>
            <a:off x="5166723" y="3327400"/>
            <a:ext cx="332159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Numerical tie-breaking hides weak identification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A3B8CF-DD97-DEB5-3B2A-3B6E2F4E8E1D}"/>
              </a:ext>
            </a:extLst>
          </p:cNvPr>
          <p:cNvSpPr/>
          <p:nvPr/>
        </p:nvSpPr>
        <p:spPr>
          <a:xfrm>
            <a:off x="8551817" y="3263900"/>
            <a:ext cx="303058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BAEE65-695D-5279-A0D4-3D7807CA7E0B}"/>
              </a:ext>
            </a:extLst>
          </p:cNvPr>
          <p:cNvSpPr txBox="1"/>
          <p:nvPr/>
        </p:nvSpPr>
        <p:spPr>
          <a:xfrm>
            <a:off x="8615317" y="3327400"/>
            <a:ext cx="2903583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Ranges for fit, held-out prediction and counterfactuals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6ED094-B0BB-7965-06ED-CE79834D4890}"/>
              </a:ext>
            </a:extLst>
          </p:cNvPr>
          <p:cNvSpPr/>
          <p:nvPr/>
        </p:nvSpPr>
        <p:spPr>
          <a:xfrm>
            <a:off x="609600" y="3860800"/>
            <a:ext cx="135853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7FF01D-7274-CD87-F986-9F9861737CB6}"/>
              </a:ext>
            </a:extLst>
          </p:cNvPr>
          <p:cNvSpPr txBox="1"/>
          <p:nvPr/>
        </p:nvSpPr>
        <p:spPr>
          <a:xfrm>
            <a:off x="673100" y="39243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4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D28D8E-08EB-44B2-2CF1-94549D126F0D}"/>
              </a:ext>
            </a:extLst>
          </p:cNvPr>
          <p:cNvSpPr/>
          <p:nvPr/>
        </p:nvSpPr>
        <p:spPr>
          <a:xfrm>
            <a:off x="1968137" y="3860800"/>
            <a:ext cx="3135086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74F5CE-DB7C-CFA6-50DD-30D87D56EE68}"/>
              </a:ext>
            </a:extLst>
          </p:cNvPr>
          <p:cNvSpPr txBox="1"/>
          <p:nvPr/>
        </p:nvSpPr>
        <p:spPr>
          <a:xfrm>
            <a:off x="2031637" y="3924300"/>
            <a:ext cx="3008086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Complete 2³ / Shapley decomposition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0A9B28-69E1-529D-EE07-04B1F85769E9}"/>
              </a:ext>
            </a:extLst>
          </p:cNvPr>
          <p:cNvSpPr/>
          <p:nvPr/>
        </p:nvSpPr>
        <p:spPr>
          <a:xfrm>
            <a:off x="5103223" y="3860800"/>
            <a:ext cx="344859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E64FAD-E110-F269-8042-C972ED8D8736}"/>
              </a:ext>
            </a:extLst>
          </p:cNvPr>
          <p:cNvSpPr txBox="1"/>
          <p:nvPr/>
        </p:nvSpPr>
        <p:spPr>
          <a:xfrm>
            <a:off x="5166723" y="3924300"/>
            <a:ext cx="332159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Current scenarios are non-additive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242BAD-1191-EE14-C2FD-529DE4658431}"/>
              </a:ext>
            </a:extLst>
          </p:cNvPr>
          <p:cNvSpPr/>
          <p:nvPr/>
        </p:nvSpPr>
        <p:spPr>
          <a:xfrm>
            <a:off x="8551817" y="3860800"/>
            <a:ext cx="303058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F69B3C-62F5-2AD5-72A8-810792C22BA2}"/>
              </a:ext>
            </a:extLst>
          </p:cNvPr>
          <p:cNvSpPr txBox="1"/>
          <p:nvPr/>
        </p:nvSpPr>
        <p:spPr>
          <a:xfrm>
            <a:off x="8615317" y="3924300"/>
            <a:ext cx="290358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Mechanism table with interactions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C43849-FB0E-ED95-FD3E-305EDAF26AF7}"/>
              </a:ext>
            </a:extLst>
          </p:cNvPr>
          <p:cNvSpPr/>
          <p:nvPr/>
        </p:nvSpPr>
        <p:spPr>
          <a:xfrm>
            <a:off x="609600" y="4457700"/>
            <a:ext cx="1358537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FBDC37-2EF6-A657-5AA4-23EDC759DA12}"/>
              </a:ext>
            </a:extLst>
          </p:cNvPr>
          <p:cNvSpPr txBox="1"/>
          <p:nvPr/>
        </p:nvSpPr>
        <p:spPr>
          <a:xfrm>
            <a:off x="673100" y="45212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5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C939E1-7090-ECD7-08D9-3992869D6B9C}"/>
              </a:ext>
            </a:extLst>
          </p:cNvPr>
          <p:cNvSpPr/>
          <p:nvPr/>
        </p:nvSpPr>
        <p:spPr>
          <a:xfrm>
            <a:off x="1968137" y="4457700"/>
            <a:ext cx="3135086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BABCA0-811F-118D-D240-EDF2BF516F21}"/>
              </a:ext>
            </a:extLst>
          </p:cNvPr>
          <p:cNvSpPr txBox="1"/>
          <p:nvPr/>
        </p:nvSpPr>
        <p:spPr>
          <a:xfrm>
            <a:off x="2031637" y="4521200"/>
            <a:ext cx="3008086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Fix firm-exit consistency or simplify matching block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B1C9BBA-8D51-9CCD-C804-5E1EEB2B06C1}"/>
              </a:ext>
            </a:extLst>
          </p:cNvPr>
          <p:cNvSpPr/>
          <p:nvPr/>
        </p:nvSpPr>
        <p:spPr>
          <a:xfrm>
            <a:off x="5103223" y="4457700"/>
            <a:ext cx="3448595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04F12B-C5E3-39B0-18BD-BAC814AF8AB8}"/>
              </a:ext>
            </a:extLst>
          </p:cNvPr>
          <p:cNvSpPr txBox="1"/>
          <p:nvPr/>
        </p:nvSpPr>
        <p:spPr>
          <a:xfrm>
            <a:off x="5166723" y="4521200"/>
            <a:ext cx="332159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Free entry ignores the modelʼs own exits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0A8B688-DE7E-12EA-B5C1-831B76FD50E5}"/>
              </a:ext>
            </a:extLst>
          </p:cNvPr>
          <p:cNvSpPr/>
          <p:nvPr/>
        </p:nvSpPr>
        <p:spPr>
          <a:xfrm>
            <a:off x="8551817" y="4457700"/>
            <a:ext cx="3030583" cy="5969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7116CE-146E-7BAB-327B-007F9CEB4000}"/>
              </a:ext>
            </a:extLst>
          </p:cNvPr>
          <p:cNvSpPr txBox="1"/>
          <p:nvPr/>
        </p:nvSpPr>
        <p:spPr>
          <a:xfrm>
            <a:off x="8615317" y="4521200"/>
            <a:ext cx="2903583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Integrated J or exogenous contact interpretation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7657F0-A37A-28EB-4A27-AE416ABD62AE}"/>
              </a:ext>
            </a:extLst>
          </p:cNvPr>
          <p:cNvSpPr/>
          <p:nvPr/>
        </p:nvSpPr>
        <p:spPr>
          <a:xfrm>
            <a:off x="609600" y="5054600"/>
            <a:ext cx="1358537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862AF2-7BC8-ED65-9EC6-63A8043DF766}"/>
              </a:ext>
            </a:extLst>
          </p:cNvPr>
          <p:cNvSpPr txBox="1"/>
          <p:nvPr/>
        </p:nvSpPr>
        <p:spPr>
          <a:xfrm>
            <a:off x="673100" y="5118100"/>
            <a:ext cx="1231537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6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676B3F-6A99-A5B0-B9A9-C2B3BFF36D40}"/>
              </a:ext>
            </a:extLst>
          </p:cNvPr>
          <p:cNvSpPr/>
          <p:nvPr/>
        </p:nvSpPr>
        <p:spPr>
          <a:xfrm>
            <a:off x="1968137" y="5054600"/>
            <a:ext cx="3135086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FA898D-58F3-BB6A-5254-FB54B97B6C3C}"/>
              </a:ext>
            </a:extLst>
          </p:cNvPr>
          <p:cNvSpPr txBox="1"/>
          <p:nvPr/>
        </p:nvSpPr>
        <p:spPr>
          <a:xfrm>
            <a:off x="2031637" y="5118100"/>
            <a:ext cx="3008086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Add numerical tests and reproducible environment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E53AF8D-B795-E27E-A154-4D3350578502}"/>
              </a:ext>
            </a:extLst>
          </p:cNvPr>
          <p:cNvSpPr/>
          <p:nvPr/>
        </p:nvSpPr>
        <p:spPr>
          <a:xfrm>
            <a:off x="5103223" y="5054600"/>
            <a:ext cx="3448595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43F3F2-1778-8C54-C18E-B9DD205CBC8A}"/>
              </a:ext>
            </a:extLst>
          </p:cNvPr>
          <p:cNvSpPr txBox="1"/>
          <p:nvPr/>
        </p:nvSpPr>
        <p:spPr>
          <a:xfrm>
            <a:off x="5166723" y="5118100"/>
            <a:ext cx="3321594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Grid silently omits failures; no project lockfile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3F51AEB-6014-2587-44B1-3D39EA4D07A5}"/>
              </a:ext>
            </a:extLst>
          </p:cNvPr>
          <p:cNvSpPr/>
          <p:nvPr/>
        </p:nvSpPr>
        <p:spPr>
          <a:xfrm>
            <a:off x="8551817" y="5054600"/>
            <a:ext cx="3030583" cy="596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E74088-4779-73A5-81A0-0DAFDE565A8D}"/>
              </a:ext>
            </a:extLst>
          </p:cNvPr>
          <p:cNvSpPr txBox="1"/>
          <p:nvPr/>
        </p:nvSpPr>
        <p:spPr>
          <a:xfrm>
            <a:off x="8615317" y="5118100"/>
            <a:ext cx="2903583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Project/Manifest, driver, tests and logs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9BC0AA3-5AC9-8E73-BA11-7A2F1380A369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9234DB-1E04-95C3-846A-C3A50A15E3DC}"/>
              </a:ext>
            </a:extLst>
          </p:cNvPr>
          <p:cNvSpPr txBox="1"/>
          <p:nvPr/>
        </p:nvSpPr>
        <p:spPr>
          <a:xfrm>
            <a:off x="876300" y="55880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Stop/go rule: if the redesigned empirical cells are unstable, pause structural refinement and narrow the paperʼs causal claims.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781503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75F88-9BDC-636B-AFEE-203C149F3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AA1569-A7B3-16E2-ADEF-20CAF74C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711FC-7CE4-6DC6-4F45-BC64A007DD5D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2EE40-0021-D73C-12E6-F503D91B0782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ACAEF-A89E-EC2E-1734-E51B0C6BDB2C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53A1B-C752-9E7B-2210-1F922F9101C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88C3B5-2B41-94DA-51F7-0D3998C8F76B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176BF-7FF2-B72C-3189-182C6C7C1C3F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36D06-92A8-66DF-901C-17E512A77EC1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3D324-28C7-3109-06E1-813DE141D7F4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F4339D-C39F-15CC-3747-B9BB883A6318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C18EA-870D-3338-37D6-430EBDD439E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F8938-CD22-3307-580A-07F607C925CA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Minimal model for the main paper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CB4EE-5F82-AF67-D11F-CC54A6F48410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DB202-5DAA-DD19-6453-B1CBBBF99D95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83412C-A684-200D-312C-D0DC98F1E3D8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Keep in main text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F7439-8CB8-1102-43AB-0048805DCE7F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492DB-2AC1-968D-C740-5134B7A6D849}"/>
              </a:ext>
            </a:extLst>
          </p:cNvPr>
          <p:cNvSpPr txBox="1"/>
          <p:nvPr/>
        </p:nvSpPr>
        <p:spPr>
          <a:xfrm>
            <a:off x="774700" y="2108200"/>
            <a:ext cx="5003800" cy="19210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Two types and states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Flow-surplus index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Search FOC and acceptance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Reduced-form smooth exit hazard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Moment-to-parameter table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Fit + held-out prediction range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Factorial/Shapley decomposition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ADC5D2-3E41-3B8C-DFD7-C73FEAC43225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4A4E50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16FF8A-9022-06BC-F650-4F0A7A592090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Move to appendix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FDE34F-3105-F117-7A00-EC09BEAB2FC4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31C231-1412-8121-5D74-B7228B0F0E78}"/>
              </a:ext>
            </a:extLst>
          </p:cNvPr>
          <p:cNvSpPr txBox="1"/>
          <p:nvPr/>
        </p:nvSpPr>
        <p:spPr>
          <a:xfrm>
            <a:off x="6413500" y="2108200"/>
            <a:ext cx="5003800" cy="19210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Bellman derivations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Full parameter grid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Optimiser diagnostics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All shock-path sensitivities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Alternative normalisations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Bootstrap/set-construction details</a:t>
            </a:r>
          </a:p>
          <a:p>
            <a:pPr>
              <a:spcAft>
                <a:spcPts val="400"/>
              </a:spcAft>
            </a:pPr>
            <a:r>
              <a:rPr lang="en-NZ" sz="1450">
                <a:solidFill>
                  <a:srgbClr val="4A4E50"/>
                </a:solidFill>
                <a:latin typeface="Proxima Nova Rg"/>
              </a:rPr>
              <a:t>All subgroup validations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C54CD9-3BDD-FB59-71B1-CB581532E211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39D4C-7A7E-FD69-8983-16EAFCA94197}"/>
              </a:ext>
            </a:extLst>
          </p:cNvPr>
          <p:cNvSpPr txBox="1"/>
          <p:nvPr/>
        </p:nvSpPr>
        <p:spPr>
          <a:xfrm>
            <a:off x="876300" y="5575300"/>
            <a:ext cx="10312400" cy="5283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550" b="1">
                <a:solidFill>
                  <a:srgbClr val="004F54"/>
                </a:solidFill>
                <a:latin typeface="Proxima Nova Rg"/>
              </a:rPr>
              <a:t>Aim for a transparent quantitative interpretation section, not a second paper inside the empirical paper.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1670578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8E982-EF1C-47D0-2656-EE4E36B94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9B63F-3C69-F287-9F4C-019F41DB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40735-0128-87AC-08FC-2F8D16BF29A9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AACC9-38B8-3048-BC3B-03E515490729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A57D5-8CDF-85B6-D123-8012C4D65E7E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97E99-5634-ECD1-59F8-0FC9F20D3D0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2CEB07-2D9A-011D-3FDB-D1B2B17B76F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F53EB-E3FD-80B3-51F9-6946FBE53E0B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3194F-F367-F85C-8088-B28BD1575A11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7ED6BA-3749-5682-8EBD-375C5470BF73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65F49-44FF-7883-09C4-6C6FCF0D14B3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1EF6E9-959F-2FF1-F05B-542E0A3BA75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E0BEF7-7763-779B-1918-6E07EF548CD2}"/>
              </a:ext>
            </a:extLst>
          </p:cNvPr>
          <p:cNvSpPr txBox="1"/>
          <p:nvPr/>
        </p:nvSpPr>
        <p:spPr>
          <a:xfrm>
            <a:off x="482600" y="469900"/>
            <a:ext cx="111760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000000"/>
                </a:solidFill>
                <a:latin typeface="Proxima Nova Rg"/>
              </a:rPr>
              <a:t>Ambitious extension: explicit match quality and consistent vacancy creation</a:t>
            </a:r>
            <a:endParaRPr lang="en-NZ" sz="21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F0DF86-CD2D-7FE0-A32C-B3B2C524E774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57398-CBD4-3D51-81FD-C010CC9BD919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A087B-BFB7-42AC-3593-AA8CDA0C7E88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State extension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B84526-0F63-5BE4-CEDE-644A2AE59DD7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BA792-AEFC-06CD-E019-58DC1493ADA1}"/>
              </a:ext>
            </a:extLst>
          </p:cNvPr>
          <p:cNvSpPr txBox="1"/>
          <p:nvPr/>
        </p:nvSpPr>
        <p:spPr>
          <a:xfrm>
            <a:off x="774700" y="2108200"/>
            <a:ext cx="5003800" cy="132087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Each match draws quality x.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Worker and firm continuation depend on x.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Joint surplus Sⱼ(x) determines an endogenous continuation cutoff x*ⱼ.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Exit probability is F(x*ⱼ).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91AE5-213C-516F-7315-172AD7C66186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BF1CF-C90E-FFC5-4C9E-315960AB3940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Equilibrium extension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821109-87F5-CA94-E762-52318D3CCE73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A61FAA-A33D-5011-A620-F8228E5A7551}"/>
              </a:ext>
            </a:extLst>
          </p:cNvPr>
          <p:cNvSpPr txBox="1"/>
          <p:nvPr/>
        </p:nvSpPr>
        <p:spPr>
          <a:xfrm>
            <a:off x="6413500" y="2108200"/>
            <a:ext cx="5003800" cy="132087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Firm value integrates over type and quality.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Vacancy free entry uses the same exit process.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Benefits affect vacancy value through duration and destruction.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Validate tightness against vacancy data.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9DE01D-B499-057D-59C9-84FCADD2119B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8DB526-A107-0368-293D-B91FA5804DC1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This would justify «structural match-quality threshold» language. It is valuable, but not necessary if the current hazard is labelled modestly.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825442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7F63F9-EDBE-CD97-A3E5-78E26E32F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79A1ED-7D91-4166-ACB7-FA9F482E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3FDBF3-BDD0-928F-1A63-5B15A76C0321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24C8-C499-A424-84EA-6B251EB6957F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46F32-F981-271B-29B0-C3D504728935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EBE38-F15A-072B-E956-47AB9351B753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50022-892B-6B23-F786-7E193D0521A0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175EC-0C6F-71E2-4ED9-ABA0AD5F70B3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6767B3-9345-43A9-752B-014421A6B565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1266A-36CD-7131-6231-DE4F82A1C726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BA282-85C4-C74C-6481-C6B307B70DC1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EE540-DF51-AE4E-C03F-F8B6FC96737B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73CC4D-8FE6-9AA4-21CF-E97A86307FD3}"/>
              </a:ext>
            </a:extLst>
          </p:cNvPr>
          <p:cNvSpPr txBox="1"/>
          <p:nvPr/>
        </p:nvSpPr>
        <p:spPr>
          <a:xfrm>
            <a:off x="482600" y="469900"/>
            <a:ext cx="111760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000000"/>
                </a:solidFill>
                <a:latin typeface="Proxima Nova Rg"/>
              </a:rPr>
              <a:t>Ambitious extension: insurance, households and public-health externalities</a:t>
            </a:r>
            <a:endParaRPr lang="en-NZ" sz="21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D2539-1EC0-3AB1-F735-287F42978BA2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AAA4A8-9F6E-0B18-2AD5-C7937EF08C76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E86F3D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671F4-EB08-A953-DBB7-2A8A726D3EEA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Household block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C63CFC-D7A4-DC30-0D79-96627B732F2E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FFEFE7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3011B-B845-8183-E838-A5BA9D75600D}"/>
              </a:ext>
            </a:extLst>
          </p:cNvPr>
          <p:cNvSpPr txBox="1"/>
          <p:nvPr/>
        </p:nvSpPr>
        <p:spPr>
          <a:xfrm>
            <a:off x="7747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CRRA utility, assets and borrowing limits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Flat benefits + taper/means tests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Heterogeneous wages and household composition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Consumption response and insurance value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DD299-5E13-3130-A2A0-87F664C91CDB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7DDDB1-896A-202D-F255-F9D5005B2DC4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Social block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365220-F2D5-18FF-3137-680C4E0828F5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BA9DA9-4A5E-7631-EA79-462F40559153}"/>
              </a:ext>
            </a:extLst>
          </p:cNvPr>
          <p:cNvSpPr txBox="1"/>
          <p:nvPr/>
        </p:nvSpPr>
        <p:spPr>
          <a:xfrm>
            <a:off x="6413500" y="2108200"/>
            <a:ext cx="5003800" cy="137217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Benefit financing and marginal cost of funds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Contact intensity by employment state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Epidemiological transmission externality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Vacancy/job-rationing effects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State-contingent optimal benefit paths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18EED6-BC9F-3A96-8B19-30EB357DDDEB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12CCCC-B447-E944-3D33-4F719E6E5FA9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This is the route to welfare. It materially expands scope and data requirements; do not let it delay a strong behavioural paper.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764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FA4A4-3319-EF79-00E4-9CEBEA8B1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72451C-BC00-B8B1-CA7E-C03FD1E6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63CEC-2A26-97B4-EA9C-86F6F2158913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60A30-3A33-4198-6B15-564CD8C78F13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8CD13-83FA-2857-E485-3F662DAE80E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B93EA-6D06-3F33-4A53-A29A210DEAA5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1BA59-2A54-EFE0-ECDE-3DC03CB56E05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332C4-FC94-0072-5EFC-495256594BCC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A14EB4-6FB4-0DF2-F9D1-2A4A1A9DA841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099C6-5656-84D3-0E16-10535782F7F6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75C7F2-C258-5DEE-930E-FE0ECA5802E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957E2-7E4F-8DA3-22D3-0D10205984C5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E4372-F16D-AB77-6BC8-8983075892DA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Additional moments with the highest identification value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3F305-A828-337D-30F1-62954AC590F9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0DBA96-E309-D455-8AF6-16767AD4ED4B}"/>
              </a:ext>
            </a:extLst>
          </p:cNvPr>
          <p:cNvSpPr txBox="1"/>
          <p:nvPr/>
        </p:nvSpPr>
        <p:spPr>
          <a:xfrm>
            <a:off x="736600" y="1422400"/>
            <a:ext cx="10668000" cy="239039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Applications/search contacts or reported search hours—discipline κ and η.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Offer receipt, rejection and reservation wages—discipline acceptance threshold and dispersion.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Vacancies/applications by local market—discipline contact efficiency and tightness.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Employment-exit reason, stand-down, firm closure and JobKeeper exposure—separate worker continuation from firm destruction.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Duration dependence in job finding—tests value dynamics and search technology.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Actual predicted replacement-rate changes—tests the benefit mechanism across policy intensity.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Post-taper and expiry paths—validate expectations and forward-looking behaviour.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0C6911-F9D9-5078-8318-5AFB6CA02E53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AD0E0-E63D-0408-7C39-314C35DB5DB3}"/>
              </a:ext>
            </a:extLst>
          </p:cNvPr>
          <p:cNvSpPr txBox="1"/>
          <p:nvPr/>
        </p:nvSpPr>
        <p:spPr>
          <a:xfrm>
            <a:off x="876300" y="55372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Pre-register which moments are fitted and which are held out. Validation is strongest when the held-out set is chosen before specification search.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059861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80540-6235-FA98-0C99-B5569547D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69505A-1279-29D1-491C-8B7EE936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65189-EBD1-0633-E5FD-81689DDF6197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1F910-24C8-8762-0796-19794ACB8DF6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69DB25-927D-55EF-C6D7-68019C9725B3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23C88-FB52-431F-CC7F-FBC5DDAA1B7F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ED4312-5B4B-FFEA-32FC-ABCE6FBCB1FE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06C90-E362-7BBF-80EB-C8BF5C38871C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EB239-5F0C-A0BA-8B54-E64032F5D87C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A4123-A556-6E21-33D9-77C1D012D0CE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7CA37A-0203-3C46-7642-13BFFD793225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CBA27A-4E70-48CE-3217-DC43646629B5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6CEA9-2584-BB5B-3D4F-63C8D2935CCC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How the structural section should be written in the paper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8B10D1-D66D-D346-ECB8-A1A5C1B2648D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455A15-6258-5EB0-8651-4F26B2D7F89C}"/>
              </a:ext>
            </a:extLst>
          </p:cNvPr>
          <p:cNvSpPr/>
          <p:nvPr/>
        </p:nvSpPr>
        <p:spPr>
          <a:xfrm>
            <a:off x="609600" y="1473200"/>
            <a:ext cx="2336800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59BB55-BB0C-1234-670E-70EC4032E248}"/>
              </a:ext>
            </a:extLst>
          </p:cNvPr>
          <p:cNvSpPr txBox="1"/>
          <p:nvPr/>
        </p:nvSpPr>
        <p:spPr>
          <a:xfrm>
            <a:off x="673100" y="1549400"/>
            <a:ext cx="220980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Subsection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1F878C-CC36-F639-DA82-109337331EF8}"/>
              </a:ext>
            </a:extLst>
          </p:cNvPr>
          <p:cNvSpPr/>
          <p:nvPr/>
        </p:nvSpPr>
        <p:spPr>
          <a:xfrm>
            <a:off x="2946400" y="1473200"/>
            <a:ext cx="5486400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829FE1-00FF-F571-05E6-4CE2A9D814F6}"/>
              </a:ext>
            </a:extLst>
          </p:cNvPr>
          <p:cNvSpPr txBox="1"/>
          <p:nvPr/>
        </p:nvSpPr>
        <p:spPr>
          <a:xfrm>
            <a:off x="3009900" y="1549400"/>
            <a:ext cx="535940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Purpose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0F5554-04DF-530A-BB16-C042E1633DC8}"/>
              </a:ext>
            </a:extLst>
          </p:cNvPr>
          <p:cNvSpPr/>
          <p:nvPr/>
        </p:nvSpPr>
        <p:spPr>
          <a:xfrm>
            <a:off x="8432800" y="1473200"/>
            <a:ext cx="3149600" cy="5207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8A16E-CE7E-7260-F326-40293D47AD1D}"/>
              </a:ext>
            </a:extLst>
          </p:cNvPr>
          <p:cNvSpPr txBox="1"/>
          <p:nvPr/>
        </p:nvSpPr>
        <p:spPr>
          <a:xfrm>
            <a:off x="8496300" y="1549400"/>
            <a:ext cx="3022600" cy="24365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50" b="1">
                <a:solidFill>
                  <a:srgbClr val="FFFFFF"/>
                </a:solidFill>
                <a:latin typeface="Proxima Nova Rg"/>
              </a:rPr>
              <a:t>One main exhibit</a:t>
            </a:r>
            <a:endParaRPr lang="en-NZ" sz="12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8C602-91DD-6AF8-E4B5-3396DDF65B36}"/>
              </a:ext>
            </a:extLst>
          </p:cNvPr>
          <p:cNvSpPr/>
          <p:nvPr/>
        </p:nvSpPr>
        <p:spPr>
          <a:xfrm>
            <a:off x="609600" y="1993900"/>
            <a:ext cx="23368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AA32D9-8D21-2851-CB61-E9D283EE0D52}"/>
              </a:ext>
            </a:extLst>
          </p:cNvPr>
          <p:cNvSpPr txBox="1"/>
          <p:nvPr/>
        </p:nvSpPr>
        <p:spPr>
          <a:xfrm>
            <a:off x="673100" y="20574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Purpose and scope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25AE1C-9F27-A6BE-1709-C9B93190B033}"/>
              </a:ext>
            </a:extLst>
          </p:cNvPr>
          <p:cNvSpPr/>
          <p:nvPr/>
        </p:nvSpPr>
        <p:spPr>
          <a:xfrm>
            <a:off x="2946400" y="1993900"/>
            <a:ext cx="54864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CD777C-EA3E-1C1B-9292-27948090EFAD}"/>
              </a:ext>
            </a:extLst>
          </p:cNvPr>
          <p:cNvSpPr txBox="1"/>
          <p:nvPr/>
        </p:nvSpPr>
        <p:spPr>
          <a:xfrm>
            <a:off x="3009900" y="2057400"/>
            <a:ext cx="53594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Interpret transition gaps; explicitly exclude welfare and full GE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DA8D64-57AE-350E-6B31-76471FFC4027}"/>
              </a:ext>
            </a:extLst>
          </p:cNvPr>
          <p:cNvSpPr/>
          <p:nvPr/>
        </p:nvSpPr>
        <p:spPr>
          <a:xfrm>
            <a:off x="8432800" y="1993900"/>
            <a:ext cx="31496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E5BEE9-BBE1-25F4-F824-8FFE7936881D}"/>
              </a:ext>
            </a:extLst>
          </p:cNvPr>
          <p:cNvSpPr txBox="1"/>
          <p:nvPr/>
        </p:nvSpPr>
        <p:spPr>
          <a:xfrm>
            <a:off x="8496300" y="20574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One-paragraph mechanism map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9A5B73-4909-5BDD-2B44-76F4E509BE2A}"/>
              </a:ext>
            </a:extLst>
          </p:cNvPr>
          <p:cNvSpPr/>
          <p:nvPr/>
        </p:nvSpPr>
        <p:spPr>
          <a:xfrm>
            <a:off x="609600" y="2514600"/>
            <a:ext cx="23368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B0201-999E-9B45-7651-F5AAAE227613}"/>
              </a:ext>
            </a:extLst>
          </p:cNvPr>
          <p:cNvSpPr txBox="1"/>
          <p:nvPr/>
        </p:nvSpPr>
        <p:spPr>
          <a:xfrm>
            <a:off x="673100" y="25781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Environment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3511B9-9EA7-02B8-3F45-8EF999DF7AAE}"/>
              </a:ext>
            </a:extLst>
          </p:cNvPr>
          <p:cNvSpPr/>
          <p:nvPr/>
        </p:nvSpPr>
        <p:spPr>
          <a:xfrm>
            <a:off x="2946400" y="2514600"/>
            <a:ext cx="54864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04969-4C6D-6827-2BEE-D20B818D55DD}"/>
              </a:ext>
            </a:extLst>
          </p:cNvPr>
          <p:cNvSpPr txBox="1"/>
          <p:nvPr/>
        </p:nvSpPr>
        <p:spPr>
          <a:xfrm>
            <a:off x="3009900" y="2578100"/>
            <a:ext cx="53594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Define types, states, outside options, search, acceptance and exits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33E6AE-7948-BB2E-DC87-7706CA136133}"/>
              </a:ext>
            </a:extLst>
          </p:cNvPr>
          <p:cNvSpPr/>
          <p:nvPr/>
        </p:nvSpPr>
        <p:spPr>
          <a:xfrm>
            <a:off x="8432800" y="2514600"/>
            <a:ext cx="31496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97F3E0-D4F6-0E30-D2E8-0E796D0527E4}"/>
              </a:ext>
            </a:extLst>
          </p:cNvPr>
          <p:cNvSpPr txBox="1"/>
          <p:nvPr/>
        </p:nvSpPr>
        <p:spPr>
          <a:xfrm>
            <a:off x="8496300" y="25781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State-transition diagram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F65977-4E03-87CB-7131-D6B0BF5C878B}"/>
              </a:ext>
            </a:extLst>
          </p:cNvPr>
          <p:cNvSpPr/>
          <p:nvPr/>
        </p:nvSpPr>
        <p:spPr>
          <a:xfrm>
            <a:off x="609600" y="3035300"/>
            <a:ext cx="23368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28C2F9-DAAB-015A-B9A7-260D67AECC55}"/>
              </a:ext>
            </a:extLst>
          </p:cNvPr>
          <p:cNvSpPr txBox="1"/>
          <p:nvPr/>
        </p:nvSpPr>
        <p:spPr>
          <a:xfrm>
            <a:off x="673100" y="30988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Equations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34B170-D931-629C-3F47-69DF35CA0514}"/>
              </a:ext>
            </a:extLst>
          </p:cNvPr>
          <p:cNvSpPr/>
          <p:nvPr/>
        </p:nvSpPr>
        <p:spPr>
          <a:xfrm>
            <a:off x="2946400" y="3035300"/>
            <a:ext cx="54864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3BD726-35F7-6DD2-A4E1-922B8A5FE28E}"/>
              </a:ext>
            </a:extLst>
          </p:cNvPr>
          <p:cNvSpPr txBox="1"/>
          <p:nvPr/>
        </p:nvSpPr>
        <p:spPr>
          <a:xfrm>
            <a:off x="3009900" y="3098800"/>
            <a:ext cx="53594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Show Bellman equations, search FOC, finding probability and exit hazard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1D4891-85D7-3706-E693-4EAE451F5B1F}"/>
              </a:ext>
            </a:extLst>
          </p:cNvPr>
          <p:cNvSpPr/>
          <p:nvPr/>
        </p:nvSpPr>
        <p:spPr>
          <a:xfrm>
            <a:off x="8432800" y="3035300"/>
            <a:ext cx="31496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9B593C-4572-AEC4-F2C1-86C800CFB8C0}"/>
              </a:ext>
            </a:extLst>
          </p:cNvPr>
          <p:cNvSpPr txBox="1"/>
          <p:nvPr/>
        </p:nvSpPr>
        <p:spPr>
          <a:xfrm>
            <a:off x="8496300" y="30988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Four-equation box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092D1F-46CD-EF33-8B1D-C192E8F7C8DE}"/>
              </a:ext>
            </a:extLst>
          </p:cNvPr>
          <p:cNvSpPr/>
          <p:nvPr/>
        </p:nvSpPr>
        <p:spPr>
          <a:xfrm>
            <a:off x="609600" y="3556000"/>
            <a:ext cx="23368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D4C827-9C78-44C2-D70A-856F5B44E54D}"/>
              </a:ext>
            </a:extLst>
          </p:cNvPr>
          <p:cNvSpPr txBox="1"/>
          <p:nvPr/>
        </p:nvSpPr>
        <p:spPr>
          <a:xfrm>
            <a:off x="673100" y="36195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Identification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5990C0-0AA0-5554-7277-F4FED98D6546}"/>
              </a:ext>
            </a:extLst>
          </p:cNvPr>
          <p:cNvSpPr/>
          <p:nvPr/>
        </p:nvSpPr>
        <p:spPr>
          <a:xfrm>
            <a:off x="2946400" y="3556000"/>
            <a:ext cx="54864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E2D846-C0DD-F76F-E395-A37AA268084F}"/>
              </a:ext>
            </a:extLst>
          </p:cNvPr>
          <p:cNvSpPr txBox="1"/>
          <p:nvPr/>
        </p:nvSpPr>
        <p:spPr>
          <a:xfrm>
            <a:off x="3009900" y="3619500"/>
            <a:ext cx="53594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Map every fixed/fitted/held-out object to a source or moment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7A73678-7B8C-CA86-3DA0-DB3E1B601F9C}"/>
              </a:ext>
            </a:extLst>
          </p:cNvPr>
          <p:cNvSpPr/>
          <p:nvPr/>
        </p:nvSpPr>
        <p:spPr>
          <a:xfrm>
            <a:off x="8432800" y="3556000"/>
            <a:ext cx="31496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2EC6E7-BAB4-02DC-E777-292074A8488E}"/>
              </a:ext>
            </a:extLst>
          </p:cNvPr>
          <p:cNvSpPr txBox="1"/>
          <p:nvPr/>
        </p:nvSpPr>
        <p:spPr>
          <a:xfrm>
            <a:off x="8496300" y="36195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Parameter–moment table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0F3834-26E2-53C0-E70F-AC947D505C0F}"/>
              </a:ext>
            </a:extLst>
          </p:cNvPr>
          <p:cNvSpPr/>
          <p:nvPr/>
        </p:nvSpPr>
        <p:spPr>
          <a:xfrm>
            <a:off x="609600" y="4076700"/>
            <a:ext cx="23368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620EB9-74BC-A2D9-3A92-05F2AE57D363}"/>
              </a:ext>
            </a:extLst>
          </p:cNvPr>
          <p:cNvSpPr txBox="1"/>
          <p:nvPr/>
        </p:nvSpPr>
        <p:spPr>
          <a:xfrm>
            <a:off x="673100" y="41402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Fit and validation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BF97BA-ED4C-CDC0-0DA3-0C84D5842DB7}"/>
              </a:ext>
            </a:extLst>
          </p:cNvPr>
          <p:cNvSpPr/>
          <p:nvPr/>
        </p:nvSpPr>
        <p:spPr>
          <a:xfrm>
            <a:off x="2946400" y="4076700"/>
            <a:ext cx="54864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2E25E4-45D2-CD8E-B910-821CFF712563}"/>
              </a:ext>
            </a:extLst>
          </p:cNvPr>
          <p:cNvSpPr txBox="1"/>
          <p:nvPr/>
        </p:nvSpPr>
        <p:spPr>
          <a:xfrm>
            <a:off x="3009900" y="4140200"/>
            <a:ext cx="53594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Show data, benchmark and near-fitting range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81C614-4405-26DC-0CCA-2DDEDE758187}"/>
              </a:ext>
            </a:extLst>
          </p:cNvPr>
          <p:cNvSpPr/>
          <p:nvPr/>
        </p:nvSpPr>
        <p:spPr>
          <a:xfrm>
            <a:off x="8432800" y="4076700"/>
            <a:ext cx="31496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2E6D71-7C9B-CDC5-D7A0-CBAE9C45A668}"/>
              </a:ext>
            </a:extLst>
          </p:cNvPr>
          <p:cNvSpPr txBox="1"/>
          <p:nvPr/>
        </p:nvSpPr>
        <p:spPr>
          <a:xfrm>
            <a:off x="8496300" y="41402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Fit + held-out interval figure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01E7A1-DEC3-948C-0D93-CBBCE4FED5AD}"/>
              </a:ext>
            </a:extLst>
          </p:cNvPr>
          <p:cNvSpPr/>
          <p:nvPr/>
        </p:nvSpPr>
        <p:spPr>
          <a:xfrm>
            <a:off x="609600" y="4597400"/>
            <a:ext cx="23368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A168F0-DBC0-D750-09FB-FD9044A1F349}"/>
              </a:ext>
            </a:extLst>
          </p:cNvPr>
          <p:cNvSpPr txBox="1"/>
          <p:nvPr/>
        </p:nvSpPr>
        <p:spPr>
          <a:xfrm>
            <a:off x="673100" y="46609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Counterfactuals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E2650C-6D8E-CD88-7984-FC51A7959AE2}"/>
              </a:ext>
            </a:extLst>
          </p:cNvPr>
          <p:cNvSpPr/>
          <p:nvPr/>
        </p:nvSpPr>
        <p:spPr>
          <a:xfrm>
            <a:off x="2946400" y="4597400"/>
            <a:ext cx="54864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BB08BD-F97A-647F-7E06-827920C25269}"/>
              </a:ext>
            </a:extLst>
          </p:cNvPr>
          <p:cNvSpPr txBox="1"/>
          <p:nvPr/>
        </p:nvSpPr>
        <p:spPr>
          <a:xfrm>
            <a:off x="3009900" y="4660900"/>
            <a:ext cx="53594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4A4E50"/>
                </a:solidFill>
                <a:latin typeface="Proxima Nova Rg"/>
              </a:rPr>
              <a:t>Report factorial/Shapley effects and underlying margins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436135-A2BC-4389-A7BE-17A8EADB0E83}"/>
              </a:ext>
            </a:extLst>
          </p:cNvPr>
          <p:cNvSpPr/>
          <p:nvPr/>
        </p:nvSpPr>
        <p:spPr>
          <a:xfrm>
            <a:off x="8432800" y="4597400"/>
            <a:ext cx="3149600" cy="520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06839D-EE15-34A8-789C-12F6BA07866C}"/>
              </a:ext>
            </a:extLst>
          </p:cNvPr>
          <p:cNvSpPr txBox="1"/>
          <p:nvPr/>
        </p:nvSpPr>
        <p:spPr>
          <a:xfrm>
            <a:off x="8496300" y="46609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Mechanism decomposition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B338D2-B4D3-AFA6-A96A-B4A4E172AF4A}"/>
              </a:ext>
            </a:extLst>
          </p:cNvPr>
          <p:cNvSpPr/>
          <p:nvPr/>
        </p:nvSpPr>
        <p:spPr>
          <a:xfrm>
            <a:off x="609600" y="5118100"/>
            <a:ext cx="23368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018CAD-8E0E-89E2-6176-D6CE3AD0FDCA}"/>
              </a:ext>
            </a:extLst>
          </p:cNvPr>
          <p:cNvSpPr txBox="1"/>
          <p:nvPr/>
        </p:nvSpPr>
        <p:spPr>
          <a:xfrm>
            <a:off x="673100" y="5181600"/>
            <a:ext cx="22098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 b="1">
                <a:solidFill>
                  <a:srgbClr val="4A4E50"/>
                </a:solidFill>
                <a:latin typeface="Proxima Nova Rg"/>
              </a:rPr>
              <a:t>Limits</a:t>
            </a:r>
            <a:endParaRPr lang="en-NZ" sz="1200" b="1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963128-E0B1-C9EC-1F23-A3CAF5705C7C}"/>
              </a:ext>
            </a:extLst>
          </p:cNvPr>
          <p:cNvSpPr/>
          <p:nvPr/>
        </p:nvSpPr>
        <p:spPr>
          <a:xfrm>
            <a:off x="2946400" y="5118100"/>
            <a:ext cx="54864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934BF1-E527-1E24-0C6C-ADEADE1AFE29}"/>
              </a:ext>
            </a:extLst>
          </p:cNvPr>
          <p:cNvSpPr txBox="1"/>
          <p:nvPr/>
        </p:nvSpPr>
        <p:spPr>
          <a:xfrm>
            <a:off x="3009900" y="5181600"/>
            <a:ext cx="53594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4A4E50"/>
                </a:solidFill>
                <a:latin typeface="Proxima Nova Rg"/>
              </a:rPr>
              <a:t>Partial equilibrium, residual wedge, no welfare, functional-form sensitivity</a:t>
            </a:r>
            <a:endParaRPr lang="en-NZ" sz="10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BA867C5-0151-1F89-9435-FE37A8F05F7C}"/>
              </a:ext>
            </a:extLst>
          </p:cNvPr>
          <p:cNvSpPr/>
          <p:nvPr/>
        </p:nvSpPr>
        <p:spPr>
          <a:xfrm>
            <a:off x="8432800" y="5118100"/>
            <a:ext cx="3149600" cy="5207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EC2107-3065-0D4E-E764-C4C5578F05EF}"/>
              </a:ext>
            </a:extLst>
          </p:cNvPr>
          <p:cNvSpPr txBox="1"/>
          <p:nvPr/>
        </p:nvSpPr>
        <p:spPr>
          <a:xfrm>
            <a:off x="8496300" y="5181600"/>
            <a:ext cx="3022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200">
                <a:solidFill>
                  <a:srgbClr val="4A4E50"/>
                </a:solidFill>
                <a:latin typeface="Proxima Nova Rg"/>
              </a:rPr>
              <a:t>Short boxed limitations</a:t>
            </a:r>
            <a:endParaRPr lang="en-NZ" sz="120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4C2DE95-007B-CBE0-D6BB-0155098684E6}"/>
              </a:ext>
            </a:extLst>
          </p:cNvPr>
          <p:cNvSpPr/>
          <p:nvPr/>
        </p:nvSpPr>
        <p:spPr>
          <a:xfrm>
            <a:off x="698500" y="54864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714091-BABC-7DEB-97F0-2A6EAC810AC2}"/>
              </a:ext>
            </a:extLst>
          </p:cNvPr>
          <p:cNvSpPr txBox="1"/>
          <p:nvPr/>
        </p:nvSpPr>
        <p:spPr>
          <a:xfrm>
            <a:off x="876300" y="5588000"/>
            <a:ext cx="10312400" cy="2898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50" b="1">
                <a:solidFill>
                  <a:srgbClr val="004F54"/>
                </a:solidFill>
                <a:latin typeface="Proxima Nova Rg"/>
              </a:rPr>
              <a:t>The benchmark is a visual anchor; conclusions must be based on the admissible range.</a:t>
            </a:r>
            <a:endParaRPr lang="en-NZ" sz="155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987833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B02829-FE71-FBAA-952D-DCA31D079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9AC014-0CAE-067D-C0D7-55A9C196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72CC3-0E1A-CC7F-0F92-B36959AE4CC0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C76B-11AB-A6E3-2581-DB005702A5EF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81826-E2F6-E604-5037-B03E54139B14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EB286-50DD-D823-A643-20A83DEF5D1D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715071-8312-4FF2-A948-8AE223D69681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ADBFA-AD73-8FE7-6CBD-A0F313C09DD5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FA8E7-E424-202B-DC43-90424FCF7D83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24D3A-1814-FB5A-C630-08EEECF160FA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D1B277-E604-B3BE-C66A-9106DCE3DCEE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CEE8E-584E-4758-7FC3-BE9A35C9C743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13B65-CFFF-C415-24D9-4A6F845FEA93}"/>
              </a:ext>
            </a:extLst>
          </p:cNvPr>
          <p:cNvSpPr txBox="1"/>
          <p:nvPr/>
        </p:nvSpPr>
        <p:spPr>
          <a:xfrm>
            <a:off x="482600" y="469900"/>
            <a:ext cx="11176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300" b="1">
                <a:solidFill>
                  <a:srgbClr val="000000"/>
                </a:solidFill>
                <a:latin typeface="Proxima Nova Rg"/>
              </a:rPr>
              <a:t>Claim discipline: what the model can and cannot support</a:t>
            </a:r>
            <a:endParaRPr lang="en-NZ" sz="23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A30D6-4CCB-D949-BC5C-A549FFE0741D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BA3CB3-C748-6F0B-1827-897C102D0E3B}"/>
              </a:ext>
            </a:extLst>
          </p:cNvPr>
          <p:cNvSpPr/>
          <p:nvPr/>
        </p:nvSpPr>
        <p:spPr>
          <a:xfrm>
            <a:off x="609600" y="1422400"/>
            <a:ext cx="5334000" cy="533400"/>
          </a:xfrm>
          <a:prstGeom prst="rect">
            <a:avLst/>
          </a:prstGeom>
          <a:solidFill>
            <a:srgbClr val="29774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11A0D-B67C-0475-A1B2-53B7D2889096}"/>
              </a:ext>
            </a:extLst>
          </p:cNvPr>
          <p:cNvSpPr txBox="1"/>
          <p:nvPr/>
        </p:nvSpPr>
        <p:spPr>
          <a:xfrm>
            <a:off x="7366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Defensible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7A1325-AA9E-A6CE-98C5-10A5A238A709}"/>
              </a:ext>
            </a:extLst>
          </p:cNvPr>
          <p:cNvSpPr/>
          <p:nvPr/>
        </p:nvSpPr>
        <p:spPr>
          <a:xfrm>
            <a:off x="609600" y="1955800"/>
            <a:ext cx="5334000" cy="3213100"/>
          </a:xfrm>
          <a:prstGeom prst="rect">
            <a:avLst/>
          </a:prstGeom>
          <a:solidFill>
            <a:srgbClr val="E8F6EE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6096B-A8F0-EED7-14C9-1F1538D4223B}"/>
              </a:ext>
            </a:extLst>
          </p:cNvPr>
          <p:cNvSpPr txBox="1"/>
          <p:nvPr/>
        </p:nvSpPr>
        <p:spPr>
          <a:xfrm>
            <a:off x="774700" y="2108200"/>
            <a:ext cx="5003800" cy="14927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«Model 15 shows that benefits can reduce job finding through surplus and acceptance.»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«Benefits and work-surplus wedges interact in employment exits.»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«A range of mechanisms is consistent with the aggregate moments.»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F9D949-02FE-B93C-998E-DB71C9170599}"/>
              </a:ext>
            </a:extLst>
          </p:cNvPr>
          <p:cNvSpPr/>
          <p:nvPr/>
        </p:nvSpPr>
        <p:spPr>
          <a:xfrm>
            <a:off x="6248400" y="1422400"/>
            <a:ext cx="5334000" cy="533400"/>
          </a:xfrm>
          <a:prstGeom prst="rect">
            <a:avLst/>
          </a:prstGeom>
          <a:solidFill>
            <a:srgbClr val="AC2E2F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6E09E-3887-E62D-3BA7-BBACC4225FE1}"/>
              </a:ext>
            </a:extLst>
          </p:cNvPr>
          <p:cNvSpPr txBox="1"/>
          <p:nvPr/>
        </p:nvSpPr>
        <p:spPr>
          <a:xfrm>
            <a:off x="6375400" y="1524000"/>
            <a:ext cx="5080000" cy="27443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NZ" sz="1450" b="1">
                <a:solidFill>
                  <a:srgbClr val="FFFFFF"/>
                </a:solidFill>
                <a:latin typeface="Proxima Nova Rg"/>
              </a:rPr>
              <a:t>Not yet defensible</a:t>
            </a:r>
            <a:endParaRPr lang="en-NZ" sz="14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08C83D-14C5-E89A-854F-FB3FF3850D2A}"/>
              </a:ext>
            </a:extLst>
          </p:cNvPr>
          <p:cNvSpPr/>
          <p:nvPr/>
        </p:nvSpPr>
        <p:spPr>
          <a:xfrm>
            <a:off x="6248400" y="1955800"/>
            <a:ext cx="5334000" cy="3213100"/>
          </a:xfrm>
          <a:prstGeom prst="rect">
            <a:avLst/>
          </a:prstGeom>
          <a:solidFill>
            <a:srgbClr val="FDEBEB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0DEA2-009C-7267-9281-E31172168E5B}"/>
              </a:ext>
            </a:extLst>
          </p:cNvPr>
          <p:cNvSpPr txBox="1"/>
          <p:nvPr/>
        </p:nvSpPr>
        <p:spPr>
          <a:xfrm>
            <a:off x="6413500" y="2108200"/>
            <a:ext cx="50038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«Most of the response is health rather than benefits.»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«The differential wedge is a health preference.»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«The exit hazard is a structural match-quality cutoff.»</a:t>
            </a:r>
          </a:p>
          <a:p>
            <a:pPr>
              <a:spcAft>
                <a:spcPts val="400"/>
              </a:spcAft>
            </a:pPr>
            <a:r>
              <a:rPr lang="en-US" sz="1450">
                <a:solidFill>
                  <a:srgbClr val="4A4E50"/>
                </a:solidFill>
                <a:latin typeface="Proxima Nova Rg"/>
              </a:rPr>
              <a:t>«The supplement increased net welfare.»</a:t>
            </a:r>
            <a:endParaRPr lang="en-NZ" sz="14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CED242-EE3E-7F63-AC0C-7170E00C9C2B}"/>
              </a:ext>
            </a:extLst>
          </p:cNvPr>
          <p:cNvSpPr/>
          <p:nvPr/>
        </p:nvSpPr>
        <p:spPr>
          <a:xfrm>
            <a:off x="698500" y="5473700"/>
            <a:ext cx="10668000" cy="6985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59216-ADF8-7874-C563-C2C5C309AD87}"/>
              </a:ext>
            </a:extLst>
          </p:cNvPr>
          <p:cNvSpPr txBox="1"/>
          <p:nvPr/>
        </p:nvSpPr>
        <p:spPr>
          <a:xfrm>
            <a:off x="876300" y="55753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Good modelling language distinguishes mechanism possibility, quantitative consistency and identified causal decomposition.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44487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82172-DC85-94F6-C9AC-B63CEA92A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6A794F-7C48-8D70-879C-545A7C8E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4E485A-2F64-6B5E-6662-AFB148BAB070}"/>
              </a:ext>
            </a:extLst>
          </p:cNvPr>
          <p:cNvSpPr/>
          <p:nvPr/>
        </p:nvSpPr>
        <p:spPr>
          <a:xfrm>
            <a:off x="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4A0AF-1405-376D-AD79-119FE958E202}"/>
              </a:ext>
            </a:extLst>
          </p:cNvPr>
          <p:cNvSpPr txBox="1"/>
          <p:nvPr/>
        </p:nvSpPr>
        <p:spPr>
          <a:xfrm>
            <a:off x="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Motivation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80460-6017-D494-2014-645074E0E71A}"/>
              </a:ext>
            </a:extLst>
          </p:cNvPr>
          <p:cNvSpPr/>
          <p:nvPr/>
        </p:nvSpPr>
        <p:spPr>
          <a:xfrm>
            <a:off x="24384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85961-2001-6DF0-7723-65A0CE88CF99}"/>
              </a:ext>
            </a:extLst>
          </p:cNvPr>
          <p:cNvSpPr txBox="1"/>
          <p:nvPr/>
        </p:nvSpPr>
        <p:spPr>
          <a:xfrm>
            <a:off x="24384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Model anatomy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A344A9-B41E-C3E2-91F2-E8BFD1C1A908}"/>
              </a:ext>
            </a:extLst>
          </p:cNvPr>
          <p:cNvSpPr/>
          <p:nvPr/>
        </p:nvSpPr>
        <p:spPr>
          <a:xfrm>
            <a:off x="48768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6B948-C0C5-524D-3660-44646E7A13D8}"/>
              </a:ext>
            </a:extLst>
          </p:cNvPr>
          <p:cNvSpPr txBox="1"/>
          <p:nvPr/>
        </p:nvSpPr>
        <p:spPr>
          <a:xfrm>
            <a:off x="48768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Calibration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4E98D-9172-8366-0C3F-495F4C42889F}"/>
              </a:ext>
            </a:extLst>
          </p:cNvPr>
          <p:cNvSpPr/>
          <p:nvPr/>
        </p:nvSpPr>
        <p:spPr>
          <a:xfrm>
            <a:off x="7315200" y="0"/>
            <a:ext cx="2438400" cy="304800"/>
          </a:xfrm>
          <a:prstGeom prst="rect">
            <a:avLst/>
          </a:prstGeom>
          <a:solidFill>
            <a:srgbClr val="F0F3F3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A1067-7051-6DDB-C1CF-154892BC64AF}"/>
              </a:ext>
            </a:extLst>
          </p:cNvPr>
          <p:cNvSpPr txBox="1"/>
          <p:nvPr/>
        </p:nvSpPr>
        <p:spPr>
          <a:xfrm>
            <a:off x="73152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>
                <a:solidFill>
                  <a:srgbClr val="A6A6A6"/>
                </a:solidFill>
                <a:latin typeface="Proxima Nova Rg"/>
              </a:rPr>
              <a:t>Assessment</a:t>
            </a:r>
            <a:endParaRPr lang="en-NZ" sz="950" dirty="0">
              <a:solidFill>
                <a:srgbClr val="A6A6A6"/>
              </a:solidFill>
              <a:latin typeface="Proxima Nova Rg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7817C-3F99-E2A0-7C1E-FEC56D42EEFF}"/>
              </a:ext>
            </a:extLst>
          </p:cNvPr>
          <p:cNvSpPr/>
          <p:nvPr/>
        </p:nvSpPr>
        <p:spPr>
          <a:xfrm>
            <a:off x="9753600" y="0"/>
            <a:ext cx="2438400" cy="304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43AAA-0347-CC29-E637-00210F9BC6D8}"/>
              </a:ext>
            </a:extLst>
          </p:cNvPr>
          <p:cNvSpPr txBox="1"/>
          <p:nvPr/>
        </p:nvSpPr>
        <p:spPr>
          <a:xfrm>
            <a:off x="9753600" y="25400"/>
            <a:ext cx="2438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NZ" sz="950" b="1">
                <a:solidFill>
                  <a:srgbClr val="FFFFFF"/>
                </a:solidFill>
                <a:latin typeface="Proxima Nova Rg"/>
              </a:rPr>
              <a:t>Roadmap</a:t>
            </a:r>
            <a:endParaRPr lang="en-NZ" sz="950" b="1" dirty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6A371-246B-1F4B-3EC5-514478C0B66C}"/>
              </a:ext>
            </a:extLst>
          </p:cNvPr>
          <p:cNvSpPr txBox="1"/>
          <p:nvPr/>
        </p:nvSpPr>
        <p:spPr>
          <a:xfrm>
            <a:off x="482600" y="469900"/>
            <a:ext cx="11176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600" b="1">
                <a:solidFill>
                  <a:srgbClr val="000000"/>
                </a:solidFill>
                <a:latin typeface="Proxima Nova Rg"/>
              </a:rPr>
              <a:t>Discussion questions for the research team</a:t>
            </a:r>
            <a:endParaRPr lang="en-NZ" sz="2600" b="1" dirty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8E7A26-4CF2-948E-93A3-2D7C51DBF477}"/>
              </a:ext>
            </a:extLst>
          </p:cNvPr>
          <p:cNvSpPr/>
          <p:nvPr/>
        </p:nvSpPr>
        <p:spPr>
          <a:xfrm>
            <a:off x="495300" y="1117600"/>
            <a:ext cx="1841500" cy="50800"/>
          </a:xfrm>
          <a:prstGeom prst="rect">
            <a:avLst/>
          </a:prstGeom>
          <a:solidFill>
            <a:srgbClr val="004F5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A3B41-D8E3-A67C-B305-E12E5EB23D96}"/>
              </a:ext>
            </a:extLst>
          </p:cNvPr>
          <p:cNvSpPr txBox="1"/>
          <p:nvPr/>
        </p:nvSpPr>
        <p:spPr>
          <a:xfrm>
            <a:off x="736600" y="1422400"/>
            <a:ext cx="10668000" cy="264431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Is the modelʼs central contribution job-finding mechanisms, employment-exit complementarity, or state-contingent policy? Choose one.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Can the secure data identify applications, offer acceptance, exit reason, JobKeeper exposure or actual entitlement replacement rates?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Should vacancy creation remain endogenous if its firm value does not share the exit process?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What economically admissible restrictions rule out 40% wage-equivalent differential wedges?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Which moments will be genuinely held out before the next calibration?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Would a simpler reduced-form hazard model tell the same durable story more credibly?</a:t>
            </a:r>
          </a:p>
          <a:p>
            <a:pPr>
              <a:spcAft>
                <a:spcPts val="400"/>
              </a:spcAft>
            </a:pPr>
            <a:r>
              <a:rPr lang="en-US" sz="1650">
                <a:solidFill>
                  <a:srgbClr val="4A4E50"/>
                </a:solidFill>
                <a:latin typeface="Proxima Nova Rg"/>
              </a:rPr>
              <a:t>• What quantitative conclusion survives across every near-fitting specification?</a:t>
            </a:r>
            <a:endParaRPr lang="en-NZ" sz="1650" dirty="0">
              <a:solidFill>
                <a:srgbClr val="4A4E50"/>
              </a:solidFill>
              <a:latin typeface="Proxima Nova Rg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BE98CF-D48C-E2AF-6C2D-39416419330D}"/>
              </a:ext>
            </a:extLst>
          </p:cNvPr>
          <p:cNvSpPr/>
          <p:nvPr/>
        </p:nvSpPr>
        <p:spPr>
          <a:xfrm>
            <a:off x="698500" y="5435600"/>
            <a:ext cx="10668000" cy="736600"/>
          </a:xfrm>
          <a:prstGeom prst="roundRect">
            <a:avLst/>
          </a:prstGeom>
          <a:solidFill>
            <a:srgbClr val="C6F5F4"/>
          </a:solidFill>
          <a:ln w="952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b="1" dirty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8571B-F1EE-8C18-9DAC-FDCC8D37B6EB}"/>
              </a:ext>
            </a:extLst>
          </p:cNvPr>
          <p:cNvSpPr txBox="1"/>
          <p:nvPr/>
        </p:nvSpPr>
        <p:spPr>
          <a:xfrm>
            <a:off x="876300" y="5537200"/>
            <a:ext cx="103124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004F54"/>
                </a:solidFill>
                <a:latin typeface="Proxima Nova Rg"/>
              </a:rPr>
              <a:t>Recommended seminar stance: lead with what the model teaches; volunteer the identification limits before the audience does.</a:t>
            </a:r>
            <a:endParaRPr lang="en-NZ" sz="1400" b="1" dirty="0">
              <a:solidFill>
                <a:srgbClr val="004F54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740326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9" ma:contentTypeDescription="Create a new document." ma:contentTypeScope="" ma:versionID="a36d063c8eb047894120791759bbc902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c6f7ca54d7100feba0c176cc38564367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AB7FB4-6D47-4EC6-BF49-66E893D4B5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36B762-179B-48EA-90B2-E74079BA15DE}">
  <ds:schemaRefs>
    <ds:schemaRef ds:uri="d4025935-85eb-43e8-ab32-734675053e7f"/>
    <ds:schemaRef ds:uri="aa802c90-64f7-4260-a678-c5c09559402a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e61 template</Template>
  <TotalTime>0</TotalTime>
  <Words>3831</Words>
  <Application>Microsoft Office PowerPoint</Application>
  <PresentationFormat>Widescreen</PresentationFormat>
  <Paragraphs>650</Paragraphs>
  <Slides>42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Cambria Math</vt:lpstr>
      <vt:lpstr>Graphik</vt:lpstr>
      <vt:lpstr>GT Sectra Fine</vt:lpstr>
      <vt:lpstr>Proxima Nova Rg</vt:lpstr>
      <vt:lpstr>System Font</vt:lpstr>
      <vt:lpstr>e61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</dc:creator>
  <cp:lastModifiedBy>Matt</cp:lastModifiedBy>
  <cp:revision>1</cp:revision>
  <dcterms:created xsi:type="dcterms:W3CDTF">2026-08-05T22:13:34Z</dcterms:created>
  <dcterms:modified xsi:type="dcterms:W3CDTF">2026-08-05T22:13:57Z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